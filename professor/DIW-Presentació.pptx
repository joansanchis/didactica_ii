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4" r:id="rId19"/>
    <p:sldId id="283" r:id="rId20"/>
    <p:sldId id="285" r:id="rId21"/>
    <p:sldId id="274" r:id="rId22"/>
    <p:sldId id="275" r:id="rId23"/>
    <p:sldId id="276" r:id="rId24"/>
    <p:sldId id="277" r:id="rId25"/>
    <p:sldId id="278" r:id="rId26"/>
    <p:sldId id="279" r:id="rId27"/>
    <p:sldId id="280" r:id="rId28"/>
    <p:sldId id="281" r:id="rId29"/>
    <p:sldId id="286" r:id="rId30"/>
    <p:sldId id="287" r:id="rId31"/>
  </p:sldIdLst>
  <p:sldSz cx="14630400" cy="8229600"/>
  <p:notesSz cx="8229600" cy="14630400"/>
  <p:embeddedFontLst>
    <p:embeddedFont>
      <p:font typeface="Raleway Medium" pitchFamily="2" charset="0"/>
      <p:regular r:id="rId33"/>
      <p:italic r:id="rId34"/>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58D555-D586-B93C-C830-8E45CAFDEF8F}" v="100" dt="2025-06-12T07:21:16.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000" autoAdjust="0"/>
  </p:normalViewPr>
  <p:slideViewPr>
    <p:cSldViewPr snapToGrid="0" snapToObjects="1">
      <p:cViewPr varScale="1">
        <p:scale>
          <a:sx n="56" d="100"/>
          <a:sy n="56" d="100"/>
        </p:scale>
        <p:origin x="125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n Sanchis Monzo" userId="S::joasanm6@upv.edu.es::99876fd9-023e-4589-b908-870bb2ae31d9" providerId="AD" clId="Web-{BD58D555-D586-B93C-C830-8E45CAFDEF8F}"/>
    <pc:docChg chg="addSld modSld">
      <pc:chgData name="Joan Sanchis Monzo" userId="S::joasanm6@upv.edu.es::99876fd9-023e-4589-b908-870bb2ae31d9" providerId="AD" clId="Web-{BD58D555-D586-B93C-C830-8E45CAFDEF8F}" dt="2025-06-12T07:21:16.644" v="66" actId="20577"/>
      <pc:docMkLst>
        <pc:docMk/>
      </pc:docMkLst>
      <pc:sldChg chg="addSp modSp new">
        <pc:chgData name="Joan Sanchis Monzo" userId="S::joasanm6@upv.edu.es::99876fd9-023e-4589-b908-870bb2ae31d9" providerId="AD" clId="Web-{BD58D555-D586-B93C-C830-8E45CAFDEF8F}" dt="2025-06-12T07:21:16.644" v="66" actId="20577"/>
        <pc:sldMkLst>
          <pc:docMk/>
          <pc:sldMk cId="1580748575" sldId="287"/>
        </pc:sldMkLst>
        <pc:spChg chg="add mod">
          <ac:chgData name="Joan Sanchis Monzo" userId="S::joasanm6@upv.edu.es::99876fd9-023e-4589-b908-870bb2ae31d9" providerId="AD" clId="Web-{BD58D555-D586-B93C-C830-8E45CAFDEF8F}" dt="2025-06-12T07:21:16.644" v="66" actId="20577"/>
          <ac:spMkLst>
            <pc:docMk/>
            <pc:sldMk cId="1580748575" sldId="287"/>
            <ac:spMk id="2" creationId="{B75A22D7-2221-F6D2-CA54-DF4307E542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7116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a:t>
            </a:r>
            <a:r>
              <a:rPr lang="en-US" dirty="0" err="1"/>
              <a:t>Facilitar</a:t>
            </a:r>
            <a:r>
              <a:rPr lang="en-US" dirty="0"/>
              <a:t> les reserves de les </a:t>
            </a:r>
            <a:r>
              <a:rPr lang="en-US" dirty="0" err="1"/>
              <a:t>instalacions</a:t>
            </a:r>
            <a:r>
              <a:rPr lang="en-US" dirty="0"/>
              <a:t>, </a:t>
            </a:r>
            <a:r>
              <a:rPr lang="en-US" dirty="0" err="1"/>
              <a:t>permetent</a:t>
            </a:r>
            <a:r>
              <a:rPr lang="en-US" dirty="0"/>
              <a:t> </a:t>
            </a:r>
            <a:r>
              <a:rPr lang="en-US" dirty="0" err="1"/>
              <a:t>als</a:t>
            </a:r>
            <a:r>
              <a:rPr lang="en-US" dirty="0"/>
              <a:t> </a:t>
            </a:r>
            <a:r>
              <a:rPr lang="en-US" dirty="0" err="1"/>
              <a:t>usuaris</a:t>
            </a:r>
            <a:r>
              <a:rPr lang="en-US" dirty="0"/>
              <a:t> completer </a:t>
            </a:r>
            <a:r>
              <a:rPr lang="en-US" dirty="0" err="1"/>
              <a:t>el</a:t>
            </a:r>
            <a:r>
              <a:rPr lang="en-US" dirty="0"/>
              <a:t> process de </a:t>
            </a:r>
            <a:r>
              <a:rPr lang="en-US" dirty="0" err="1"/>
              <a:t>reserva</a:t>
            </a:r>
            <a:r>
              <a:rPr lang="en-US" dirty="0"/>
              <a:t> de </a:t>
            </a:r>
            <a:r>
              <a:rPr lang="en-US" dirty="0" err="1"/>
              <a:t>manera</a:t>
            </a:r>
            <a:r>
              <a:rPr lang="en-US" dirty="0"/>
              <a:t> </a:t>
            </a:r>
            <a:r>
              <a:rPr lang="en-US" dirty="0" err="1"/>
              <a:t>agil</a:t>
            </a:r>
            <a:r>
              <a:rPr lang="en-US" dirty="0"/>
              <a:t> I </a:t>
            </a:r>
            <a:r>
              <a:rPr lang="en-US" dirty="0" err="1"/>
              <a:t>intuituva</a:t>
            </a:r>
            <a:r>
              <a:rPr lang="en-US" dirty="0"/>
              <a:t>.</a:t>
            </a:r>
            <a:br>
              <a:rPr lang="en-US" dirty="0"/>
            </a:br>
            <a:r>
              <a:rPr lang="en-US" dirty="0" err="1"/>
              <a:t>Segon</a:t>
            </a:r>
            <a:r>
              <a:rPr lang="en-US" dirty="0"/>
              <a:t> Crear </a:t>
            </a:r>
            <a:r>
              <a:rPr lang="en-US" dirty="0" err="1"/>
              <a:t>una</a:t>
            </a:r>
            <a:r>
              <a:rPr lang="en-US" dirty="0"/>
              <a:t> </a:t>
            </a:r>
            <a:r>
              <a:rPr lang="en-US" dirty="0" err="1"/>
              <a:t>interficie</a:t>
            </a:r>
            <a:r>
              <a:rPr lang="en-US" dirty="0"/>
              <a:t> adaptable, </a:t>
            </a:r>
            <a:r>
              <a:rPr lang="en-US" dirty="0" err="1"/>
              <a:t>Desenvolupar</a:t>
            </a:r>
            <a:r>
              <a:rPr lang="en-US" dirty="0"/>
              <a:t> un </a:t>
            </a:r>
            <a:r>
              <a:rPr lang="en-US" dirty="0" err="1"/>
              <a:t>diseny</a:t>
            </a:r>
            <a:r>
              <a:rPr lang="en-US" dirty="0"/>
              <a:t> </a:t>
            </a:r>
            <a:r>
              <a:rPr lang="en-US" dirty="0" err="1"/>
              <a:t>responsiu</a:t>
            </a:r>
            <a:r>
              <a:rPr lang="en-US" dirty="0"/>
              <a:t> que </a:t>
            </a:r>
            <a:r>
              <a:rPr lang="en-US" dirty="0" err="1"/>
              <a:t>s’adapte</a:t>
            </a:r>
            <a:r>
              <a:rPr lang="en-US" dirty="0"/>
              <a:t> a </a:t>
            </a:r>
            <a:r>
              <a:rPr lang="en-US" dirty="0" err="1"/>
              <a:t>qualsevol</a:t>
            </a:r>
            <a:r>
              <a:rPr lang="en-US" dirty="0"/>
              <a:t> </a:t>
            </a:r>
            <a:r>
              <a:rPr lang="en-US" dirty="0" err="1"/>
              <a:t>dispositiu</a:t>
            </a:r>
            <a:br>
              <a:rPr lang="en-US" dirty="0"/>
            </a:br>
            <a:r>
              <a:rPr lang="en-US" dirty="0" err="1"/>
              <a:t>Tercer</a:t>
            </a:r>
            <a:r>
              <a:rPr lang="en-US" dirty="0"/>
              <a:t>, </a:t>
            </a:r>
            <a:r>
              <a:rPr lang="en-US" dirty="0" err="1"/>
              <a:t>avaluar</a:t>
            </a:r>
            <a:r>
              <a:rPr lang="en-US" dirty="0"/>
              <a:t> competencies integrals, </a:t>
            </a:r>
            <a:r>
              <a:rPr lang="en-US" dirty="0" err="1"/>
              <a:t>utilitzant</a:t>
            </a:r>
            <a:r>
              <a:rPr lang="en-US" dirty="0"/>
              <a:t> com a instrument </a:t>
            </a:r>
            <a:r>
              <a:rPr lang="en-US" dirty="0" err="1"/>
              <a:t>d’avaluacio</a:t>
            </a:r>
            <a:r>
              <a:rPr lang="en-US" dirty="0"/>
              <a:t> les competencies del </a:t>
            </a:r>
            <a:r>
              <a:rPr lang="en-US" dirty="0" err="1"/>
              <a:t>modul</a:t>
            </a:r>
            <a:br>
              <a:rPr lang="en-US" dirty="0"/>
            </a:br>
            <a:r>
              <a:rPr lang="en-US" dirty="0"/>
              <a:t>Quart </a:t>
            </a:r>
            <a:r>
              <a:rPr lang="en-US" dirty="0" err="1"/>
              <a:t>simular</a:t>
            </a:r>
            <a:r>
              <a:rPr lang="en-US" dirty="0"/>
              <a:t> un </a:t>
            </a:r>
            <a:r>
              <a:rPr lang="en-US" dirty="0" err="1"/>
              <a:t>entorn</a:t>
            </a:r>
            <a:r>
              <a:rPr lang="en-US" dirty="0"/>
              <a:t> </a:t>
            </a:r>
            <a:r>
              <a:rPr lang="en-US" dirty="0" err="1"/>
              <a:t>profecional</a:t>
            </a:r>
            <a:r>
              <a:rPr lang="en-US" dirty="0"/>
              <a:t>, integrant </a:t>
            </a:r>
            <a:r>
              <a:rPr lang="en-US" dirty="0" err="1"/>
              <a:t>coneixements</a:t>
            </a:r>
            <a:r>
              <a:rPr lang="en-US" dirty="0"/>
              <a:t> </a:t>
            </a:r>
            <a:r>
              <a:rPr lang="en-US" dirty="0" err="1"/>
              <a:t>en</a:t>
            </a:r>
            <a:r>
              <a:rPr lang="en-US" dirty="0"/>
              <a:t> un context similar a la </a:t>
            </a:r>
            <a:r>
              <a:rPr lang="en-US" dirty="0" err="1"/>
              <a:t>vida</a:t>
            </a:r>
            <a:r>
              <a:rPr lang="en-US" dirty="0"/>
              <a:t> real.</a:t>
            </a:r>
            <a:br>
              <a:rPr lang="en-US" dirty="0"/>
            </a:b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t>
            </a:r>
            <a:r>
              <a:rPr lang="en-US" dirty="0" err="1"/>
              <a:t>metodologia</a:t>
            </a:r>
            <a:r>
              <a:rPr lang="en-US" dirty="0"/>
              <a:t> principal que hem </a:t>
            </a:r>
            <a:r>
              <a:rPr lang="en-US" dirty="0" err="1"/>
              <a:t>adoptat</a:t>
            </a:r>
            <a:r>
              <a:rPr lang="en-US" dirty="0"/>
              <a:t> </a:t>
            </a:r>
            <a:r>
              <a:rPr lang="en-US" dirty="0" err="1"/>
              <a:t>en</a:t>
            </a:r>
            <a:r>
              <a:rPr lang="en-US" dirty="0"/>
              <a:t> </a:t>
            </a:r>
            <a:r>
              <a:rPr lang="en-US" dirty="0" err="1"/>
              <a:t>aquest</a:t>
            </a:r>
            <a:r>
              <a:rPr lang="en-US" dirty="0"/>
              <a:t> </a:t>
            </a:r>
            <a:r>
              <a:rPr lang="en-US" dirty="0" err="1"/>
              <a:t>progecte</a:t>
            </a:r>
            <a:r>
              <a:rPr lang="en-US" dirty="0"/>
              <a:t> es </a:t>
            </a:r>
            <a:r>
              <a:rPr lang="en-US" dirty="0" err="1"/>
              <a:t>l’aprenentatge</a:t>
            </a:r>
            <a:r>
              <a:rPr lang="en-US" dirty="0"/>
              <a:t> </a:t>
            </a:r>
            <a:r>
              <a:rPr lang="en-US" dirty="0" err="1"/>
              <a:t>basat</a:t>
            </a:r>
            <a:r>
              <a:rPr lang="en-US" dirty="0"/>
              <a:t> </a:t>
            </a:r>
            <a:r>
              <a:rPr lang="en-US" dirty="0" err="1"/>
              <a:t>en</a:t>
            </a:r>
            <a:r>
              <a:rPr lang="en-US" dirty="0"/>
              <a:t> </a:t>
            </a:r>
            <a:r>
              <a:rPr lang="en-US" dirty="0" err="1"/>
              <a:t>projectes</a:t>
            </a:r>
            <a:r>
              <a:rPr lang="en-US" dirty="0"/>
              <a:t>. On </a:t>
            </a:r>
            <a:r>
              <a:rPr lang="en-US" dirty="0" err="1"/>
              <a:t>els</a:t>
            </a:r>
            <a:r>
              <a:rPr lang="en-US" dirty="0"/>
              <a:t> </a:t>
            </a:r>
            <a:r>
              <a:rPr lang="en-US" dirty="0" err="1"/>
              <a:t>alumnes</a:t>
            </a:r>
            <a:r>
              <a:rPr lang="en-US" dirty="0"/>
              <a:t> </a:t>
            </a:r>
            <a:r>
              <a:rPr lang="en-US" dirty="0" err="1"/>
              <a:t>desenvoluparan</a:t>
            </a:r>
            <a:r>
              <a:rPr lang="en-US" dirty="0"/>
              <a:t> </a:t>
            </a:r>
            <a:r>
              <a:rPr lang="en-US" dirty="0" err="1"/>
              <a:t>el</a:t>
            </a:r>
            <a:r>
              <a:rPr lang="en-US" dirty="0"/>
              <a:t> front-end de </a:t>
            </a:r>
            <a:r>
              <a:rPr lang="en-US" dirty="0" err="1"/>
              <a:t>l’aplicacio</a:t>
            </a:r>
            <a:r>
              <a:rPr lang="en-US" dirty="0"/>
              <a:t> </a:t>
            </a:r>
            <a:r>
              <a:rPr lang="en-US" dirty="0" err="1"/>
              <a:t>amb</a:t>
            </a:r>
            <a:r>
              <a:rPr lang="en-US" dirty="0"/>
              <a:t> </a:t>
            </a:r>
            <a:r>
              <a:rPr lang="en-US" dirty="0" err="1"/>
              <a:t>grups</a:t>
            </a:r>
            <a:r>
              <a:rPr lang="en-US" dirty="0"/>
              <a:t> de 3 o 4 </a:t>
            </a:r>
            <a:r>
              <a:rPr lang="en-US" dirty="0" err="1"/>
              <a:t>persones</a:t>
            </a:r>
            <a:r>
              <a:rPr lang="en-US" dirty="0"/>
              <a:t> </a:t>
            </a:r>
            <a:r>
              <a:rPr lang="en-US" dirty="0" err="1"/>
              <a:t>combinant</a:t>
            </a:r>
            <a:r>
              <a:rPr lang="en-US" dirty="0"/>
              <a:t> Teoria I practica.</a:t>
            </a:r>
            <a:br>
              <a:rPr lang="en-US" dirty="0"/>
            </a:br>
            <a:r>
              <a:rPr lang="en-US" dirty="0"/>
              <a:t>La </a:t>
            </a:r>
            <a:r>
              <a:rPr lang="en-US" dirty="0" err="1"/>
              <a:t>investigacio</a:t>
            </a:r>
            <a:r>
              <a:rPr lang="en-US" dirty="0"/>
              <a:t> </a:t>
            </a:r>
            <a:r>
              <a:rPr lang="en-US" dirty="0" err="1"/>
              <a:t>autonoma</a:t>
            </a:r>
            <a:r>
              <a:rPr lang="en-US" dirty="0"/>
              <a:t>, </a:t>
            </a:r>
            <a:r>
              <a:rPr lang="en-US" dirty="0" err="1"/>
              <a:t>fomentat</a:t>
            </a:r>
            <a:r>
              <a:rPr lang="en-US" dirty="0"/>
              <a:t> </a:t>
            </a:r>
            <a:r>
              <a:rPr lang="en-US" dirty="0" err="1"/>
              <a:t>l’aprenentage</a:t>
            </a:r>
            <a:r>
              <a:rPr lang="en-US" dirty="0"/>
              <a:t> </a:t>
            </a:r>
            <a:r>
              <a:rPr lang="en-US" dirty="0" err="1"/>
              <a:t>basat</a:t>
            </a:r>
            <a:r>
              <a:rPr lang="en-US" dirty="0"/>
              <a:t> </a:t>
            </a:r>
            <a:r>
              <a:rPr lang="en-US" dirty="0" err="1"/>
              <a:t>en</a:t>
            </a:r>
            <a:r>
              <a:rPr lang="en-US" dirty="0"/>
              <a:t> </a:t>
            </a:r>
            <a:r>
              <a:rPr lang="en-US" dirty="0" err="1"/>
              <a:t>problemes</a:t>
            </a:r>
            <a:r>
              <a:rPr lang="en-US" dirty="0"/>
              <a:t> I la </a:t>
            </a:r>
            <a:r>
              <a:rPr lang="en-US" dirty="0" err="1"/>
              <a:t>recerca</a:t>
            </a:r>
            <a:r>
              <a:rPr lang="en-US" dirty="0"/>
              <a:t> de </a:t>
            </a:r>
            <a:r>
              <a:rPr lang="en-US" dirty="0" err="1"/>
              <a:t>solucions</a:t>
            </a:r>
            <a:r>
              <a:rPr lang="en-US" dirty="0"/>
              <a:t> per part de </a:t>
            </a:r>
            <a:r>
              <a:rPr lang="en-US" dirty="0" err="1"/>
              <a:t>l’alumnat</a:t>
            </a:r>
            <a:r>
              <a:rPr lang="en-US" dirty="0"/>
              <a:t>.</a:t>
            </a:r>
            <a:br>
              <a:rPr lang="en-US" dirty="0"/>
            </a:br>
            <a:r>
              <a:rPr lang="en-US" dirty="0"/>
              <a:t>En </a:t>
            </a:r>
            <a:r>
              <a:rPr lang="en-US" dirty="0" err="1"/>
              <a:t>tercer</a:t>
            </a:r>
            <a:r>
              <a:rPr lang="en-US" dirty="0"/>
              <a:t> </a:t>
            </a:r>
            <a:r>
              <a:rPr lang="en-US" dirty="0" err="1"/>
              <a:t>lloc</a:t>
            </a:r>
            <a:r>
              <a:rPr lang="en-US" dirty="0"/>
              <a:t> </a:t>
            </a:r>
            <a:r>
              <a:rPr lang="en-US" dirty="0" err="1"/>
              <a:t>l’us</a:t>
            </a:r>
            <a:r>
              <a:rPr lang="en-US" dirty="0"/>
              <a:t> de methodologies </a:t>
            </a:r>
            <a:r>
              <a:rPr lang="en-US" dirty="0" err="1"/>
              <a:t>agils</a:t>
            </a:r>
            <a:r>
              <a:rPr lang="en-US" dirty="0"/>
              <a:t> per a la gestio efficient del </a:t>
            </a:r>
            <a:r>
              <a:rPr lang="en-US" dirty="0" err="1"/>
              <a:t>projecte</a:t>
            </a:r>
            <a:r>
              <a:rPr lang="en-US" dirty="0"/>
              <a:t> com </a:t>
            </a:r>
            <a:r>
              <a:rPr lang="en-US" dirty="0" err="1"/>
              <a:t>Metodologia</a:t>
            </a:r>
            <a:r>
              <a:rPr lang="en-US" dirty="0"/>
              <a:t> Scrum</a:t>
            </a:r>
            <a:br>
              <a:rPr lang="en-US" dirty="0"/>
            </a:br>
            <a:r>
              <a:rPr lang="en-US" dirty="0"/>
              <a:t>En quart </a:t>
            </a:r>
            <a:r>
              <a:rPr lang="en-US" dirty="0" err="1"/>
              <a:t>lloc</a:t>
            </a:r>
            <a:r>
              <a:rPr lang="en-US" dirty="0"/>
              <a:t> </a:t>
            </a:r>
            <a:r>
              <a:rPr lang="en-US" dirty="0" err="1"/>
              <a:t>utilitzarem</a:t>
            </a:r>
            <a:r>
              <a:rPr lang="en-US" dirty="0"/>
              <a:t> un </a:t>
            </a:r>
            <a:r>
              <a:rPr lang="en-US" dirty="0" err="1"/>
              <a:t>firback</a:t>
            </a:r>
            <a:r>
              <a:rPr lang="en-US" dirty="0"/>
              <a:t> </a:t>
            </a:r>
            <a:r>
              <a:rPr lang="en-US" dirty="0" err="1"/>
              <a:t>constructiu</a:t>
            </a:r>
            <a:r>
              <a:rPr lang="en-US" dirty="0"/>
              <a:t> per </a:t>
            </a:r>
            <a:r>
              <a:rPr lang="en-US" dirty="0" err="1"/>
              <a:t>oferir</a:t>
            </a:r>
            <a:r>
              <a:rPr lang="en-US" dirty="0"/>
              <a:t> </a:t>
            </a:r>
            <a:r>
              <a:rPr lang="en-US" dirty="0" err="1"/>
              <a:t>retroalimentacio</a:t>
            </a:r>
            <a:r>
              <a:rPr lang="en-US" dirty="0"/>
              <a:t> al </a:t>
            </a:r>
            <a:r>
              <a:rPr lang="en-US" dirty="0" err="1"/>
              <a:t>treball</a:t>
            </a:r>
            <a:r>
              <a:rPr lang="en-US" dirty="0"/>
              <a:t> dels </a:t>
            </a:r>
            <a:r>
              <a:rPr lang="en-US" dirty="0" err="1"/>
              <a:t>alumnes</a:t>
            </a:r>
            <a:r>
              <a:rPr lang="en-US" dirty="0"/>
              <a:t> </a:t>
            </a:r>
            <a:r>
              <a:rPr lang="en-US" dirty="0" err="1"/>
              <a:t>amb</a:t>
            </a:r>
            <a:r>
              <a:rPr lang="en-US" dirty="0"/>
              <a:t> revisions </a:t>
            </a:r>
            <a:r>
              <a:rPr lang="en-US" dirty="0" err="1"/>
              <a:t>periodiques</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a:t>
            </a:r>
            <a:r>
              <a:rPr lang="en-US" dirty="0" err="1"/>
              <a:t>podem</a:t>
            </a:r>
            <a:r>
              <a:rPr lang="en-US" dirty="0"/>
              <a:t> observer </a:t>
            </a:r>
            <a:r>
              <a:rPr lang="en-US" dirty="0" err="1"/>
              <a:t>en</a:t>
            </a:r>
            <a:r>
              <a:rPr lang="en-US" dirty="0"/>
              <a:t> </a:t>
            </a:r>
            <a:r>
              <a:rPr lang="en-US" dirty="0" err="1"/>
              <a:t>el</a:t>
            </a:r>
            <a:r>
              <a:rPr lang="en-US" dirty="0"/>
              <a:t> </a:t>
            </a:r>
            <a:r>
              <a:rPr lang="en-US" dirty="0" err="1"/>
              <a:t>diagrama</a:t>
            </a:r>
            <a:r>
              <a:rPr lang="en-US" dirty="0"/>
              <a:t>, </a:t>
            </a:r>
            <a:r>
              <a:rPr lang="en-US" dirty="0" err="1"/>
              <a:t>distinguem</a:t>
            </a:r>
            <a:r>
              <a:rPr lang="en-US" dirty="0"/>
              <a:t> </a:t>
            </a:r>
            <a:r>
              <a:rPr lang="en-US" dirty="0" err="1"/>
              <a:t>clarament</a:t>
            </a:r>
            <a:r>
              <a:rPr lang="en-US" dirty="0"/>
              <a:t> 3 components </a:t>
            </a:r>
            <a:r>
              <a:rPr lang="en-US" dirty="0" err="1"/>
              <a:t>proncipals</a:t>
            </a:r>
            <a:r>
              <a:rPr lang="en-US" dirty="0"/>
              <a:t>.</a:t>
            </a:r>
            <a:br>
              <a:rPr lang="en-US" dirty="0"/>
            </a:br>
            <a:r>
              <a:rPr lang="en-US" dirty="0"/>
              <a:t>El front-end on hem </a:t>
            </a:r>
            <a:r>
              <a:rPr lang="en-US" dirty="0" err="1"/>
              <a:t>optat</a:t>
            </a:r>
            <a:r>
              <a:rPr lang="en-US" dirty="0"/>
              <a:t> per </a:t>
            </a:r>
            <a:r>
              <a:rPr lang="en-US" dirty="0" err="1"/>
              <a:t>una</a:t>
            </a:r>
            <a:r>
              <a:rPr lang="en-US" dirty="0"/>
              <a:t> </a:t>
            </a:r>
            <a:r>
              <a:rPr lang="en-US" dirty="0" err="1"/>
              <a:t>arquitectura</a:t>
            </a:r>
            <a:r>
              <a:rPr lang="en-US" dirty="0"/>
              <a:t> Single page application, </a:t>
            </a:r>
            <a:r>
              <a:rPr lang="en-US" dirty="0" err="1"/>
              <a:t>utilitzant</a:t>
            </a:r>
            <a:r>
              <a:rPr lang="en-US" dirty="0"/>
              <a:t> </a:t>
            </a:r>
            <a:r>
              <a:rPr lang="en-US" dirty="0" err="1"/>
              <a:t>el</a:t>
            </a:r>
            <a:r>
              <a:rPr lang="en-US" dirty="0"/>
              <a:t> framework Angular. </a:t>
            </a:r>
            <a:r>
              <a:rPr lang="en-US" dirty="0" err="1"/>
              <a:t>Aquesta</a:t>
            </a:r>
            <a:r>
              <a:rPr lang="en-US" dirty="0"/>
              <a:t> </a:t>
            </a:r>
            <a:r>
              <a:rPr lang="en-US" dirty="0" err="1"/>
              <a:t>capa</a:t>
            </a:r>
            <a:r>
              <a:rPr lang="en-US" dirty="0"/>
              <a:t> </a:t>
            </a:r>
            <a:r>
              <a:rPr lang="en-US" dirty="0" err="1"/>
              <a:t>s’encarrega</a:t>
            </a:r>
            <a:r>
              <a:rPr lang="en-US" dirty="0"/>
              <a:t> de la </a:t>
            </a:r>
            <a:r>
              <a:rPr lang="en-US" dirty="0" err="1"/>
              <a:t>interaccio</a:t>
            </a:r>
            <a:r>
              <a:rPr lang="en-US" dirty="0"/>
              <a:t> </a:t>
            </a:r>
            <a:r>
              <a:rPr lang="en-US" dirty="0" err="1"/>
              <a:t>directa</a:t>
            </a:r>
            <a:r>
              <a:rPr lang="en-US" dirty="0"/>
              <a:t> </a:t>
            </a:r>
            <a:r>
              <a:rPr lang="en-US" dirty="0" err="1"/>
              <a:t>amb</a:t>
            </a:r>
            <a:r>
              <a:rPr lang="en-US" dirty="0"/>
              <a:t> </a:t>
            </a:r>
            <a:r>
              <a:rPr lang="en-US" dirty="0" err="1"/>
              <a:t>l’usuari</a:t>
            </a:r>
            <a:r>
              <a:rPr lang="en-US" dirty="0"/>
              <a:t> sense </a:t>
            </a:r>
            <a:r>
              <a:rPr lang="en-US" dirty="0" err="1"/>
              <a:t>necesitat</a:t>
            </a:r>
            <a:r>
              <a:rPr lang="en-US" dirty="0"/>
              <a:t> </a:t>
            </a:r>
            <a:r>
              <a:rPr lang="en-US" dirty="0" err="1"/>
              <a:t>d’estar</a:t>
            </a:r>
            <a:r>
              <a:rPr lang="en-US" dirty="0"/>
              <a:t> </a:t>
            </a:r>
            <a:r>
              <a:rPr lang="en-US" dirty="0" err="1"/>
              <a:t>carregant</a:t>
            </a:r>
            <a:r>
              <a:rPr lang="en-US" dirty="0"/>
              <a:t> la </a:t>
            </a:r>
            <a:r>
              <a:rPr lang="en-US" dirty="0" err="1"/>
              <a:t>pagina</a:t>
            </a:r>
            <a:r>
              <a:rPr lang="en-US" dirty="0"/>
              <a:t>.</a:t>
            </a:r>
            <a:br>
              <a:rPr lang="en-US" dirty="0"/>
            </a:br>
            <a:r>
              <a:rPr lang="en-US" dirty="0"/>
              <a:t>Backend </a:t>
            </a:r>
            <a:r>
              <a:rPr lang="en-US" dirty="0" err="1"/>
              <a:t>Desenvolupat</a:t>
            </a:r>
            <a:r>
              <a:rPr lang="en-US" dirty="0"/>
              <a:t> mab Laravel </a:t>
            </a:r>
            <a:r>
              <a:rPr lang="en-US" dirty="0" err="1"/>
              <a:t>actua</a:t>
            </a:r>
            <a:r>
              <a:rPr lang="en-US" dirty="0"/>
              <a:t> com a </a:t>
            </a:r>
            <a:r>
              <a:rPr lang="en-US" dirty="0" err="1"/>
              <a:t>intermediari</a:t>
            </a:r>
            <a:r>
              <a:rPr lang="en-US" dirty="0"/>
              <a:t> </a:t>
            </a:r>
            <a:r>
              <a:rPr lang="en-US" dirty="0" err="1"/>
              <a:t>amb</a:t>
            </a:r>
            <a:r>
              <a:rPr lang="en-US" dirty="0"/>
              <a:t> </a:t>
            </a:r>
            <a:r>
              <a:rPr lang="en-US" dirty="0" err="1"/>
              <a:t>el</a:t>
            </a:r>
            <a:r>
              <a:rPr lang="en-US" dirty="0"/>
              <a:t> client I la base de </a:t>
            </a:r>
            <a:r>
              <a:rPr lang="en-US" dirty="0" err="1"/>
              <a:t>dades</a:t>
            </a:r>
            <a:r>
              <a:rPr lang="en-US" dirty="0"/>
              <a:t> </a:t>
            </a:r>
            <a:r>
              <a:rPr lang="en-US" dirty="0" err="1"/>
              <a:t>proporcionant</a:t>
            </a:r>
            <a:r>
              <a:rPr lang="en-US" dirty="0"/>
              <a:t> </a:t>
            </a:r>
            <a:r>
              <a:rPr lang="en-US" dirty="0" err="1"/>
              <a:t>una</a:t>
            </a:r>
            <a:r>
              <a:rPr lang="en-US" dirty="0"/>
              <a:t> API per a les </a:t>
            </a:r>
            <a:r>
              <a:rPr lang="en-US" dirty="0" err="1"/>
              <a:t>operacions</a:t>
            </a:r>
            <a:r>
              <a:rPr lang="en-US" dirty="0"/>
              <a:t>. </a:t>
            </a:r>
            <a:r>
              <a:rPr lang="en-US" dirty="0" err="1"/>
              <a:t>Gestiona</a:t>
            </a:r>
            <a:r>
              <a:rPr lang="en-US" dirty="0"/>
              <a:t> la </a:t>
            </a:r>
            <a:r>
              <a:rPr lang="en-US" dirty="0" err="1"/>
              <a:t>logica</a:t>
            </a:r>
            <a:r>
              <a:rPr lang="en-US" dirty="0"/>
              <a:t> de </a:t>
            </a:r>
            <a:r>
              <a:rPr lang="en-US" dirty="0" err="1"/>
              <a:t>negici</a:t>
            </a:r>
            <a:r>
              <a:rPr lang="en-US" dirty="0"/>
              <a:t> </a:t>
            </a:r>
            <a:r>
              <a:rPr lang="en-US" dirty="0" err="1"/>
              <a:t>retorna</a:t>
            </a:r>
            <a:r>
              <a:rPr lang="en-US" dirty="0"/>
              <a:t> les </a:t>
            </a:r>
            <a:r>
              <a:rPr lang="en-US" dirty="0" err="1"/>
              <a:t>dades</a:t>
            </a:r>
            <a:r>
              <a:rPr lang="en-US" dirty="0"/>
              <a:t> </a:t>
            </a:r>
            <a:r>
              <a:rPr lang="en-US" dirty="0" err="1"/>
              <a:t>en</a:t>
            </a:r>
            <a:r>
              <a:rPr lang="en-US" dirty="0"/>
              <a:t> format JSON.</a:t>
            </a:r>
            <a:br>
              <a:rPr lang="en-US" dirty="0"/>
            </a:br>
            <a:r>
              <a:rPr lang="en-US" dirty="0" err="1"/>
              <a:t>Finalment</a:t>
            </a:r>
            <a:r>
              <a:rPr lang="en-US" dirty="0"/>
              <a:t> per a la base de </a:t>
            </a:r>
            <a:r>
              <a:rPr lang="en-US" dirty="0" err="1"/>
              <a:t>dades</a:t>
            </a:r>
            <a:r>
              <a:rPr lang="en-US" dirty="0"/>
              <a:t> hem </a:t>
            </a:r>
            <a:r>
              <a:rPr lang="en-US" dirty="0" err="1"/>
              <a:t>utilitzat</a:t>
            </a:r>
            <a:r>
              <a:rPr lang="en-US" dirty="0"/>
              <a:t> MYSQL com a Sistema de gestio de </a:t>
            </a:r>
            <a:r>
              <a:rPr lang="en-US" dirty="0" err="1"/>
              <a:t>tota</a:t>
            </a:r>
            <a:r>
              <a:rPr lang="en-US" dirty="0"/>
              <a:t> la </a:t>
            </a:r>
            <a:r>
              <a:rPr lang="en-US" dirty="0" err="1"/>
              <a:t>informacio</a:t>
            </a:r>
            <a:r>
              <a:rPr lang="en-US" dirty="0"/>
              <a:t> </a:t>
            </a:r>
            <a:r>
              <a:rPr lang="en-US" dirty="0" err="1"/>
              <a:t>necesaria</a:t>
            </a:r>
            <a:r>
              <a:rPr lang="en-US" dirty="0"/>
              <a:t> per al </a:t>
            </a:r>
            <a:r>
              <a:rPr lang="en-US" dirty="0" err="1"/>
              <a:t>funcionament</a:t>
            </a:r>
            <a:r>
              <a:rPr lang="en-US" dirty="0"/>
              <a:t> de </a:t>
            </a:r>
            <a:r>
              <a:rPr lang="en-US" dirty="0" err="1"/>
              <a:t>l’aplicacio</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a:t>
            </a:r>
            <a:r>
              <a:rPr lang="en-US" dirty="0" err="1"/>
              <a:t>podeu</a:t>
            </a:r>
            <a:r>
              <a:rPr lang="en-US" dirty="0"/>
              <a:t> </a:t>
            </a:r>
            <a:r>
              <a:rPr lang="en-US" dirty="0" err="1"/>
              <a:t>veure</a:t>
            </a:r>
            <a:r>
              <a:rPr lang="en-US" dirty="0"/>
              <a:t> </a:t>
            </a:r>
            <a:r>
              <a:rPr lang="en-US" dirty="0" err="1"/>
              <a:t>en</a:t>
            </a:r>
            <a:r>
              <a:rPr lang="en-US" dirty="0"/>
              <a:t> </a:t>
            </a:r>
            <a:r>
              <a:rPr lang="en-US" dirty="0" err="1"/>
              <a:t>el</a:t>
            </a:r>
            <a:r>
              <a:rPr lang="en-US" dirty="0"/>
              <a:t> </a:t>
            </a:r>
            <a:r>
              <a:rPr lang="en-US" dirty="0" err="1"/>
              <a:t>diagrama</a:t>
            </a:r>
            <a:r>
              <a:rPr lang="en-US" dirty="0"/>
              <a:t> de Gantt, </a:t>
            </a:r>
            <a:r>
              <a:rPr lang="en-US" dirty="0" err="1"/>
              <a:t>podeu</a:t>
            </a:r>
            <a:r>
              <a:rPr lang="en-US" dirty="0"/>
              <a:t> </a:t>
            </a:r>
            <a:r>
              <a:rPr lang="en-US" dirty="0" err="1"/>
              <a:t>veure</a:t>
            </a:r>
            <a:r>
              <a:rPr lang="en-US" dirty="0"/>
              <a:t> fins on </a:t>
            </a:r>
            <a:r>
              <a:rPr lang="en-US" dirty="0" err="1"/>
              <a:t>s’esten</a:t>
            </a:r>
            <a:r>
              <a:rPr lang="en-US" dirty="0"/>
              <a:t> </a:t>
            </a:r>
            <a:r>
              <a:rPr lang="en-US" dirty="0" err="1"/>
              <a:t>cada</a:t>
            </a:r>
            <a:r>
              <a:rPr lang="en-US" dirty="0"/>
              <a:t> </a:t>
            </a:r>
            <a:r>
              <a:rPr lang="en-US" dirty="0" err="1"/>
              <a:t>fase</a:t>
            </a:r>
            <a:r>
              <a:rPr lang="en-US" dirty="0"/>
              <a:t> de </a:t>
            </a:r>
            <a:r>
              <a:rPr lang="en-US" dirty="0" err="1"/>
              <a:t>desenvolupament</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Fonamental</a:t>
            </a:r>
            <a:r>
              <a:rPr lang="en-US" dirty="0"/>
              <a:t> per a </a:t>
            </a:r>
            <a:r>
              <a:rPr lang="en-US" dirty="0" err="1"/>
              <a:t>establir</a:t>
            </a:r>
            <a:r>
              <a:rPr lang="en-US" dirty="0"/>
              <a:t> les bases del </a:t>
            </a:r>
            <a:r>
              <a:rPr lang="en-US" dirty="0" err="1"/>
              <a:t>projecte</a:t>
            </a:r>
            <a:r>
              <a:rPr lang="en-US" dirty="0"/>
              <a:t>, </a:t>
            </a:r>
          </a:p>
          <a:p>
            <a:r>
              <a:rPr lang="en-US" dirty="0" err="1"/>
              <a:t>Sessio</a:t>
            </a:r>
            <a:r>
              <a:rPr lang="en-US" dirty="0"/>
              <a:t> 1 </a:t>
            </a:r>
            <a:r>
              <a:rPr lang="en-US" dirty="0" err="1"/>
              <a:t>vam</a:t>
            </a:r>
            <a:r>
              <a:rPr lang="en-US" dirty="0"/>
              <a:t> definer </a:t>
            </a:r>
            <a:r>
              <a:rPr lang="en-US" dirty="0" err="1"/>
              <a:t>els</a:t>
            </a:r>
            <a:r>
              <a:rPr lang="en-US" dirty="0"/>
              <a:t> </a:t>
            </a:r>
            <a:r>
              <a:rPr lang="en-US" dirty="0" err="1"/>
              <a:t>objectius</a:t>
            </a:r>
            <a:r>
              <a:rPr lang="en-US" dirty="0"/>
              <a:t> principals de </a:t>
            </a:r>
            <a:r>
              <a:rPr lang="en-US" dirty="0" err="1"/>
              <a:t>l’aplicació</a:t>
            </a:r>
            <a:r>
              <a:rPr lang="en-US" dirty="0"/>
              <a:t> I </a:t>
            </a:r>
            <a:r>
              <a:rPr lang="en-US" dirty="0" err="1"/>
              <a:t>vam</a:t>
            </a:r>
            <a:r>
              <a:rPr lang="en-US" dirty="0"/>
              <a:t> </a:t>
            </a:r>
            <a:r>
              <a:rPr lang="en-US" dirty="0" err="1"/>
              <a:t>analitzar</a:t>
            </a:r>
            <a:r>
              <a:rPr lang="en-US" dirty="0"/>
              <a:t> </a:t>
            </a:r>
            <a:r>
              <a:rPr lang="en-US" dirty="0" err="1"/>
              <a:t>diferents</a:t>
            </a:r>
            <a:r>
              <a:rPr lang="en-US" dirty="0"/>
              <a:t> </a:t>
            </a:r>
            <a:r>
              <a:rPr lang="en-US" dirty="0" err="1"/>
              <a:t>tipus</a:t>
            </a:r>
            <a:r>
              <a:rPr lang="en-US" dirty="0"/>
              <a:t> de </a:t>
            </a:r>
            <a:r>
              <a:rPr lang="en-US" dirty="0" err="1"/>
              <a:t>usuaris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err="1"/>
              <a:t>Sessio</a:t>
            </a:r>
            <a:r>
              <a:rPr lang="en-US" dirty="0"/>
              <a:t> 2 Va </a:t>
            </a:r>
            <a:r>
              <a:rPr lang="en-US" dirty="0" err="1"/>
              <a:t>consistir</a:t>
            </a:r>
            <a:r>
              <a:rPr lang="en-US" dirty="0"/>
              <a:t> </a:t>
            </a:r>
            <a:r>
              <a:rPr lang="en-US" dirty="0" err="1"/>
              <a:t>en</a:t>
            </a:r>
            <a:r>
              <a:rPr lang="en-US" dirty="0"/>
              <a:t> </a:t>
            </a:r>
            <a:r>
              <a:rPr lang="en-US" dirty="0" err="1"/>
              <a:t>l’analisi</a:t>
            </a:r>
            <a:r>
              <a:rPr lang="en-US" dirty="0"/>
              <a:t> de </a:t>
            </a:r>
            <a:r>
              <a:rPr lang="en-US" dirty="0" err="1"/>
              <a:t>interficies</a:t>
            </a:r>
            <a:r>
              <a:rPr lang="en-US" dirty="0"/>
              <a:t> </a:t>
            </a:r>
            <a:r>
              <a:rPr lang="en-US" dirty="0" err="1"/>
              <a:t>d’aplicacions</a:t>
            </a:r>
            <a:r>
              <a:rPr lang="en-US" dirty="0"/>
              <a:t> existents per </a:t>
            </a:r>
            <a:r>
              <a:rPr lang="en-US" dirty="0" err="1"/>
              <a:t>identificar</a:t>
            </a:r>
            <a:r>
              <a:rPr lang="en-US" dirty="0"/>
              <a:t> patrons de </a:t>
            </a:r>
            <a:r>
              <a:rPr lang="en-US" dirty="0" err="1"/>
              <a:t>diseny</a:t>
            </a:r>
            <a:br>
              <a:rPr lang="en-US" dirty="0"/>
            </a:br>
            <a:br>
              <a:rPr lang="en-US" dirty="0"/>
            </a:br>
            <a:r>
              <a:rPr lang="en-US" dirty="0" err="1"/>
              <a:t>Sessio</a:t>
            </a:r>
            <a:r>
              <a:rPr lang="en-US" dirty="0"/>
              <a:t> 3 </a:t>
            </a:r>
            <a:r>
              <a:rPr lang="en-US" dirty="0" err="1"/>
              <a:t>va</a:t>
            </a:r>
            <a:r>
              <a:rPr lang="en-US" dirty="0"/>
              <a:t> </a:t>
            </a:r>
            <a:r>
              <a:rPr lang="en-US" dirty="0" err="1"/>
              <a:t>aprofundir</a:t>
            </a:r>
            <a:r>
              <a:rPr lang="en-US" dirty="0"/>
              <a:t> </a:t>
            </a:r>
            <a:r>
              <a:rPr lang="en-US" dirty="0" err="1"/>
              <a:t>en</a:t>
            </a:r>
            <a:r>
              <a:rPr lang="en-US" dirty="0"/>
              <a:t> </a:t>
            </a:r>
            <a:r>
              <a:rPr lang="en-US" dirty="0" err="1"/>
              <a:t>els</a:t>
            </a:r>
            <a:r>
              <a:rPr lang="en-US" dirty="0"/>
              <a:t> elements </a:t>
            </a:r>
            <a:r>
              <a:rPr lang="en-US" dirty="0" err="1"/>
              <a:t>clau</a:t>
            </a:r>
            <a:r>
              <a:rPr lang="en-US" dirty="0"/>
              <a:t> de </a:t>
            </a:r>
            <a:r>
              <a:rPr lang="en-US" dirty="0" err="1"/>
              <a:t>disseny</a:t>
            </a:r>
            <a:r>
              <a:rPr lang="en-US" dirty="0"/>
              <a:t>  I la </a:t>
            </a:r>
            <a:r>
              <a:rPr lang="en-US" dirty="0" err="1"/>
              <a:t>realitzacio</a:t>
            </a:r>
            <a:r>
              <a:rPr lang="en-US" dirty="0"/>
              <a:t> d’un </a:t>
            </a:r>
            <a:r>
              <a:rPr lang="en-US" dirty="0" err="1"/>
              <a:t>analisi</a:t>
            </a:r>
            <a:r>
              <a:rPr lang="en-US" dirty="0"/>
              <a:t> DAFO del </a:t>
            </a:r>
            <a:r>
              <a:rPr lang="en-US" dirty="0" err="1"/>
              <a:t>projecte</a:t>
            </a:r>
            <a:br>
              <a:rPr lang="en-US" dirty="0"/>
            </a:br>
            <a:br>
              <a:rPr lang="en-US" dirty="0"/>
            </a:br>
            <a:r>
              <a:rPr lang="en-US" sz="1200" dirty="0">
                <a:solidFill>
                  <a:srgbClr val="D7D4CC"/>
                </a:solidFill>
                <a:latin typeface="Raleway Medium" pitchFamily="34" charset="0"/>
                <a:ea typeface="Raleway Medium" pitchFamily="34" charset="-122"/>
                <a:cs typeface="Raleway Medium" pitchFamily="34" charset="-120"/>
              </a:rPr>
              <a:t>El Bloc 1 </a:t>
            </a:r>
            <a:r>
              <a:rPr lang="en-US" sz="1200" dirty="0" err="1">
                <a:solidFill>
                  <a:srgbClr val="D7D4CC"/>
                </a:solidFill>
                <a:latin typeface="Raleway Medium" pitchFamily="34" charset="0"/>
                <a:ea typeface="Raleway Medium" pitchFamily="34" charset="-122"/>
                <a:cs typeface="Raleway Medium" pitchFamily="34" charset="-120"/>
              </a:rPr>
              <a:t>finalitza</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amb</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l'entrega</a:t>
            </a:r>
            <a:r>
              <a:rPr lang="en-US" sz="1200" dirty="0">
                <a:solidFill>
                  <a:srgbClr val="D7D4CC"/>
                </a:solidFill>
                <a:latin typeface="Raleway Medium" pitchFamily="34" charset="0"/>
                <a:ea typeface="Raleway Medium" pitchFamily="34" charset="-122"/>
                <a:cs typeface="Raleway Medium" pitchFamily="34" charset="-120"/>
              </a:rPr>
              <a:t> del document </a:t>
            </a:r>
            <a:r>
              <a:rPr lang="en-US" sz="1200" dirty="0" err="1">
                <a:solidFill>
                  <a:srgbClr val="D7D4CC"/>
                </a:solidFill>
                <a:latin typeface="Raleway Medium" pitchFamily="34" charset="0"/>
                <a:ea typeface="Raleway Medium" pitchFamily="34" charset="-122"/>
                <a:cs typeface="Raleway Medium" pitchFamily="34" charset="-120"/>
              </a:rPr>
              <a:t>d'anàlisi</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el</a:t>
            </a:r>
            <a:r>
              <a:rPr lang="en-US" sz="1200" dirty="0">
                <a:solidFill>
                  <a:srgbClr val="D7D4CC"/>
                </a:solidFill>
                <a:latin typeface="Raleway Medium" pitchFamily="34" charset="0"/>
                <a:ea typeface="Raleway Medium" pitchFamily="34" charset="-122"/>
                <a:cs typeface="Raleway Medium" pitchFamily="34" charset="-120"/>
              </a:rPr>
              <a:t> 19/09/2024, que </a:t>
            </a:r>
            <a:r>
              <a:rPr lang="en-US" sz="1200" dirty="0" err="1">
                <a:solidFill>
                  <a:srgbClr val="D7D4CC"/>
                </a:solidFill>
                <a:latin typeface="Raleway Medium" pitchFamily="34" charset="0"/>
                <a:ea typeface="Raleway Medium" pitchFamily="34" charset="-122"/>
                <a:cs typeface="Raleway Medium" pitchFamily="34" charset="-120"/>
              </a:rPr>
              <a:t>haurà</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d'incloure</a:t>
            </a:r>
            <a:r>
              <a:rPr lang="en-US" sz="1200" dirty="0">
                <a:solidFill>
                  <a:srgbClr val="D7D4CC"/>
                </a:solidFill>
                <a:latin typeface="Raleway Medium" pitchFamily="34" charset="0"/>
                <a:ea typeface="Raleway Medium" pitchFamily="34" charset="-122"/>
                <a:cs typeface="Raleway Medium" pitchFamily="34" charset="-120"/>
              </a:rPr>
              <a:t> la </a:t>
            </a:r>
            <a:r>
              <a:rPr lang="en-US" sz="1200" dirty="0" err="1">
                <a:solidFill>
                  <a:srgbClr val="D7D4CC"/>
                </a:solidFill>
                <a:latin typeface="Raleway Medium" pitchFamily="34" charset="0"/>
                <a:ea typeface="Raleway Medium" pitchFamily="34" charset="-122"/>
                <a:cs typeface="Raleway Medium" pitchFamily="34" charset="-120"/>
              </a:rPr>
              <a:t>definició</a:t>
            </a:r>
            <a:r>
              <a:rPr lang="en-US" sz="1200" dirty="0">
                <a:solidFill>
                  <a:srgbClr val="D7D4CC"/>
                </a:solidFill>
                <a:latin typeface="Raleway Medium" pitchFamily="34" charset="0"/>
                <a:ea typeface="Raleway Medium" pitchFamily="34" charset="-122"/>
                <a:cs typeface="Raleway Medium" pitchFamily="34" charset="-120"/>
              </a:rPr>
              <a:t> del </a:t>
            </a:r>
            <a:r>
              <a:rPr lang="en-US" sz="1200" dirty="0" err="1">
                <a:solidFill>
                  <a:srgbClr val="D7D4CC"/>
                </a:solidFill>
                <a:latin typeface="Raleway Medium" pitchFamily="34" charset="0"/>
                <a:ea typeface="Raleway Medium" pitchFamily="34" charset="-122"/>
                <a:cs typeface="Raleway Medium" pitchFamily="34" charset="-120"/>
              </a:rPr>
              <a:t>projecte</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usuaris</a:t>
            </a:r>
            <a:r>
              <a:rPr lang="en-US" sz="1200" dirty="0">
                <a:solidFill>
                  <a:srgbClr val="D7D4CC"/>
                </a:solidFill>
                <a:latin typeface="Raleway Medium" pitchFamily="34" charset="0"/>
                <a:ea typeface="Raleway Medium" pitchFamily="34" charset="-122"/>
                <a:cs typeface="Raleway Medium" pitchFamily="34" charset="-120"/>
              </a:rPr>
              <a:t>/</a:t>
            </a:r>
            <a:r>
              <a:rPr lang="en-US" sz="1200" dirty="0" err="1">
                <a:solidFill>
                  <a:srgbClr val="D7D4CC"/>
                </a:solidFill>
                <a:latin typeface="Raleway Medium" pitchFamily="34" charset="0"/>
                <a:ea typeface="Raleway Medium" pitchFamily="34" charset="-122"/>
                <a:cs typeface="Raleway Medium" pitchFamily="34" charset="-120"/>
              </a:rPr>
              <a:t>perfils</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anàlisi</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d'interfícies</a:t>
            </a:r>
            <a:r>
              <a:rPr lang="en-US" sz="1200" dirty="0">
                <a:solidFill>
                  <a:srgbClr val="D7D4CC"/>
                </a:solidFill>
                <a:latin typeface="Raleway Medium" pitchFamily="34" charset="0"/>
                <a:ea typeface="Raleway Medium" pitchFamily="34" charset="-122"/>
                <a:cs typeface="Raleway Medium" pitchFamily="34" charset="-120"/>
              </a:rPr>
              <a:t> existents </a:t>
            </a:r>
            <a:r>
              <a:rPr lang="en-US" sz="1200" dirty="0" err="1">
                <a:solidFill>
                  <a:srgbClr val="D7D4CC"/>
                </a:solidFill>
                <a:latin typeface="Raleway Medium" pitchFamily="34" charset="0"/>
                <a:ea typeface="Raleway Medium" pitchFamily="34" charset="-122"/>
                <a:cs typeface="Raleway Medium" pitchFamily="34" charset="-120"/>
              </a:rPr>
              <a:t>i</a:t>
            </a:r>
            <a:r>
              <a:rPr lang="en-US" sz="1200" dirty="0">
                <a:solidFill>
                  <a:srgbClr val="D7D4CC"/>
                </a:solidFill>
                <a:latin typeface="Raleway Medium" pitchFamily="34" charset="0"/>
                <a:ea typeface="Raleway Medium" pitchFamily="34" charset="-122"/>
                <a:cs typeface="Raleway Medium" pitchFamily="34" charset="-120"/>
              </a:rPr>
              <a:t> </a:t>
            </a:r>
            <a:r>
              <a:rPr lang="en-US" sz="1200" dirty="0" err="1">
                <a:solidFill>
                  <a:srgbClr val="D7D4CC"/>
                </a:solidFill>
                <a:latin typeface="Raleway Medium" pitchFamily="34" charset="0"/>
                <a:ea typeface="Raleway Medium" pitchFamily="34" charset="-122"/>
                <a:cs typeface="Raleway Medium" pitchFamily="34" charset="-120"/>
              </a:rPr>
              <a:t>el</a:t>
            </a:r>
            <a:r>
              <a:rPr lang="en-US" sz="1200" dirty="0">
                <a:solidFill>
                  <a:srgbClr val="D7D4CC"/>
                </a:solidFill>
                <a:latin typeface="Raleway Medium" pitchFamily="34" charset="0"/>
                <a:ea typeface="Raleway Medium" pitchFamily="34" charset="-122"/>
                <a:cs typeface="Raleway Medium" pitchFamily="34" charset="-120"/>
              </a:rPr>
              <a:t> DAFO.</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bloc 2 </a:t>
            </a:r>
            <a:r>
              <a:rPr lang="en-US" dirty="0" err="1"/>
              <a:t>va</a:t>
            </a:r>
            <a:r>
              <a:rPr lang="en-US" dirty="0"/>
              <a:t> ser crucial per a la </a:t>
            </a:r>
            <a:r>
              <a:rPr lang="en-US" dirty="0" err="1"/>
              <a:t>definicio</a:t>
            </a:r>
            <a:r>
              <a:rPr lang="en-US" dirty="0"/>
              <a:t> de </a:t>
            </a:r>
            <a:r>
              <a:rPr lang="en-US" dirty="0" err="1"/>
              <a:t>l’aparença</a:t>
            </a:r>
            <a:r>
              <a:rPr lang="en-US" dirty="0"/>
              <a:t> I la </a:t>
            </a:r>
            <a:r>
              <a:rPr lang="en-US" dirty="0" err="1"/>
              <a:t>usabilitat</a:t>
            </a:r>
            <a:r>
              <a:rPr lang="en-US" dirty="0"/>
              <a:t> de la </a:t>
            </a:r>
            <a:r>
              <a:rPr lang="en-US" dirty="0" err="1"/>
              <a:t>interficie</a:t>
            </a:r>
            <a:br>
              <a:rPr lang="en-US" dirty="0"/>
            </a:br>
            <a:br>
              <a:rPr lang="en-US" dirty="0"/>
            </a:br>
            <a:r>
              <a:rPr lang="en-US" dirty="0"/>
              <a:t>Sessions 4 I 5 es van </a:t>
            </a:r>
            <a:r>
              <a:rPr lang="en-US" dirty="0" err="1"/>
              <a:t>dedicar</a:t>
            </a:r>
            <a:r>
              <a:rPr lang="en-US" dirty="0"/>
              <a:t> a la </a:t>
            </a:r>
            <a:r>
              <a:rPr lang="en-US" dirty="0" err="1"/>
              <a:t>definicio</a:t>
            </a:r>
            <a:r>
              <a:rPr lang="en-US" dirty="0"/>
              <a:t> de la </a:t>
            </a:r>
            <a:r>
              <a:rPr lang="en-US" dirty="0" err="1"/>
              <a:t>guia</a:t>
            </a:r>
            <a:r>
              <a:rPr lang="en-US" dirty="0"/>
              <a:t> </a:t>
            </a:r>
            <a:r>
              <a:rPr lang="en-US" dirty="0" err="1"/>
              <a:t>d’estils</a:t>
            </a:r>
            <a:br>
              <a:rPr lang="en-US" dirty="0"/>
            </a:br>
            <a:r>
              <a:rPr lang="en-US" dirty="0" err="1"/>
              <a:t>Sessio</a:t>
            </a:r>
            <a:r>
              <a:rPr lang="en-US" dirty="0"/>
              <a:t> 6 </a:t>
            </a:r>
            <a:r>
              <a:rPr lang="en-US" dirty="0" err="1"/>
              <a:t>vam</a:t>
            </a:r>
            <a:r>
              <a:rPr lang="en-US" dirty="0"/>
              <a:t> </a:t>
            </a:r>
            <a:r>
              <a:rPr lang="en-US" dirty="0" err="1"/>
              <a:t>introduir</a:t>
            </a:r>
            <a:r>
              <a:rPr lang="en-US" dirty="0"/>
              <a:t> </a:t>
            </a:r>
            <a:r>
              <a:rPr lang="en-US" dirty="0" err="1"/>
              <a:t>els</a:t>
            </a:r>
            <a:r>
              <a:rPr lang="en-US" dirty="0"/>
              <a:t> </a:t>
            </a:r>
            <a:r>
              <a:rPr lang="en-US" dirty="0" err="1"/>
              <a:t>conceptes</a:t>
            </a:r>
            <a:r>
              <a:rPr lang="en-US" dirty="0"/>
              <a:t> </a:t>
            </a:r>
            <a:r>
              <a:rPr lang="en-US" dirty="0" err="1"/>
              <a:t>d’usabilitat</a:t>
            </a:r>
            <a:br>
              <a:rPr lang="en-US" dirty="0"/>
            </a:br>
            <a:r>
              <a:rPr lang="en-US" dirty="0"/>
              <a:t>Sessions 7i8 </a:t>
            </a:r>
            <a:r>
              <a:rPr lang="en-US" dirty="0" err="1"/>
              <a:t>fase</a:t>
            </a:r>
            <a:r>
              <a:rPr lang="en-US" dirty="0"/>
              <a:t> de </a:t>
            </a:r>
            <a:r>
              <a:rPr lang="en-US" dirty="0" err="1"/>
              <a:t>prototipat</a:t>
            </a:r>
            <a:r>
              <a:rPr lang="en-US" dirty="0"/>
              <a:t> I </a:t>
            </a:r>
            <a:r>
              <a:rPr lang="en-US" dirty="0" err="1"/>
              <a:t>diseny</a:t>
            </a:r>
            <a:r>
              <a:rPr lang="en-US" dirty="0"/>
              <a:t> de </a:t>
            </a:r>
            <a:r>
              <a:rPr lang="en-US" dirty="0" err="1"/>
              <a:t>formularis</a:t>
            </a:r>
            <a:br>
              <a:rPr lang="en-US" dirty="0"/>
            </a:br>
            <a:r>
              <a:rPr lang="en-US" dirty="0" err="1"/>
              <a:t>Sessio</a:t>
            </a:r>
            <a:r>
              <a:rPr lang="en-US" dirty="0"/>
              <a:t> 9 </a:t>
            </a:r>
            <a:r>
              <a:rPr lang="en-US" dirty="0" err="1"/>
              <a:t>Consolidació</a:t>
            </a:r>
            <a:r>
              <a:rPr lang="en-US" dirty="0"/>
              <a:t> del </a:t>
            </a:r>
            <a:r>
              <a:rPr lang="en-US" dirty="0" err="1"/>
              <a:t>diseny</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2B41-6B10-E627-0434-951FAD217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0BE82-7523-538C-C95A-3C0E6ECA0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E671B-AE47-D3DB-24E2-D4D08B1999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76F01F-F2DB-74E1-8A8E-9429E0A4EC0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86327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FB924-2377-490D-031B-1997D97B0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09FF3-640D-46EB-2E92-2518295D9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349FD-6764-EC1D-A846-E094171E7F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F6B5F-DE3F-A7CC-0E59-AF6C7A22BD8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860151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32E5-4E84-80C1-7E84-5911F3861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E0CC9-EC1C-D83F-B4AB-8F9D24192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C3019-5EA9-C779-3367-05F11996B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EB2D5D-B3DD-3C24-1A97-DEE621CFB9B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841153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t>
            </a:r>
            <a:r>
              <a:rPr lang="en-US" dirty="0" err="1"/>
              <a:t>modul</a:t>
            </a:r>
            <a:r>
              <a:rPr lang="en-US" dirty="0"/>
              <a:t> es </a:t>
            </a:r>
            <a:r>
              <a:rPr lang="en-US" dirty="0" err="1"/>
              <a:t>considera</a:t>
            </a:r>
            <a:r>
              <a:rPr lang="en-US" dirty="0"/>
              <a:t> </a:t>
            </a:r>
            <a:r>
              <a:rPr lang="en-US" dirty="0" err="1"/>
              <a:t>superat</a:t>
            </a:r>
            <a:r>
              <a:rPr lang="en-US" dirty="0"/>
              <a:t> </a:t>
            </a:r>
            <a:r>
              <a:rPr lang="en-US" dirty="0" err="1"/>
              <a:t>quan</a:t>
            </a:r>
            <a:r>
              <a:rPr lang="en-US" dirty="0"/>
              <a:t> </a:t>
            </a:r>
            <a:r>
              <a:rPr lang="en-US" dirty="0" err="1"/>
              <a:t>s’an</a:t>
            </a:r>
            <a:r>
              <a:rPr lang="en-US" dirty="0"/>
              <a:t> </a:t>
            </a:r>
            <a:r>
              <a:rPr lang="en-US" dirty="0" err="1"/>
              <a:t>asolit</a:t>
            </a:r>
            <a:r>
              <a:rPr lang="en-US" dirty="0"/>
              <a:t> tots </a:t>
            </a:r>
            <a:r>
              <a:rPr lang="en-US" dirty="0" err="1"/>
              <a:t>els</a:t>
            </a:r>
            <a:r>
              <a:rPr lang="en-US" dirty="0"/>
              <a:t> RAs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spTree>
    <p:extLst>
      <p:ext uri="{BB962C8B-B14F-4D97-AF65-F5344CB8AC3E}">
        <p14:creationId xmlns:p14="http://schemas.microsoft.com/office/powerpoint/2010/main" val="3290348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81063" y="781764"/>
            <a:ext cx="7381875" cy="2647236"/>
          </a:xfrm>
          <a:prstGeom prst="rect">
            <a:avLst/>
          </a:prstGeom>
          <a:noFill/>
          <a:ln/>
        </p:spPr>
        <p:txBody>
          <a:bodyPr wrap="square" lIns="0" tIns="0" rIns="0" bIns="0" rtlCol="0" anchor="t"/>
          <a:lstStyle/>
          <a:p>
            <a:pPr marL="0" indent="0" algn="l">
              <a:lnSpc>
                <a:spcPts val="4400"/>
              </a:lnSpc>
              <a:buNone/>
            </a:pPr>
            <a:r>
              <a:rPr lang="en-US" sz="3500" b="1" dirty="0">
                <a:solidFill>
                  <a:srgbClr val="FFE14D"/>
                </a:solidFill>
                <a:latin typeface="Comfortaa Bold" pitchFamily="34" charset="0"/>
                <a:ea typeface="Comfortaa Bold" pitchFamily="34" charset="-122"/>
                <a:cs typeface="Comfortaa Bold" pitchFamily="34" charset="-120"/>
              </a:rPr>
              <a:t>Disseny d'Interfícies Web </a:t>
            </a:r>
          </a:p>
          <a:p>
            <a:pPr marL="0" indent="0" algn="l">
              <a:lnSpc>
                <a:spcPts val="4400"/>
              </a:lnSpc>
              <a:buNone/>
            </a:pPr>
            <a:r>
              <a:rPr lang="en-US" sz="2000" b="1" dirty="0" err="1">
                <a:solidFill>
                  <a:srgbClr val="FFE14D"/>
                </a:solidFill>
                <a:latin typeface="Comfortaa Bold" pitchFamily="34" charset="0"/>
                <a:ea typeface="Comfortaa Bold" pitchFamily="34" charset="-122"/>
                <a:cs typeface="Comfortaa Bold" pitchFamily="34" charset="-120"/>
              </a:rPr>
              <a:t>Desenvolupament</a:t>
            </a:r>
            <a:r>
              <a:rPr lang="en-US" sz="2000" b="1" dirty="0">
                <a:solidFill>
                  <a:srgbClr val="FFE14D"/>
                </a:solidFill>
                <a:latin typeface="Comfortaa Bold" pitchFamily="34" charset="0"/>
                <a:ea typeface="Comfortaa Bold" pitchFamily="34" charset="-122"/>
                <a:cs typeface="Comfortaa Bold" pitchFamily="34" charset="-120"/>
              </a:rPr>
              <a:t> </a:t>
            </a:r>
            <a:r>
              <a:rPr lang="en-US" sz="2000" b="1" dirty="0" err="1">
                <a:solidFill>
                  <a:srgbClr val="FFE14D"/>
                </a:solidFill>
                <a:latin typeface="Comfortaa Bold" pitchFamily="34" charset="0"/>
                <a:ea typeface="Comfortaa Bold" pitchFamily="34" charset="-122"/>
                <a:cs typeface="Comfortaa Bold" pitchFamily="34" charset="-120"/>
              </a:rPr>
              <a:t>d’Aplicacions</a:t>
            </a:r>
            <a:r>
              <a:rPr lang="en-US" sz="2000" b="1" dirty="0">
                <a:solidFill>
                  <a:srgbClr val="FFE14D"/>
                </a:solidFill>
                <a:latin typeface="Comfortaa Bold" pitchFamily="34" charset="0"/>
                <a:ea typeface="Comfortaa Bold" pitchFamily="34" charset="-122"/>
                <a:cs typeface="Comfortaa Bold" pitchFamily="34" charset="-120"/>
              </a:rPr>
              <a:t> Web</a:t>
            </a:r>
          </a:p>
          <a:p>
            <a:pPr marL="0" indent="0" algn="l">
              <a:lnSpc>
                <a:spcPts val="4400"/>
              </a:lnSpc>
              <a:buNone/>
            </a:pPr>
            <a:br>
              <a:rPr lang="en-US" sz="3500" b="1" dirty="0">
                <a:solidFill>
                  <a:srgbClr val="FFE14D"/>
                </a:solidFill>
                <a:latin typeface="Comfortaa Bold" pitchFamily="34" charset="0"/>
                <a:ea typeface="Comfortaa Bold" pitchFamily="34" charset="-122"/>
                <a:cs typeface="Comfortaa Bold" pitchFamily="34" charset="-120"/>
              </a:rPr>
            </a:br>
            <a:r>
              <a:rPr lang="en-US" sz="3500" b="1" dirty="0" err="1">
                <a:solidFill>
                  <a:srgbClr val="FFE14D"/>
                </a:solidFill>
                <a:latin typeface="Comfortaa Bold" pitchFamily="34" charset="0"/>
                <a:ea typeface="Comfortaa Bold" pitchFamily="34" charset="-122"/>
                <a:cs typeface="Comfortaa Bold" pitchFamily="34" charset="-120"/>
              </a:rPr>
              <a:t>Gestió</a:t>
            </a:r>
            <a:r>
              <a:rPr lang="en-US" sz="3500" b="1" dirty="0">
                <a:solidFill>
                  <a:srgbClr val="FFE14D"/>
                </a:solidFill>
                <a:latin typeface="Comfortaa Bold" pitchFamily="34" charset="0"/>
                <a:ea typeface="Comfortaa Bold" pitchFamily="34" charset="-122"/>
                <a:cs typeface="Comfortaa Bold" pitchFamily="34" charset="-120"/>
              </a:rPr>
              <a:t> de Reserves del </a:t>
            </a:r>
            <a:r>
              <a:rPr lang="en-US" sz="3500" b="1" dirty="0" err="1">
                <a:solidFill>
                  <a:srgbClr val="FFE14D"/>
                </a:solidFill>
                <a:latin typeface="Comfortaa Bold" pitchFamily="34" charset="0"/>
                <a:ea typeface="Comfortaa Bold" pitchFamily="34" charset="-122"/>
                <a:cs typeface="Comfortaa Bold" pitchFamily="34" charset="-120"/>
              </a:rPr>
              <a:t>Poliesportiu</a:t>
            </a:r>
            <a:endParaRPr lang="en-US" sz="3500" dirty="0"/>
          </a:p>
        </p:txBody>
      </p:sp>
      <p:sp>
        <p:nvSpPr>
          <p:cNvPr id="5" name="Text 2"/>
          <p:cNvSpPr/>
          <p:nvPr/>
        </p:nvSpPr>
        <p:spPr>
          <a:xfrm>
            <a:off x="881063" y="4599980"/>
            <a:ext cx="7381875" cy="3223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Desenvolupat per:				</a:t>
            </a:r>
            <a:endParaRPr lang="en-US" sz="1550" dirty="0"/>
          </a:p>
        </p:txBody>
      </p:sp>
      <p:sp>
        <p:nvSpPr>
          <p:cNvPr id="6" name="Text 3"/>
          <p:cNvSpPr/>
          <p:nvPr/>
        </p:nvSpPr>
        <p:spPr>
          <a:xfrm>
            <a:off x="881063" y="5148858"/>
            <a:ext cx="7381875" cy="3223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Joan Sanchis Monzó</a:t>
            </a:r>
            <a:endParaRPr lang="en-US" sz="1550" dirty="0"/>
          </a:p>
        </p:txBody>
      </p:sp>
      <p:sp>
        <p:nvSpPr>
          <p:cNvPr id="7" name="Text 4"/>
          <p:cNvSpPr/>
          <p:nvPr/>
        </p:nvSpPr>
        <p:spPr>
          <a:xfrm>
            <a:off x="881063" y="5697736"/>
            <a:ext cx="7381875" cy="3223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Francisco Fuster Just</a:t>
            </a:r>
            <a:endParaRPr lang="en-US" sz="1550" dirty="0"/>
          </a:p>
        </p:txBody>
      </p:sp>
      <p:pic>
        <p:nvPicPr>
          <p:cNvPr id="8" name="Image 1" descr="preencoded.png"/>
          <p:cNvPicPr>
            <a:picLocks noChangeAspect="1"/>
          </p:cNvPicPr>
          <p:nvPr/>
        </p:nvPicPr>
        <p:blipFill>
          <a:blip r:embed="rId4"/>
          <a:stretch>
            <a:fillRect/>
          </a:stretch>
        </p:blipFill>
        <p:spPr>
          <a:xfrm>
            <a:off x="881063" y="6246614"/>
            <a:ext cx="3398758" cy="12012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9867" y="659963"/>
            <a:ext cx="3466386" cy="433149"/>
          </a:xfrm>
          <a:prstGeom prst="rect">
            <a:avLst/>
          </a:prstGeom>
          <a:noFill/>
          <a:ln/>
        </p:spPr>
        <p:txBody>
          <a:bodyPr wrap="none" lIns="0" tIns="0" rIns="0" bIns="0" rtlCol="0" anchor="t"/>
          <a:lstStyle/>
          <a:p>
            <a:pPr marL="0" indent="0" algn="l">
              <a:lnSpc>
                <a:spcPts val="3400"/>
              </a:lnSpc>
              <a:buNone/>
            </a:pPr>
            <a:r>
              <a:rPr lang="en-US" sz="2700" b="1" dirty="0">
                <a:solidFill>
                  <a:srgbClr val="FFE14D"/>
                </a:solidFill>
                <a:latin typeface="Comfortaa Bold" pitchFamily="34" charset="0"/>
                <a:ea typeface="Comfortaa Bold" pitchFamily="34" charset="-122"/>
                <a:cs typeface="Comfortaa Bold" pitchFamily="34" charset="-120"/>
              </a:rPr>
              <a:t>Continguts</a:t>
            </a:r>
            <a:endParaRPr lang="en-US" sz="2700" dirty="0"/>
          </a:p>
        </p:txBody>
      </p:sp>
      <p:sp>
        <p:nvSpPr>
          <p:cNvPr id="3" name="Shape 1"/>
          <p:cNvSpPr/>
          <p:nvPr/>
        </p:nvSpPr>
        <p:spPr>
          <a:xfrm>
            <a:off x="839867" y="1405057"/>
            <a:ext cx="1295043" cy="1121331"/>
          </a:xfrm>
          <a:prstGeom prst="roundRect">
            <a:avLst>
              <a:gd name="adj" fmla="val 20867"/>
            </a:avLst>
          </a:prstGeom>
          <a:solidFill>
            <a:srgbClr val="46464A"/>
          </a:solidFill>
          <a:ln/>
        </p:spPr>
        <p:txBody>
          <a:bodyPr/>
          <a:lstStyle/>
          <a:p>
            <a:endParaRPr lang="es-ES"/>
          </a:p>
        </p:txBody>
      </p:sp>
      <p:sp>
        <p:nvSpPr>
          <p:cNvPr id="4" name="Text 2"/>
          <p:cNvSpPr/>
          <p:nvPr/>
        </p:nvSpPr>
        <p:spPr>
          <a:xfrm>
            <a:off x="1377672" y="1828562"/>
            <a:ext cx="219313" cy="274201"/>
          </a:xfrm>
          <a:prstGeom prst="rect">
            <a:avLst/>
          </a:prstGeom>
          <a:noFill/>
          <a:ln/>
        </p:spPr>
        <p:txBody>
          <a:bodyPr wrap="none" lIns="0" tIns="0" rIns="0" bIns="0" rtlCol="0" anchor="t"/>
          <a:lstStyle/>
          <a:p>
            <a:pPr marL="0" indent="0" algn="ctr">
              <a:lnSpc>
                <a:spcPts val="2750"/>
              </a:lnSpc>
              <a:buNone/>
            </a:pPr>
            <a:r>
              <a:rPr lang="en-US" sz="1700" b="1" dirty="0">
                <a:solidFill>
                  <a:srgbClr val="D7D4CC"/>
                </a:solidFill>
                <a:latin typeface="Comfortaa Bold" pitchFamily="34" charset="0"/>
                <a:ea typeface="Comfortaa Bold" pitchFamily="34" charset="-122"/>
                <a:cs typeface="Comfortaa Bold" pitchFamily="34" charset="-120"/>
              </a:rPr>
              <a:t>1</a:t>
            </a:r>
            <a:endParaRPr lang="en-US" sz="1700" dirty="0"/>
          </a:p>
        </p:txBody>
      </p:sp>
      <p:sp>
        <p:nvSpPr>
          <p:cNvPr id="5" name="Text 3"/>
          <p:cNvSpPr/>
          <p:nvPr/>
        </p:nvSpPr>
        <p:spPr>
          <a:xfrm>
            <a:off x="2290882" y="1561028"/>
            <a:ext cx="2029539" cy="216694"/>
          </a:xfrm>
          <a:prstGeom prst="rect">
            <a:avLst/>
          </a:prstGeom>
          <a:noFill/>
          <a:ln/>
        </p:spPr>
        <p:txBody>
          <a:bodyPr wrap="none" lIns="0" tIns="0" rIns="0" bIns="0" rtlCol="0" anchor="t"/>
          <a:lstStyle/>
          <a:p>
            <a:pPr marL="0" indent="0" algn="l">
              <a:lnSpc>
                <a:spcPts val="1700"/>
              </a:lnSpc>
              <a:buNone/>
            </a:pPr>
            <a:r>
              <a:rPr lang="en-US" sz="1350" b="1" dirty="0">
                <a:solidFill>
                  <a:srgbClr val="D7D4CC"/>
                </a:solidFill>
                <a:latin typeface="Comfortaa Bold" pitchFamily="34" charset="0"/>
                <a:ea typeface="Comfortaa Bold" pitchFamily="34" charset="-122"/>
                <a:cs typeface="Comfortaa Bold" pitchFamily="34" charset="-120"/>
              </a:rPr>
              <a:t>Introducció i objectius</a:t>
            </a:r>
            <a:endParaRPr lang="en-US" sz="1350" dirty="0"/>
          </a:p>
        </p:txBody>
      </p:sp>
      <p:sp>
        <p:nvSpPr>
          <p:cNvPr id="6" name="Text 4"/>
          <p:cNvSpPr/>
          <p:nvPr/>
        </p:nvSpPr>
        <p:spPr>
          <a:xfrm>
            <a:off x="2290882" y="1871305"/>
            <a:ext cx="11343680" cy="499110"/>
          </a:xfrm>
          <a:prstGeom prst="rect">
            <a:avLst/>
          </a:prstGeom>
          <a:noFill/>
          <a:ln/>
        </p:spPr>
        <p:txBody>
          <a:bodyPr wrap="squar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Objectius del mòdul, competències professionals, resultats d'aprenentatge (RAs), criteris d'avaluació (CAs), contextualització del projecte en l'entorn professional i justificació pedagògica de l'enfocament adoptat</a:t>
            </a:r>
            <a:endParaRPr lang="en-US" sz="1200" dirty="0"/>
          </a:p>
        </p:txBody>
      </p:sp>
      <p:sp>
        <p:nvSpPr>
          <p:cNvPr id="7" name="Shape 5"/>
          <p:cNvSpPr/>
          <p:nvPr/>
        </p:nvSpPr>
        <p:spPr>
          <a:xfrm>
            <a:off x="2212896" y="2516862"/>
            <a:ext cx="11499652" cy="11430"/>
          </a:xfrm>
          <a:prstGeom prst="roundRect">
            <a:avLst>
              <a:gd name="adj" fmla="val 2047152"/>
            </a:avLst>
          </a:prstGeom>
          <a:solidFill>
            <a:srgbClr val="5F5F63"/>
          </a:solidFill>
          <a:ln/>
        </p:spPr>
        <p:txBody>
          <a:bodyPr/>
          <a:lstStyle/>
          <a:p>
            <a:endParaRPr lang="es-ES"/>
          </a:p>
        </p:txBody>
      </p:sp>
      <p:sp>
        <p:nvSpPr>
          <p:cNvPr id="8" name="Shape 6"/>
          <p:cNvSpPr/>
          <p:nvPr/>
        </p:nvSpPr>
        <p:spPr>
          <a:xfrm>
            <a:off x="839867" y="2604373"/>
            <a:ext cx="2590086" cy="1121331"/>
          </a:xfrm>
          <a:prstGeom prst="roundRect">
            <a:avLst>
              <a:gd name="adj" fmla="val 20867"/>
            </a:avLst>
          </a:prstGeom>
          <a:solidFill>
            <a:srgbClr val="46464A"/>
          </a:solidFill>
          <a:ln/>
        </p:spPr>
        <p:txBody>
          <a:bodyPr/>
          <a:lstStyle/>
          <a:p>
            <a:endParaRPr lang="es-ES"/>
          </a:p>
        </p:txBody>
      </p:sp>
      <p:sp>
        <p:nvSpPr>
          <p:cNvPr id="9" name="Text 7"/>
          <p:cNvSpPr/>
          <p:nvPr/>
        </p:nvSpPr>
        <p:spPr>
          <a:xfrm>
            <a:off x="2025253" y="3027878"/>
            <a:ext cx="219313" cy="274201"/>
          </a:xfrm>
          <a:prstGeom prst="rect">
            <a:avLst/>
          </a:prstGeom>
          <a:noFill/>
          <a:ln/>
        </p:spPr>
        <p:txBody>
          <a:bodyPr wrap="none" lIns="0" tIns="0" rIns="0" bIns="0" rtlCol="0" anchor="t"/>
          <a:lstStyle/>
          <a:p>
            <a:pPr marL="0" indent="0" algn="ctr">
              <a:lnSpc>
                <a:spcPts val="2750"/>
              </a:lnSpc>
              <a:buNone/>
            </a:pPr>
            <a:r>
              <a:rPr lang="en-US" sz="1700" b="1" dirty="0">
                <a:solidFill>
                  <a:srgbClr val="D7D4CC"/>
                </a:solidFill>
                <a:latin typeface="Comfortaa Bold" pitchFamily="34" charset="0"/>
                <a:ea typeface="Comfortaa Bold" pitchFamily="34" charset="-122"/>
                <a:cs typeface="Comfortaa Bold" pitchFamily="34" charset="-120"/>
              </a:rPr>
              <a:t>2</a:t>
            </a:r>
            <a:endParaRPr lang="en-US" sz="1700" dirty="0"/>
          </a:p>
        </p:txBody>
      </p:sp>
      <p:sp>
        <p:nvSpPr>
          <p:cNvPr id="10" name="Text 8"/>
          <p:cNvSpPr/>
          <p:nvPr/>
        </p:nvSpPr>
        <p:spPr>
          <a:xfrm>
            <a:off x="3585924" y="2760345"/>
            <a:ext cx="2100024" cy="216694"/>
          </a:xfrm>
          <a:prstGeom prst="rect">
            <a:avLst/>
          </a:prstGeom>
          <a:noFill/>
          <a:ln/>
        </p:spPr>
        <p:txBody>
          <a:bodyPr wrap="none" lIns="0" tIns="0" rIns="0" bIns="0" rtlCol="0" anchor="t"/>
          <a:lstStyle/>
          <a:p>
            <a:pPr marL="0" indent="0" algn="l">
              <a:lnSpc>
                <a:spcPts val="1700"/>
              </a:lnSpc>
              <a:buNone/>
            </a:pPr>
            <a:r>
              <a:rPr lang="en-US" sz="1350" b="1" dirty="0">
                <a:solidFill>
                  <a:srgbClr val="D7D4CC"/>
                </a:solidFill>
                <a:latin typeface="Comfortaa Bold" pitchFamily="34" charset="0"/>
                <a:ea typeface="Comfortaa Bold" pitchFamily="34" charset="-122"/>
                <a:cs typeface="Comfortaa Bold" pitchFamily="34" charset="-120"/>
              </a:rPr>
              <a:t>Descripció del projecte</a:t>
            </a:r>
            <a:endParaRPr lang="en-US" sz="1350" dirty="0"/>
          </a:p>
        </p:txBody>
      </p:sp>
      <p:sp>
        <p:nvSpPr>
          <p:cNvPr id="11" name="Text 9"/>
          <p:cNvSpPr/>
          <p:nvPr/>
        </p:nvSpPr>
        <p:spPr>
          <a:xfrm>
            <a:off x="3585924" y="3070622"/>
            <a:ext cx="10048637" cy="499110"/>
          </a:xfrm>
          <a:prstGeom prst="rect">
            <a:avLst/>
          </a:prstGeom>
          <a:noFill/>
          <a:ln/>
        </p:spPr>
        <p:txBody>
          <a:bodyPr wrap="squar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Introducció a la problemàtica actual dels poliesportius, necessitats dels usuaris, objectius específics del sistema de reserves, avantatges de la solució web i metodologia d'ensenyament-aprenentatge basada en projectes</a:t>
            </a:r>
            <a:endParaRPr lang="en-US" sz="1200" dirty="0"/>
          </a:p>
        </p:txBody>
      </p:sp>
      <p:sp>
        <p:nvSpPr>
          <p:cNvPr id="12" name="Shape 10"/>
          <p:cNvSpPr/>
          <p:nvPr/>
        </p:nvSpPr>
        <p:spPr>
          <a:xfrm>
            <a:off x="3507938" y="3716179"/>
            <a:ext cx="10204609" cy="11430"/>
          </a:xfrm>
          <a:prstGeom prst="roundRect">
            <a:avLst>
              <a:gd name="adj" fmla="val 2047152"/>
            </a:avLst>
          </a:prstGeom>
          <a:solidFill>
            <a:srgbClr val="5F5F63"/>
          </a:solidFill>
          <a:ln/>
        </p:spPr>
        <p:txBody>
          <a:bodyPr/>
          <a:lstStyle/>
          <a:p>
            <a:endParaRPr lang="es-ES"/>
          </a:p>
        </p:txBody>
      </p:sp>
      <p:sp>
        <p:nvSpPr>
          <p:cNvPr id="13" name="Shape 11"/>
          <p:cNvSpPr/>
          <p:nvPr/>
        </p:nvSpPr>
        <p:spPr>
          <a:xfrm>
            <a:off x="839867" y="3803690"/>
            <a:ext cx="3885128" cy="1121331"/>
          </a:xfrm>
          <a:prstGeom prst="roundRect">
            <a:avLst>
              <a:gd name="adj" fmla="val 20867"/>
            </a:avLst>
          </a:prstGeom>
          <a:solidFill>
            <a:srgbClr val="46464A"/>
          </a:solidFill>
          <a:ln/>
        </p:spPr>
        <p:txBody>
          <a:bodyPr/>
          <a:lstStyle/>
          <a:p>
            <a:endParaRPr lang="es-ES"/>
          </a:p>
        </p:txBody>
      </p:sp>
      <p:sp>
        <p:nvSpPr>
          <p:cNvPr id="14" name="Text 12"/>
          <p:cNvSpPr/>
          <p:nvPr/>
        </p:nvSpPr>
        <p:spPr>
          <a:xfrm>
            <a:off x="2672715" y="4227195"/>
            <a:ext cx="219313" cy="274201"/>
          </a:xfrm>
          <a:prstGeom prst="rect">
            <a:avLst/>
          </a:prstGeom>
          <a:noFill/>
          <a:ln/>
        </p:spPr>
        <p:txBody>
          <a:bodyPr wrap="none" lIns="0" tIns="0" rIns="0" bIns="0" rtlCol="0" anchor="t"/>
          <a:lstStyle/>
          <a:p>
            <a:pPr marL="0" indent="0" algn="ctr">
              <a:lnSpc>
                <a:spcPts val="2750"/>
              </a:lnSpc>
              <a:buNone/>
            </a:pPr>
            <a:r>
              <a:rPr lang="en-US" sz="1700" b="1" dirty="0">
                <a:solidFill>
                  <a:srgbClr val="D7D4CC"/>
                </a:solidFill>
                <a:latin typeface="Comfortaa Bold" pitchFamily="34" charset="0"/>
                <a:ea typeface="Comfortaa Bold" pitchFamily="34" charset="-122"/>
                <a:cs typeface="Comfortaa Bold" pitchFamily="34" charset="-120"/>
              </a:rPr>
              <a:t>3</a:t>
            </a:r>
            <a:endParaRPr lang="en-US" sz="1700" dirty="0"/>
          </a:p>
        </p:txBody>
      </p:sp>
      <p:sp>
        <p:nvSpPr>
          <p:cNvPr id="15" name="Text 13"/>
          <p:cNvSpPr/>
          <p:nvPr/>
        </p:nvSpPr>
        <p:spPr>
          <a:xfrm>
            <a:off x="4880967" y="3959662"/>
            <a:ext cx="2193250" cy="216694"/>
          </a:xfrm>
          <a:prstGeom prst="rect">
            <a:avLst/>
          </a:prstGeom>
          <a:noFill/>
          <a:ln/>
        </p:spPr>
        <p:txBody>
          <a:bodyPr wrap="none" lIns="0" tIns="0" rIns="0" bIns="0" rtlCol="0" anchor="t"/>
          <a:lstStyle/>
          <a:p>
            <a:pPr marL="0" indent="0" algn="l">
              <a:lnSpc>
                <a:spcPts val="1700"/>
              </a:lnSpc>
              <a:buNone/>
            </a:pPr>
            <a:r>
              <a:rPr lang="en-US" sz="1350" b="1" dirty="0">
                <a:solidFill>
                  <a:srgbClr val="D7D4CC"/>
                </a:solidFill>
                <a:latin typeface="Comfortaa Bold" pitchFamily="34" charset="0"/>
                <a:ea typeface="Comfortaa Bold" pitchFamily="34" charset="-122"/>
                <a:cs typeface="Comfortaa Bold" pitchFamily="34" charset="-120"/>
              </a:rPr>
              <a:t>Estructura i planificació</a:t>
            </a:r>
            <a:endParaRPr lang="en-US" sz="1350" dirty="0"/>
          </a:p>
        </p:txBody>
      </p:sp>
      <p:sp>
        <p:nvSpPr>
          <p:cNvPr id="16" name="Text 14"/>
          <p:cNvSpPr/>
          <p:nvPr/>
        </p:nvSpPr>
        <p:spPr>
          <a:xfrm>
            <a:off x="4880967" y="4269938"/>
            <a:ext cx="8753594" cy="499110"/>
          </a:xfrm>
          <a:prstGeom prst="rect">
            <a:avLst/>
          </a:prstGeom>
          <a:noFill/>
          <a:ln/>
        </p:spPr>
        <p:txBody>
          <a:bodyPr wrap="squar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Arquitectura del projecte (frontend/backend), tecnologies utilitzades, planificació temporal per setmanes, distribució d'hores per activitat, fases de desenvolupament i entregables intermedis</a:t>
            </a:r>
            <a:endParaRPr lang="en-US" sz="1200" dirty="0"/>
          </a:p>
        </p:txBody>
      </p:sp>
      <p:sp>
        <p:nvSpPr>
          <p:cNvPr id="17" name="Shape 15"/>
          <p:cNvSpPr/>
          <p:nvPr/>
        </p:nvSpPr>
        <p:spPr>
          <a:xfrm>
            <a:off x="4802981" y="4915495"/>
            <a:ext cx="8909566" cy="11430"/>
          </a:xfrm>
          <a:prstGeom prst="roundRect">
            <a:avLst>
              <a:gd name="adj" fmla="val 2047152"/>
            </a:avLst>
          </a:prstGeom>
          <a:solidFill>
            <a:srgbClr val="5F5F63"/>
          </a:solidFill>
          <a:ln/>
        </p:spPr>
        <p:txBody>
          <a:bodyPr/>
          <a:lstStyle/>
          <a:p>
            <a:endParaRPr lang="es-ES"/>
          </a:p>
        </p:txBody>
      </p:sp>
      <p:sp>
        <p:nvSpPr>
          <p:cNvPr id="18" name="Shape 16"/>
          <p:cNvSpPr/>
          <p:nvPr/>
        </p:nvSpPr>
        <p:spPr>
          <a:xfrm>
            <a:off x="839867" y="5003006"/>
            <a:ext cx="5180171" cy="1121331"/>
          </a:xfrm>
          <a:prstGeom prst="roundRect">
            <a:avLst>
              <a:gd name="adj" fmla="val 20867"/>
            </a:avLst>
          </a:prstGeom>
          <a:solidFill>
            <a:srgbClr val="46464A"/>
          </a:solidFill>
          <a:ln/>
        </p:spPr>
        <p:txBody>
          <a:bodyPr/>
          <a:lstStyle/>
          <a:p>
            <a:endParaRPr lang="es-ES"/>
          </a:p>
        </p:txBody>
      </p:sp>
      <p:sp>
        <p:nvSpPr>
          <p:cNvPr id="19" name="Text 17"/>
          <p:cNvSpPr/>
          <p:nvPr/>
        </p:nvSpPr>
        <p:spPr>
          <a:xfrm>
            <a:off x="3320296" y="5426512"/>
            <a:ext cx="219313" cy="274201"/>
          </a:xfrm>
          <a:prstGeom prst="rect">
            <a:avLst/>
          </a:prstGeom>
          <a:noFill/>
          <a:ln/>
        </p:spPr>
        <p:txBody>
          <a:bodyPr wrap="none" lIns="0" tIns="0" rIns="0" bIns="0" rtlCol="0" anchor="t"/>
          <a:lstStyle/>
          <a:p>
            <a:pPr marL="0" indent="0" algn="ctr">
              <a:lnSpc>
                <a:spcPts val="2750"/>
              </a:lnSpc>
              <a:buNone/>
            </a:pPr>
            <a:r>
              <a:rPr lang="en-US" sz="1700" b="1" dirty="0">
                <a:solidFill>
                  <a:srgbClr val="D7D4CC"/>
                </a:solidFill>
                <a:latin typeface="Comfortaa Bold" pitchFamily="34" charset="0"/>
                <a:ea typeface="Comfortaa Bold" pitchFamily="34" charset="-122"/>
                <a:cs typeface="Comfortaa Bold" pitchFamily="34" charset="-120"/>
              </a:rPr>
              <a:t>4</a:t>
            </a:r>
            <a:endParaRPr lang="en-US" sz="1700" dirty="0"/>
          </a:p>
        </p:txBody>
      </p:sp>
      <p:sp>
        <p:nvSpPr>
          <p:cNvPr id="20" name="Text 18"/>
          <p:cNvSpPr/>
          <p:nvPr/>
        </p:nvSpPr>
        <p:spPr>
          <a:xfrm>
            <a:off x="6176010" y="5158978"/>
            <a:ext cx="1733193" cy="216694"/>
          </a:xfrm>
          <a:prstGeom prst="rect">
            <a:avLst/>
          </a:prstGeom>
          <a:noFill/>
          <a:ln/>
        </p:spPr>
        <p:txBody>
          <a:bodyPr wrap="none" lIns="0" tIns="0" rIns="0" bIns="0" rtlCol="0" anchor="t"/>
          <a:lstStyle/>
          <a:p>
            <a:pPr marL="0" indent="0" algn="l">
              <a:lnSpc>
                <a:spcPts val="1700"/>
              </a:lnSpc>
              <a:buNone/>
            </a:pPr>
            <a:r>
              <a:rPr lang="en-US" sz="1350" b="1" dirty="0">
                <a:solidFill>
                  <a:srgbClr val="D7D4CC"/>
                </a:solidFill>
                <a:latin typeface="Comfortaa Bold" pitchFamily="34" charset="0"/>
                <a:ea typeface="Comfortaa Bold" pitchFamily="34" charset="-122"/>
                <a:cs typeface="Comfortaa Bold" pitchFamily="34" charset="-120"/>
              </a:rPr>
              <a:t>Blocs de treball</a:t>
            </a:r>
            <a:endParaRPr lang="en-US" sz="1350" dirty="0"/>
          </a:p>
        </p:txBody>
      </p:sp>
      <p:sp>
        <p:nvSpPr>
          <p:cNvPr id="21" name="Text 19"/>
          <p:cNvSpPr/>
          <p:nvPr/>
        </p:nvSpPr>
        <p:spPr>
          <a:xfrm>
            <a:off x="6176010" y="5469255"/>
            <a:ext cx="7458551" cy="499110"/>
          </a:xfrm>
          <a:prstGeom prst="rect">
            <a:avLst/>
          </a:prstGeom>
          <a:noFill/>
          <a:ln/>
        </p:spPr>
        <p:txBody>
          <a:bodyPr wrap="squar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Bloc 1: Anàlisi de requisits i usuaris, Bloc 2: Disseny d'interfície i wireframes, Bloc 3: Estructura HTML semàntica, Bloc 4: Estils CSS i responsive design, Blocs 5-7: JavaScript, APIs i integració</a:t>
            </a:r>
            <a:endParaRPr lang="en-US" sz="1200" dirty="0"/>
          </a:p>
        </p:txBody>
      </p:sp>
      <p:sp>
        <p:nvSpPr>
          <p:cNvPr id="22" name="Shape 20"/>
          <p:cNvSpPr/>
          <p:nvPr/>
        </p:nvSpPr>
        <p:spPr>
          <a:xfrm>
            <a:off x="6098024" y="6114812"/>
            <a:ext cx="7614523" cy="11430"/>
          </a:xfrm>
          <a:prstGeom prst="roundRect">
            <a:avLst>
              <a:gd name="adj" fmla="val 2047152"/>
            </a:avLst>
          </a:prstGeom>
          <a:solidFill>
            <a:srgbClr val="5F5F63"/>
          </a:solidFill>
          <a:ln/>
        </p:spPr>
        <p:txBody>
          <a:bodyPr/>
          <a:lstStyle/>
          <a:p>
            <a:endParaRPr lang="es-ES"/>
          </a:p>
        </p:txBody>
      </p:sp>
      <p:sp>
        <p:nvSpPr>
          <p:cNvPr id="23" name="Shape 21"/>
          <p:cNvSpPr/>
          <p:nvPr/>
        </p:nvSpPr>
        <p:spPr>
          <a:xfrm>
            <a:off x="839867" y="6202323"/>
            <a:ext cx="6475333" cy="1370886"/>
          </a:xfrm>
          <a:prstGeom prst="roundRect">
            <a:avLst>
              <a:gd name="adj" fmla="val 17068"/>
            </a:avLst>
          </a:prstGeom>
          <a:solidFill>
            <a:srgbClr val="46464A"/>
          </a:solidFill>
          <a:ln/>
        </p:spPr>
        <p:txBody>
          <a:bodyPr/>
          <a:lstStyle/>
          <a:p>
            <a:endParaRPr lang="es-ES"/>
          </a:p>
        </p:txBody>
      </p:sp>
      <p:sp>
        <p:nvSpPr>
          <p:cNvPr id="24" name="Text 22"/>
          <p:cNvSpPr/>
          <p:nvPr/>
        </p:nvSpPr>
        <p:spPr>
          <a:xfrm>
            <a:off x="3967877" y="6750606"/>
            <a:ext cx="219313" cy="274201"/>
          </a:xfrm>
          <a:prstGeom prst="rect">
            <a:avLst/>
          </a:prstGeom>
          <a:noFill/>
          <a:ln/>
        </p:spPr>
        <p:txBody>
          <a:bodyPr wrap="none" lIns="0" tIns="0" rIns="0" bIns="0" rtlCol="0" anchor="t"/>
          <a:lstStyle/>
          <a:p>
            <a:pPr marL="0" indent="0" algn="ctr">
              <a:lnSpc>
                <a:spcPts val="2750"/>
              </a:lnSpc>
              <a:buNone/>
            </a:pPr>
            <a:r>
              <a:rPr lang="en-US" sz="1700" b="1" dirty="0">
                <a:solidFill>
                  <a:srgbClr val="D7D4CC"/>
                </a:solidFill>
                <a:latin typeface="Comfortaa Bold" pitchFamily="34" charset="0"/>
                <a:ea typeface="Comfortaa Bold" pitchFamily="34" charset="-122"/>
                <a:cs typeface="Comfortaa Bold" pitchFamily="34" charset="-120"/>
              </a:rPr>
              <a:t>5</a:t>
            </a:r>
            <a:endParaRPr lang="en-US" sz="1700" dirty="0"/>
          </a:p>
        </p:txBody>
      </p:sp>
      <p:sp>
        <p:nvSpPr>
          <p:cNvPr id="25" name="Text 23"/>
          <p:cNvSpPr/>
          <p:nvPr/>
        </p:nvSpPr>
        <p:spPr>
          <a:xfrm>
            <a:off x="7471172" y="6358295"/>
            <a:ext cx="1915001" cy="216694"/>
          </a:xfrm>
          <a:prstGeom prst="rect">
            <a:avLst/>
          </a:prstGeom>
          <a:noFill/>
          <a:ln/>
        </p:spPr>
        <p:txBody>
          <a:bodyPr wrap="none" lIns="0" tIns="0" rIns="0" bIns="0" rtlCol="0" anchor="t"/>
          <a:lstStyle/>
          <a:p>
            <a:pPr marL="0" indent="0" algn="l">
              <a:lnSpc>
                <a:spcPts val="1700"/>
              </a:lnSpc>
              <a:buNone/>
            </a:pPr>
            <a:r>
              <a:rPr lang="en-US" sz="1350" b="1" dirty="0">
                <a:solidFill>
                  <a:srgbClr val="D7D4CC"/>
                </a:solidFill>
                <a:latin typeface="Comfortaa Bold" pitchFamily="34" charset="0"/>
                <a:ea typeface="Comfortaa Bold" pitchFamily="34" charset="-122"/>
                <a:cs typeface="Comfortaa Bold" pitchFamily="34" charset="-120"/>
              </a:rPr>
              <a:t>Fase final i avaluació</a:t>
            </a:r>
            <a:endParaRPr lang="en-US" sz="1350" dirty="0"/>
          </a:p>
        </p:txBody>
      </p:sp>
      <p:sp>
        <p:nvSpPr>
          <p:cNvPr id="26" name="Text 24"/>
          <p:cNvSpPr/>
          <p:nvPr/>
        </p:nvSpPr>
        <p:spPr>
          <a:xfrm>
            <a:off x="7471172" y="6668572"/>
            <a:ext cx="6163389" cy="748665"/>
          </a:xfrm>
          <a:prstGeom prst="rect">
            <a:avLst/>
          </a:prstGeom>
          <a:noFill/>
          <a:ln/>
        </p:spPr>
        <p:txBody>
          <a:bodyPr wrap="square" lIns="0" tIns="0" rIns="0" bIns="0" rtlCol="0" anchor="t"/>
          <a:lstStyle/>
          <a:p>
            <a:pPr marL="0" indent="0" algn="l">
              <a:lnSpc>
                <a:spcPts val="1950"/>
              </a:lnSpc>
              <a:buNone/>
            </a:pPr>
            <a:r>
              <a:rPr lang="en-US" sz="1200" dirty="0">
                <a:solidFill>
                  <a:srgbClr val="D7D4CC"/>
                </a:solidFill>
                <a:latin typeface="Raleway Medium" pitchFamily="34" charset="0"/>
                <a:ea typeface="Raleway Medium" pitchFamily="34" charset="-122"/>
                <a:cs typeface="Raleway Medium" pitchFamily="34" charset="-120"/>
              </a:rPr>
              <a:t>Integració de components, testeig d'usabilitat, instruccions d'instal·lació i desplegament, criteris d'avaluació específics, instruments d'avaluació (rúbriques) i percentatges de qualificació per activitat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943451"/>
            <a:ext cx="5585579" cy="664369"/>
          </a:xfrm>
          <a:prstGeom prst="rect">
            <a:avLst/>
          </a:prstGeom>
          <a:noFill/>
          <a:ln/>
        </p:spPr>
        <p:txBody>
          <a:bodyPr wrap="none" lIns="0" tIns="0" rIns="0" bIns="0" rtlCol="0" anchor="t"/>
          <a:lstStyle/>
          <a:p>
            <a:pPr marL="0" indent="0" algn="l">
              <a:lnSpc>
                <a:spcPts val="5200"/>
              </a:lnSpc>
              <a:buNone/>
            </a:pPr>
            <a:r>
              <a:rPr lang="en-US" sz="4150" b="1" dirty="0">
                <a:solidFill>
                  <a:srgbClr val="FFE14D"/>
                </a:solidFill>
                <a:latin typeface="Comfortaa Bold" pitchFamily="34" charset="0"/>
                <a:ea typeface="Comfortaa Bold" pitchFamily="34" charset="-122"/>
                <a:cs typeface="Comfortaa Bold" pitchFamily="34" charset="-120"/>
              </a:rPr>
              <a:t>Objectius del mòdul</a:t>
            </a:r>
            <a:endParaRPr lang="en-US" sz="4150" dirty="0"/>
          </a:p>
        </p:txBody>
      </p:sp>
      <p:sp>
        <p:nvSpPr>
          <p:cNvPr id="4" name="Shape 1"/>
          <p:cNvSpPr/>
          <p:nvPr/>
        </p:nvSpPr>
        <p:spPr>
          <a:xfrm>
            <a:off x="6367462" y="1966555"/>
            <a:ext cx="538043" cy="538043"/>
          </a:xfrm>
          <a:prstGeom prst="roundRect">
            <a:avLst>
              <a:gd name="adj" fmla="val 66680"/>
            </a:avLst>
          </a:prstGeom>
          <a:solidFill>
            <a:srgbClr val="46464A"/>
          </a:solidFill>
          <a:ln/>
        </p:spPr>
        <p:txBody>
          <a:bodyPr/>
          <a:lstStyle/>
          <a:p>
            <a:endParaRPr lang="es-ES"/>
          </a:p>
        </p:txBody>
      </p:sp>
      <p:pic>
        <p:nvPicPr>
          <p:cNvPr id="5" name="Image 1" descr="preencoded.png"/>
          <p:cNvPicPr>
            <a:picLocks noChangeAspect="1"/>
          </p:cNvPicPr>
          <p:nvPr/>
        </p:nvPicPr>
        <p:blipFill>
          <a:blip r:embed="rId4"/>
          <a:stretch>
            <a:fillRect/>
          </a:stretch>
        </p:blipFill>
        <p:spPr>
          <a:xfrm>
            <a:off x="6477000" y="2036207"/>
            <a:ext cx="318849" cy="398621"/>
          </a:xfrm>
          <a:prstGeom prst="rect">
            <a:avLst/>
          </a:prstGeom>
        </p:spPr>
      </p:pic>
      <p:sp>
        <p:nvSpPr>
          <p:cNvPr id="6" name="Text 2"/>
          <p:cNvSpPr/>
          <p:nvPr/>
        </p:nvSpPr>
        <p:spPr>
          <a:xfrm>
            <a:off x="7144583" y="2048708"/>
            <a:ext cx="2764274" cy="996553"/>
          </a:xfrm>
          <a:prstGeom prst="rect">
            <a:avLst/>
          </a:prstGeom>
          <a:noFill/>
          <a:ln/>
        </p:spPr>
        <p:txBody>
          <a:bodyPr wrap="squar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Comprendre els fonaments del disseny d'interfícies</a:t>
            </a:r>
            <a:endParaRPr lang="en-US" sz="2050" dirty="0"/>
          </a:p>
        </p:txBody>
      </p:sp>
      <p:sp>
        <p:nvSpPr>
          <p:cNvPr id="7" name="Text 3"/>
          <p:cNvSpPr/>
          <p:nvPr/>
        </p:nvSpPr>
        <p:spPr>
          <a:xfrm>
            <a:off x="7144583" y="3188732"/>
            <a:ext cx="2764274" cy="2296001"/>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Aprendre els principis de percepció visual i la seva aplicació en el disseny d'interfícies web efectius per a entorns esportius.</a:t>
            </a:r>
            <a:endParaRPr lang="en-US" sz="1850" dirty="0"/>
          </a:p>
        </p:txBody>
      </p:sp>
      <p:sp>
        <p:nvSpPr>
          <p:cNvPr id="8" name="Shape 4"/>
          <p:cNvSpPr/>
          <p:nvPr/>
        </p:nvSpPr>
        <p:spPr>
          <a:xfrm>
            <a:off x="10207823" y="1966555"/>
            <a:ext cx="538043" cy="538043"/>
          </a:xfrm>
          <a:prstGeom prst="roundRect">
            <a:avLst>
              <a:gd name="adj" fmla="val 66680"/>
            </a:avLst>
          </a:prstGeom>
          <a:solidFill>
            <a:srgbClr val="46464A"/>
          </a:solidFill>
          <a:ln/>
        </p:spPr>
        <p:txBody>
          <a:bodyPr/>
          <a:lstStyle/>
          <a:p>
            <a:endParaRPr lang="es-ES"/>
          </a:p>
        </p:txBody>
      </p:sp>
      <p:pic>
        <p:nvPicPr>
          <p:cNvPr id="9" name="Image 2" descr="preencoded.png"/>
          <p:cNvPicPr>
            <a:picLocks noChangeAspect="1"/>
          </p:cNvPicPr>
          <p:nvPr/>
        </p:nvPicPr>
        <p:blipFill>
          <a:blip r:embed="rId5"/>
          <a:stretch>
            <a:fillRect/>
          </a:stretch>
        </p:blipFill>
        <p:spPr>
          <a:xfrm>
            <a:off x="10317361" y="2036207"/>
            <a:ext cx="318849" cy="398621"/>
          </a:xfrm>
          <a:prstGeom prst="rect">
            <a:avLst/>
          </a:prstGeom>
        </p:spPr>
      </p:pic>
      <p:sp>
        <p:nvSpPr>
          <p:cNvPr id="10" name="Text 5"/>
          <p:cNvSpPr/>
          <p:nvPr/>
        </p:nvSpPr>
        <p:spPr>
          <a:xfrm>
            <a:off x="10984944" y="2048708"/>
            <a:ext cx="2764393" cy="664369"/>
          </a:xfrm>
          <a:prstGeom prst="rect">
            <a:avLst/>
          </a:prstGeom>
          <a:noFill/>
          <a:ln/>
        </p:spPr>
        <p:txBody>
          <a:bodyPr wrap="squar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Aplicar conceptes d'usabilitat</a:t>
            </a:r>
            <a:endParaRPr lang="en-US" sz="2050" dirty="0"/>
          </a:p>
        </p:txBody>
      </p:sp>
      <p:sp>
        <p:nvSpPr>
          <p:cNvPr id="11" name="Text 6"/>
          <p:cNvSpPr/>
          <p:nvPr/>
        </p:nvSpPr>
        <p:spPr>
          <a:xfrm>
            <a:off x="10984944" y="2856547"/>
            <a:ext cx="2764393" cy="2296001"/>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Implementar metodologies de disseny centrat en l'usuari per crear interfícies intuïtives per a la gestió de reserves.</a:t>
            </a:r>
            <a:endParaRPr lang="en-US" sz="1850" dirty="0"/>
          </a:p>
        </p:txBody>
      </p:sp>
      <p:sp>
        <p:nvSpPr>
          <p:cNvPr id="12" name="Shape 7"/>
          <p:cNvSpPr/>
          <p:nvPr/>
        </p:nvSpPr>
        <p:spPr>
          <a:xfrm>
            <a:off x="6367462" y="5963007"/>
            <a:ext cx="538043" cy="538043"/>
          </a:xfrm>
          <a:prstGeom prst="roundRect">
            <a:avLst>
              <a:gd name="adj" fmla="val 66680"/>
            </a:avLst>
          </a:prstGeom>
          <a:solidFill>
            <a:srgbClr val="46464A"/>
          </a:solidFill>
          <a:ln/>
        </p:spPr>
        <p:txBody>
          <a:bodyPr/>
          <a:lstStyle/>
          <a:p>
            <a:endParaRPr lang="es-ES"/>
          </a:p>
        </p:txBody>
      </p:sp>
      <p:pic>
        <p:nvPicPr>
          <p:cNvPr id="13" name="Image 3" descr="preencoded.png"/>
          <p:cNvPicPr>
            <a:picLocks noChangeAspect="1"/>
          </p:cNvPicPr>
          <p:nvPr/>
        </p:nvPicPr>
        <p:blipFill>
          <a:blip r:embed="rId6"/>
          <a:stretch>
            <a:fillRect/>
          </a:stretch>
        </p:blipFill>
        <p:spPr>
          <a:xfrm>
            <a:off x="6477000" y="6032659"/>
            <a:ext cx="318849" cy="398621"/>
          </a:xfrm>
          <a:prstGeom prst="rect">
            <a:avLst/>
          </a:prstGeom>
        </p:spPr>
      </p:pic>
      <p:sp>
        <p:nvSpPr>
          <p:cNvPr id="14" name="Text 8"/>
          <p:cNvSpPr/>
          <p:nvPr/>
        </p:nvSpPr>
        <p:spPr>
          <a:xfrm>
            <a:off x="7144583" y="6045160"/>
            <a:ext cx="6386274"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Desenvolupar estructures HTML semàntiques</a:t>
            </a:r>
            <a:endParaRPr lang="en-US" sz="2050" dirty="0"/>
          </a:p>
        </p:txBody>
      </p:sp>
      <p:sp>
        <p:nvSpPr>
          <p:cNvPr id="15" name="Text 9"/>
          <p:cNvSpPr/>
          <p:nvPr/>
        </p:nvSpPr>
        <p:spPr>
          <a:xfrm>
            <a:off x="7144583" y="6520815"/>
            <a:ext cx="6604754" cy="765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Crear estructures de contingut coherents i optimitzades per a les diferents seccions de l'aplicació.</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81063" y="2037755"/>
            <a:ext cx="5878354" cy="699254"/>
          </a:xfrm>
          <a:prstGeom prst="rect">
            <a:avLst/>
          </a:prstGeom>
          <a:noFill/>
          <a:ln/>
        </p:spPr>
        <p:txBody>
          <a:bodyPr wrap="none" lIns="0" tIns="0" rIns="0" bIns="0" rtlCol="0" anchor="t"/>
          <a:lstStyle/>
          <a:p>
            <a:pPr marL="0" indent="0" algn="l">
              <a:lnSpc>
                <a:spcPts val="5500"/>
              </a:lnSpc>
              <a:buNone/>
            </a:pPr>
            <a:r>
              <a:rPr lang="en-US" sz="4400" b="1" dirty="0">
                <a:solidFill>
                  <a:srgbClr val="FFE14D"/>
                </a:solidFill>
                <a:latin typeface="Comfortaa Bold" pitchFamily="34" charset="0"/>
                <a:ea typeface="Comfortaa Bold" pitchFamily="34" charset="-122"/>
                <a:cs typeface="Comfortaa Bold" pitchFamily="34" charset="-120"/>
              </a:rPr>
              <a:t>Objectius del mòdul</a:t>
            </a:r>
            <a:endParaRPr lang="en-US" sz="4400" dirty="0"/>
          </a:p>
        </p:txBody>
      </p:sp>
      <p:sp>
        <p:nvSpPr>
          <p:cNvPr id="3" name="Shape 1"/>
          <p:cNvSpPr/>
          <p:nvPr/>
        </p:nvSpPr>
        <p:spPr>
          <a:xfrm>
            <a:off x="881063" y="3240524"/>
            <a:ext cx="566380" cy="566380"/>
          </a:xfrm>
          <a:prstGeom prst="roundRect">
            <a:avLst>
              <a:gd name="adj" fmla="val 66678"/>
            </a:avLst>
          </a:prstGeom>
          <a:solidFill>
            <a:srgbClr val="46464A"/>
          </a:solidFill>
          <a:ln/>
        </p:spPr>
        <p:txBody>
          <a:bodyPr/>
          <a:lstStyle/>
          <a:p>
            <a:endParaRPr lang="es-ES"/>
          </a:p>
        </p:txBody>
      </p:sp>
      <p:pic>
        <p:nvPicPr>
          <p:cNvPr id="4" name="Image 0" descr="preencoded.png"/>
          <p:cNvPicPr>
            <a:picLocks noChangeAspect="1"/>
          </p:cNvPicPr>
          <p:nvPr/>
        </p:nvPicPr>
        <p:blipFill>
          <a:blip r:embed="rId3"/>
          <a:stretch>
            <a:fillRect/>
          </a:stretch>
        </p:blipFill>
        <p:spPr>
          <a:xfrm>
            <a:off x="996375" y="3313867"/>
            <a:ext cx="335637" cy="419576"/>
          </a:xfrm>
          <a:prstGeom prst="rect">
            <a:avLst/>
          </a:prstGeom>
        </p:spPr>
      </p:pic>
      <p:sp>
        <p:nvSpPr>
          <p:cNvPr id="5" name="Text 2"/>
          <p:cNvSpPr/>
          <p:nvPr/>
        </p:nvSpPr>
        <p:spPr>
          <a:xfrm>
            <a:off x="1699141" y="3326963"/>
            <a:ext cx="3261479" cy="699373"/>
          </a:xfrm>
          <a:prstGeom prst="rect">
            <a:avLst/>
          </a:prstGeom>
          <a:noFill/>
          <a:ln/>
        </p:spPr>
        <p:txBody>
          <a:bodyPr wrap="square" lIns="0" tIns="0" rIns="0" bIns="0" rtlCol="0" anchor="t"/>
          <a:lstStyle/>
          <a:p>
            <a:pPr marL="0" indent="0" algn="l">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Dominar fulls d'estil CSS</a:t>
            </a:r>
            <a:endParaRPr lang="en-US" sz="2200" dirty="0"/>
          </a:p>
        </p:txBody>
      </p:sp>
      <p:sp>
        <p:nvSpPr>
          <p:cNvPr id="6" name="Text 3"/>
          <p:cNvSpPr/>
          <p:nvPr/>
        </p:nvSpPr>
        <p:spPr>
          <a:xfrm>
            <a:off x="1699141" y="4177308"/>
            <a:ext cx="3261479" cy="2014538"/>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Implementar estils visuals atractius i consistents, incloent dissenys responsius per a diferents dispositius.</a:t>
            </a:r>
            <a:endParaRPr lang="en-US" sz="1950" dirty="0"/>
          </a:p>
        </p:txBody>
      </p:sp>
      <p:sp>
        <p:nvSpPr>
          <p:cNvPr id="7" name="Shape 4"/>
          <p:cNvSpPr/>
          <p:nvPr/>
        </p:nvSpPr>
        <p:spPr>
          <a:xfrm>
            <a:off x="5275302" y="3240524"/>
            <a:ext cx="566380" cy="566380"/>
          </a:xfrm>
          <a:prstGeom prst="roundRect">
            <a:avLst>
              <a:gd name="adj" fmla="val 66678"/>
            </a:avLst>
          </a:prstGeom>
          <a:solidFill>
            <a:srgbClr val="46464A"/>
          </a:solidFill>
          <a:ln/>
        </p:spPr>
        <p:txBody>
          <a:bodyPr/>
          <a:lstStyle/>
          <a:p>
            <a:endParaRPr lang="es-ES"/>
          </a:p>
        </p:txBody>
      </p:sp>
      <p:pic>
        <p:nvPicPr>
          <p:cNvPr id="8" name="Image 1" descr="preencoded.png"/>
          <p:cNvPicPr>
            <a:picLocks noChangeAspect="1"/>
          </p:cNvPicPr>
          <p:nvPr/>
        </p:nvPicPr>
        <p:blipFill>
          <a:blip r:embed="rId4"/>
          <a:stretch>
            <a:fillRect/>
          </a:stretch>
        </p:blipFill>
        <p:spPr>
          <a:xfrm>
            <a:off x="5390614" y="3313867"/>
            <a:ext cx="335637" cy="419576"/>
          </a:xfrm>
          <a:prstGeom prst="rect">
            <a:avLst/>
          </a:prstGeom>
        </p:spPr>
      </p:pic>
      <p:sp>
        <p:nvSpPr>
          <p:cNvPr id="9" name="Text 5"/>
          <p:cNvSpPr/>
          <p:nvPr/>
        </p:nvSpPr>
        <p:spPr>
          <a:xfrm>
            <a:off x="6093381" y="3326963"/>
            <a:ext cx="3261598" cy="1049060"/>
          </a:xfrm>
          <a:prstGeom prst="rect">
            <a:avLst/>
          </a:prstGeom>
          <a:noFill/>
          <a:ln/>
        </p:spPr>
        <p:txBody>
          <a:bodyPr wrap="square" lIns="0" tIns="0" rIns="0" bIns="0" rtlCol="0" anchor="t"/>
          <a:lstStyle/>
          <a:p>
            <a:pPr marL="0" indent="0" algn="l">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Implementar criteris bàsics d'accessibilitat web</a:t>
            </a:r>
            <a:endParaRPr lang="en-US" sz="2200" dirty="0"/>
          </a:p>
        </p:txBody>
      </p:sp>
      <p:sp>
        <p:nvSpPr>
          <p:cNvPr id="10" name="Text 6"/>
          <p:cNvSpPr/>
          <p:nvPr/>
        </p:nvSpPr>
        <p:spPr>
          <a:xfrm>
            <a:off x="6093381" y="4526994"/>
            <a:ext cx="3261598" cy="805815"/>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Garantir la inclusió de tots els usuaris.</a:t>
            </a:r>
            <a:endParaRPr lang="en-US" sz="1950" dirty="0"/>
          </a:p>
        </p:txBody>
      </p:sp>
      <p:sp>
        <p:nvSpPr>
          <p:cNvPr id="11" name="Shape 7"/>
          <p:cNvSpPr/>
          <p:nvPr/>
        </p:nvSpPr>
        <p:spPr>
          <a:xfrm>
            <a:off x="9669661" y="3240524"/>
            <a:ext cx="566380" cy="566380"/>
          </a:xfrm>
          <a:prstGeom prst="roundRect">
            <a:avLst>
              <a:gd name="adj" fmla="val 66678"/>
            </a:avLst>
          </a:prstGeom>
          <a:solidFill>
            <a:srgbClr val="46464A"/>
          </a:solidFill>
          <a:ln/>
        </p:spPr>
        <p:txBody>
          <a:bodyPr/>
          <a:lstStyle/>
          <a:p>
            <a:endParaRPr lang="es-ES"/>
          </a:p>
        </p:txBody>
      </p:sp>
      <p:pic>
        <p:nvPicPr>
          <p:cNvPr id="12" name="Image 2" descr="preencoded.png"/>
          <p:cNvPicPr>
            <a:picLocks noChangeAspect="1"/>
          </p:cNvPicPr>
          <p:nvPr/>
        </p:nvPicPr>
        <p:blipFill>
          <a:blip r:embed="rId5"/>
          <a:stretch>
            <a:fillRect/>
          </a:stretch>
        </p:blipFill>
        <p:spPr>
          <a:xfrm>
            <a:off x="9784973" y="3313867"/>
            <a:ext cx="335637" cy="419576"/>
          </a:xfrm>
          <a:prstGeom prst="rect">
            <a:avLst/>
          </a:prstGeom>
        </p:spPr>
      </p:pic>
      <p:sp>
        <p:nvSpPr>
          <p:cNvPr id="13" name="Text 8"/>
          <p:cNvSpPr/>
          <p:nvPr/>
        </p:nvSpPr>
        <p:spPr>
          <a:xfrm>
            <a:off x="10487739" y="3326963"/>
            <a:ext cx="3261598" cy="699373"/>
          </a:xfrm>
          <a:prstGeom prst="rect">
            <a:avLst/>
          </a:prstGeom>
          <a:noFill/>
          <a:ln/>
        </p:spPr>
        <p:txBody>
          <a:bodyPr wrap="square" lIns="0" tIns="0" rIns="0" bIns="0" rtlCol="0" anchor="t"/>
          <a:lstStyle/>
          <a:p>
            <a:pPr marL="0" indent="0" algn="l">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Integrar elements multimèdia</a:t>
            </a:r>
            <a:endParaRPr lang="en-US" sz="2200" dirty="0"/>
          </a:p>
        </p:txBody>
      </p:sp>
      <p:sp>
        <p:nvSpPr>
          <p:cNvPr id="14" name="Text 9"/>
          <p:cNvSpPr/>
          <p:nvPr/>
        </p:nvSpPr>
        <p:spPr>
          <a:xfrm>
            <a:off x="10487739" y="4177308"/>
            <a:ext cx="3261598" cy="1611630"/>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Integrar elements multimèdia (imatges, icones) de manera coherent en la interfície.</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6761" y="594598"/>
            <a:ext cx="7830502" cy="390287"/>
          </a:xfrm>
          <a:prstGeom prst="rect">
            <a:avLst/>
          </a:prstGeom>
          <a:noFill/>
          <a:ln/>
        </p:spPr>
        <p:txBody>
          <a:bodyPr wrap="none" lIns="0" tIns="0" rIns="0" bIns="0" rtlCol="0" anchor="t"/>
          <a:lstStyle/>
          <a:p>
            <a:pPr marL="0" indent="0" algn="l">
              <a:lnSpc>
                <a:spcPts val="3050"/>
              </a:lnSpc>
              <a:buNone/>
            </a:pPr>
            <a:r>
              <a:rPr lang="en-US" sz="2450" b="1" dirty="0">
                <a:solidFill>
                  <a:srgbClr val="FFE14D"/>
                </a:solidFill>
                <a:latin typeface="Comfortaa Bold" pitchFamily="34" charset="0"/>
                <a:ea typeface="Comfortaa Bold" pitchFamily="34" charset="-122"/>
                <a:cs typeface="Comfortaa Bold" pitchFamily="34" charset="-120"/>
              </a:rPr>
              <a:t>Resultats d'Aprenentatge i Criteris d'Avaluació (I)</a:t>
            </a:r>
            <a:endParaRPr lang="en-US" sz="2450" dirty="0"/>
          </a:p>
        </p:txBody>
      </p:sp>
      <p:sp>
        <p:nvSpPr>
          <p:cNvPr id="3" name="Shape 1"/>
          <p:cNvSpPr/>
          <p:nvPr/>
        </p:nvSpPr>
        <p:spPr>
          <a:xfrm>
            <a:off x="756761" y="1265873"/>
            <a:ext cx="13116878" cy="6370320"/>
          </a:xfrm>
          <a:prstGeom prst="roundRect">
            <a:avLst>
              <a:gd name="adj" fmla="val 3310"/>
            </a:avLst>
          </a:prstGeom>
          <a:noFill/>
          <a:ln w="7620">
            <a:solidFill>
              <a:srgbClr val="FFFFFF">
                <a:alpha val="24000"/>
              </a:srgbClr>
            </a:solidFill>
            <a:prstDash val="solid"/>
          </a:ln>
        </p:spPr>
        <p:txBody>
          <a:bodyPr/>
          <a:lstStyle/>
          <a:p>
            <a:endParaRPr lang="es-ES"/>
          </a:p>
        </p:txBody>
      </p:sp>
      <p:sp>
        <p:nvSpPr>
          <p:cNvPr id="4" name="Shape 2"/>
          <p:cNvSpPr/>
          <p:nvPr/>
        </p:nvSpPr>
        <p:spPr>
          <a:xfrm>
            <a:off x="764381" y="1273493"/>
            <a:ext cx="13101638" cy="408623"/>
          </a:xfrm>
          <a:prstGeom prst="rect">
            <a:avLst/>
          </a:prstGeom>
          <a:solidFill>
            <a:srgbClr val="FFFFFF">
              <a:alpha val="4000"/>
            </a:srgbClr>
          </a:solidFill>
          <a:ln/>
        </p:spPr>
        <p:txBody>
          <a:bodyPr/>
          <a:lstStyle/>
          <a:p>
            <a:endParaRPr lang="es-ES"/>
          </a:p>
        </p:txBody>
      </p:sp>
      <p:sp>
        <p:nvSpPr>
          <p:cNvPr id="5" name="Text 3"/>
          <p:cNvSpPr/>
          <p:nvPr/>
        </p:nvSpPr>
        <p:spPr>
          <a:xfrm>
            <a:off x="904875" y="1365409"/>
            <a:ext cx="6266021" cy="224790"/>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Resultat d'Aprenentatge</a:t>
            </a:r>
            <a:endParaRPr lang="en-US" sz="1100" dirty="0"/>
          </a:p>
        </p:txBody>
      </p:sp>
      <p:sp>
        <p:nvSpPr>
          <p:cNvPr id="6" name="Text 4"/>
          <p:cNvSpPr/>
          <p:nvPr/>
        </p:nvSpPr>
        <p:spPr>
          <a:xfrm>
            <a:off x="7459504" y="1365409"/>
            <a:ext cx="6266021" cy="224790"/>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Criteris d'Avaluació</a:t>
            </a:r>
            <a:endParaRPr lang="en-US" sz="1100" dirty="0"/>
          </a:p>
        </p:txBody>
      </p:sp>
      <p:sp>
        <p:nvSpPr>
          <p:cNvPr id="7" name="Shape 5"/>
          <p:cNvSpPr/>
          <p:nvPr/>
        </p:nvSpPr>
        <p:spPr>
          <a:xfrm>
            <a:off x="764381" y="1682115"/>
            <a:ext cx="13101638" cy="1757363"/>
          </a:xfrm>
          <a:prstGeom prst="rect">
            <a:avLst/>
          </a:prstGeom>
          <a:solidFill>
            <a:srgbClr val="000000">
              <a:alpha val="4000"/>
            </a:srgbClr>
          </a:solidFill>
          <a:ln/>
        </p:spPr>
        <p:txBody>
          <a:bodyPr/>
          <a:lstStyle/>
          <a:p>
            <a:endParaRPr lang="es-ES"/>
          </a:p>
        </p:txBody>
      </p:sp>
      <p:sp>
        <p:nvSpPr>
          <p:cNvPr id="8" name="Text 6"/>
          <p:cNvSpPr/>
          <p:nvPr/>
        </p:nvSpPr>
        <p:spPr>
          <a:xfrm>
            <a:off x="904875" y="1774031"/>
            <a:ext cx="6266021" cy="224790"/>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RA 1. Planifica la creació d'una interfície web valorant i aplicant especificacions de disseny.</a:t>
            </a:r>
            <a:endParaRPr lang="en-US" sz="1100" dirty="0"/>
          </a:p>
        </p:txBody>
      </p:sp>
      <p:sp>
        <p:nvSpPr>
          <p:cNvPr id="9" name="Text 7"/>
          <p:cNvSpPr/>
          <p:nvPr/>
        </p:nvSpPr>
        <p:spPr>
          <a:xfrm>
            <a:off x="7459504" y="1774031"/>
            <a:ext cx="6266021" cy="1573530"/>
          </a:xfrm>
          <a:prstGeom prst="rect">
            <a:avLst/>
          </a:prstGeom>
          <a:noFill/>
          <a:ln/>
        </p:spPr>
        <p:txBody>
          <a:bodyPr wrap="square" lIns="0" tIns="0" rIns="0" bIns="0" rtlCol="0" anchor="t"/>
          <a:lstStyle/>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1.1. Reconeixement de la comunicació visual i principis </a:t>
            </a:r>
            <a:r>
              <a:rPr lang="en-US" sz="1100" dirty="0" err="1">
                <a:solidFill>
                  <a:srgbClr val="D7D4CC"/>
                </a:solidFill>
                <a:latin typeface="Raleway Medium" pitchFamily="34" charset="0"/>
                <a:ea typeface="Raleway Medium" pitchFamily="34" charset="-122"/>
                <a:cs typeface="Raleway Medium" pitchFamily="34" charset="-120"/>
              </a:rPr>
              <a:t>bàsics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1.2. Anàlisi i selecció de colors i </a:t>
            </a:r>
            <a:r>
              <a:rPr lang="en-US" sz="1100" dirty="0" err="1">
                <a:solidFill>
                  <a:srgbClr val="D7D4CC"/>
                </a:solidFill>
                <a:latin typeface="Raleway Medium" pitchFamily="34" charset="0"/>
                <a:ea typeface="Raleway Medium" pitchFamily="34" charset="-122"/>
                <a:cs typeface="Raleway Medium" pitchFamily="34" charset="-120"/>
              </a:rPr>
              <a:t>tipografies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1.3. Anàlisi d'alternatives per presentar </a:t>
            </a:r>
            <a:r>
              <a:rPr lang="en-US" sz="1100" dirty="0" err="1">
                <a:solidFill>
                  <a:srgbClr val="D7D4CC"/>
                </a:solidFill>
                <a:latin typeface="Raleway Medium" pitchFamily="34" charset="0"/>
                <a:ea typeface="Raleway Medium" pitchFamily="34" charset="-122"/>
                <a:cs typeface="Raleway Medium" pitchFamily="34" charset="-120"/>
              </a:rPr>
              <a:t>informació</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1.4. Valoració i aplicació de guies </a:t>
            </a:r>
            <a:r>
              <a:rPr lang="en-US" sz="1100" dirty="0" err="1">
                <a:solidFill>
                  <a:srgbClr val="D7D4CC"/>
                </a:solidFill>
                <a:latin typeface="Raleway Medium" pitchFamily="34" charset="0"/>
                <a:ea typeface="Raleway Medium" pitchFamily="34" charset="-122"/>
                <a:cs typeface="Raleway Medium" pitchFamily="34" charset="-120"/>
              </a:rPr>
              <a:t>d'estil</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1.5. Ús de tecnologies pel disseny web.</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1.6. Ús de marcs, taules i capes.</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1.7. Creació i ús de plantilles.</a:t>
            </a:r>
            <a:endParaRPr lang="en-US" sz="1100" dirty="0"/>
          </a:p>
        </p:txBody>
      </p:sp>
      <p:sp>
        <p:nvSpPr>
          <p:cNvPr id="10" name="Shape 8"/>
          <p:cNvSpPr/>
          <p:nvPr/>
        </p:nvSpPr>
        <p:spPr>
          <a:xfrm>
            <a:off x="764381" y="3439478"/>
            <a:ext cx="13101638" cy="2206943"/>
          </a:xfrm>
          <a:prstGeom prst="rect">
            <a:avLst/>
          </a:prstGeom>
          <a:solidFill>
            <a:srgbClr val="FFFFFF">
              <a:alpha val="4000"/>
            </a:srgbClr>
          </a:solidFill>
          <a:ln/>
        </p:spPr>
        <p:txBody>
          <a:bodyPr/>
          <a:lstStyle/>
          <a:p>
            <a:endParaRPr lang="es-ES"/>
          </a:p>
        </p:txBody>
      </p:sp>
      <p:sp>
        <p:nvSpPr>
          <p:cNvPr id="11" name="Text 9"/>
          <p:cNvSpPr/>
          <p:nvPr/>
        </p:nvSpPr>
        <p:spPr>
          <a:xfrm>
            <a:off x="904875" y="3531394"/>
            <a:ext cx="6266021" cy="224790"/>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RA 2. Crea interfícies web homogenis definint i aplicant estils.</a:t>
            </a:r>
            <a:endParaRPr lang="en-US" sz="1100" dirty="0"/>
          </a:p>
        </p:txBody>
      </p:sp>
      <p:sp>
        <p:nvSpPr>
          <p:cNvPr id="12" name="Text 10"/>
          <p:cNvSpPr/>
          <p:nvPr/>
        </p:nvSpPr>
        <p:spPr>
          <a:xfrm>
            <a:off x="7459504" y="3531394"/>
            <a:ext cx="6266021" cy="2023110"/>
          </a:xfrm>
          <a:prstGeom prst="rect">
            <a:avLst/>
          </a:prstGeom>
          <a:noFill/>
          <a:ln/>
        </p:spPr>
        <p:txBody>
          <a:bodyPr wrap="square" lIns="0" tIns="0" rIns="0" bIns="0" rtlCol="0" anchor="t"/>
          <a:lstStyle/>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2.1. Reconeixement de modificacions </a:t>
            </a:r>
            <a:r>
              <a:rPr lang="en-US" sz="1100" dirty="0" err="1">
                <a:solidFill>
                  <a:srgbClr val="D7D4CC"/>
                </a:solidFill>
                <a:latin typeface="Raleway Medium" pitchFamily="34" charset="0"/>
                <a:ea typeface="Raleway Medium" pitchFamily="34" charset="-122"/>
                <a:cs typeface="Raleway Medium" pitchFamily="34" charset="-120"/>
              </a:rPr>
              <a:t>d'etiquetes</a:t>
            </a:r>
            <a:r>
              <a:rPr lang="en-US" sz="1100" dirty="0">
                <a:solidFill>
                  <a:srgbClr val="D7D4CC"/>
                </a:solidFill>
                <a:latin typeface="Raleway Medium" pitchFamily="34" charset="0"/>
                <a:ea typeface="Raleway Medium" pitchFamily="34" charset="-122"/>
                <a:cs typeface="Raleway Medium" pitchFamily="34" charset="-120"/>
              </a:rPr>
              <a:t> HTML</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2.2. Definició d'estils </a:t>
            </a:r>
            <a:r>
              <a:rPr lang="en-US" sz="1100" dirty="0" err="1">
                <a:solidFill>
                  <a:srgbClr val="D7D4CC"/>
                </a:solidFill>
                <a:latin typeface="Raleway Medium" pitchFamily="34" charset="0"/>
                <a:ea typeface="Raleway Medium" pitchFamily="34" charset="-122"/>
                <a:cs typeface="Raleway Medium" pitchFamily="34" charset="-120"/>
              </a:rPr>
              <a:t>directes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2.3. Definició i associació d'estils </a:t>
            </a:r>
            <a:r>
              <a:rPr lang="en-US" sz="1100" dirty="0" err="1">
                <a:solidFill>
                  <a:srgbClr val="D7D4CC"/>
                </a:solidFill>
                <a:latin typeface="Raleway Medium" pitchFamily="34" charset="0"/>
                <a:ea typeface="Raleway Medium" pitchFamily="34" charset="-122"/>
                <a:cs typeface="Raleway Medium" pitchFamily="34" charset="-120"/>
              </a:rPr>
              <a:t>globals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2.4. Definició de fulls d'estils </a:t>
            </a:r>
            <a:r>
              <a:rPr lang="en-US" sz="1100" dirty="0" err="1">
                <a:solidFill>
                  <a:srgbClr val="D7D4CC"/>
                </a:solidFill>
                <a:latin typeface="Raleway Medium" pitchFamily="34" charset="0"/>
                <a:ea typeface="Raleway Medium" pitchFamily="34" charset="-122"/>
                <a:cs typeface="Raleway Medium" pitchFamily="34" charset="-120"/>
              </a:rPr>
              <a:t>alternatius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2.5. Redefinició d'estils.2.6. Identificació de propietats dels elements</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2.7. Creació de classes </a:t>
            </a:r>
            <a:r>
              <a:rPr lang="en-US" sz="1100" dirty="0" err="1">
                <a:solidFill>
                  <a:srgbClr val="D7D4CC"/>
                </a:solidFill>
                <a:latin typeface="Raleway Medium" pitchFamily="34" charset="0"/>
                <a:ea typeface="Raleway Medium" pitchFamily="34" charset="-122"/>
                <a:cs typeface="Raleway Medium" pitchFamily="34" charset="-120"/>
              </a:rPr>
              <a:t>d'estils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2.8. Validació de fulls </a:t>
            </a:r>
            <a:r>
              <a:rPr lang="en-US" sz="1100" dirty="0" err="1">
                <a:solidFill>
                  <a:srgbClr val="D7D4CC"/>
                </a:solidFill>
                <a:latin typeface="Raleway Medium" pitchFamily="34" charset="0"/>
                <a:ea typeface="Raleway Medium" pitchFamily="34" charset="-122"/>
                <a:cs typeface="Raleway Medium" pitchFamily="34" charset="-120"/>
              </a:rPr>
              <a:t>d'estils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2.9. Ús i actualització de guies d'estil.</a:t>
            </a:r>
            <a:endParaRPr lang="en-US" sz="1100" dirty="0"/>
          </a:p>
        </p:txBody>
      </p:sp>
      <p:sp>
        <p:nvSpPr>
          <p:cNvPr id="13" name="Shape 11"/>
          <p:cNvSpPr/>
          <p:nvPr/>
        </p:nvSpPr>
        <p:spPr>
          <a:xfrm>
            <a:off x="764381" y="5646420"/>
            <a:ext cx="13101638" cy="1982153"/>
          </a:xfrm>
          <a:prstGeom prst="rect">
            <a:avLst/>
          </a:prstGeom>
          <a:solidFill>
            <a:srgbClr val="000000">
              <a:alpha val="4000"/>
            </a:srgbClr>
          </a:solidFill>
          <a:ln/>
        </p:spPr>
        <p:txBody>
          <a:bodyPr/>
          <a:lstStyle/>
          <a:p>
            <a:endParaRPr lang="es-ES"/>
          </a:p>
        </p:txBody>
      </p:sp>
      <p:sp>
        <p:nvSpPr>
          <p:cNvPr id="14" name="Text 12"/>
          <p:cNvSpPr/>
          <p:nvPr/>
        </p:nvSpPr>
        <p:spPr>
          <a:xfrm>
            <a:off x="904875" y="5738336"/>
            <a:ext cx="6266021" cy="224790"/>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RA 3. Prepara arxius multimèdia per a la web.</a:t>
            </a:r>
            <a:endParaRPr lang="en-US" sz="1100" dirty="0"/>
          </a:p>
        </p:txBody>
      </p:sp>
      <p:sp>
        <p:nvSpPr>
          <p:cNvPr id="15" name="Text 13"/>
          <p:cNvSpPr/>
          <p:nvPr/>
        </p:nvSpPr>
        <p:spPr>
          <a:xfrm>
            <a:off x="7459504" y="5738336"/>
            <a:ext cx="6266021" cy="1798320"/>
          </a:xfrm>
          <a:prstGeom prst="rect">
            <a:avLst/>
          </a:prstGeom>
          <a:noFill/>
          <a:ln/>
        </p:spPr>
        <p:txBody>
          <a:bodyPr wrap="square" lIns="0" tIns="0" rIns="0" bIns="0" rtlCol="0" anchor="t"/>
          <a:lstStyle/>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3.1. Reconeixement de llicències i drets </a:t>
            </a:r>
            <a:r>
              <a:rPr lang="en-US" sz="1100" dirty="0" err="1">
                <a:solidFill>
                  <a:srgbClr val="D7D4CC"/>
                </a:solidFill>
                <a:latin typeface="Raleway Medium" pitchFamily="34" charset="0"/>
                <a:ea typeface="Raleway Medium" pitchFamily="34" charset="-122"/>
                <a:cs typeface="Raleway Medium" pitchFamily="34" charset="-120"/>
              </a:rPr>
              <a:t>d'autor</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3.2. Identificació de formats d'imatge, àudio i </a:t>
            </a:r>
            <a:r>
              <a:rPr lang="en-US" sz="1100" dirty="0" err="1">
                <a:solidFill>
                  <a:srgbClr val="D7D4CC"/>
                </a:solidFill>
                <a:latin typeface="Raleway Medium" pitchFamily="34" charset="0"/>
                <a:ea typeface="Raleway Medium" pitchFamily="34" charset="-122"/>
                <a:cs typeface="Raleway Medium" pitchFamily="34" charset="-120"/>
              </a:rPr>
              <a:t>vídeo</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3.3. Anàlisi de ferramentes per contingut </a:t>
            </a:r>
            <a:r>
              <a:rPr lang="en-US" sz="1100" dirty="0" err="1">
                <a:solidFill>
                  <a:srgbClr val="D7D4CC"/>
                </a:solidFill>
                <a:latin typeface="Raleway Medium" pitchFamily="34" charset="0"/>
                <a:ea typeface="Raleway Medium" pitchFamily="34" charset="-122"/>
                <a:cs typeface="Raleway Medium" pitchFamily="34" charset="-120"/>
              </a:rPr>
              <a:t>multimèdia</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3.4. Tractament digital </a:t>
            </a:r>
            <a:r>
              <a:rPr lang="en-US" sz="1100" dirty="0" err="1">
                <a:solidFill>
                  <a:srgbClr val="D7D4CC"/>
                </a:solidFill>
                <a:latin typeface="Raleway Medium" pitchFamily="34" charset="0"/>
                <a:ea typeface="Raleway Medium" pitchFamily="34" charset="-122"/>
                <a:cs typeface="Raleway Medium" pitchFamily="34" charset="-120"/>
              </a:rPr>
              <a:t>d'imatges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3.5. Manipulació d'àudio i </a:t>
            </a:r>
            <a:r>
              <a:rPr lang="en-US" sz="1100" dirty="0" err="1">
                <a:solidFill>
                  <a:srgbClr val="D7D4CC"/>
                </a:solidFill>
                <a:latin typeface="Raleway Medium" pitchFamily="34" charset="0"/>
                <a:ea typeface="Raleway Medium" pitchFamily="34" charset="-122"/>
                <a:cs typeface="Raleway Medium" pitchFamily="34" charset="-120"/>
              </a:rPr>
              <a:t>vídeo</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3.6. Creació </a:t>
            </a:r>
            <a:r>
              <a:rPr lang="en-US" sz="1100" dirty="0" err="1">
                <a:solidFill>
                  <a:srgbClr val="D7D4CC"/>
                </a:solidFill>
                <a:latin typeface="Raleway Medium" pitchFamily="34" charset="0"/>
                <a:ea typeface="Raleway Medium" pitchFamily="34" charset="-122"/>
                <a:cs typeface="Raleway Medium" pitchFamily="34" charset="-120"/>
              </a:rPr>
              <a:t>d'animacions</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3.7. Importació i exportació de contingut </a:t>
            </a:r>
            <a:r>
              <a:rPr lang="en-US" sz="1100" dirty="0" err="1">
                <a:solidFill>
                  <a:srgbClr val="D7D4CC"/>
                </a:solidFill>
                <a:latin typeface="Raleway Medium" pitchFamily="34" charset="0"/>
                <a:ea typeface="Raleway Medium" pitchFamily="34" charset="-122"/>
                <a:cs typeface="Raleway Medium" pitchFamily="34" charset="-120"/>
              </a:rPr>
              <a:t>multimèdia</a:t>
            </a:r>
            <a:r>
              <a:rPr lang="en-US" sz="1100" dirty="0">
                <a:solidFill>
                  <a:srgbClr val="D7D4CC"/>
                </a:solidFill>
                <a:latin typeface="Raleway Medium" pitchFamily="34" charset="0"/>
                <a:ea typeface="Raleway Medium" pitchFamily="34" charset="-122"/>
                <a:cs typeface="Raleway Medium" pitchFamily="34" charset="-120"/>
              </a:rPr>
              <a:t>.</a:t>
            </a:r>
          </a:p>
          <a:p>
            <a:pPr marL="171450" indent="-171450" algn="l">
              <a:lnSpc>
                <a:spcPts val="1750"/>
              </a:lnSpc>
              <a:buFont typeface="Arial" panose="020B0604020202020204" pitchFamily="34" charset="0"/>
              <a:buChar char="•"/>
            </a:pPr>
            <a:r>
              <a:rPr lang="en-US" sz="1100" dirty="0">
                <a:solidFill>
                  <a:srgbClr val="D7D4CC"/>
                </a:solidFill>
                <a:latin typeface="Raleway Medium" pitchFamily="34" charset="0"/>
                <a:ea typeface="Raleway Medium" pitchFamily="34" charset="-122"/>
                <a:cs typeface="Raleway Medium" pitchFamily="34" charset="-120"/>
              </a:rPr>
              <a:t>3.8. Aplicació de guies d'estil.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6996" y="831890"/>
            <a:ext cx="7614047" cy="375047"/>
          </a:xfrm>
          <a:prstGeom prst="rect">
            <a:avLst/>
          </a:prstGeom>
          <a:noFill/>
          <a:ln/>
        </p:spPr>
        <p:txBody>
          <a:bodyPr wrap="none" lIns="0" tIns="0" rIns="0" bIns="0" rtlCol="0" anchor="t"/>
          <a:lstStyle/>
          <a:p>
            <a:pPr marL="0" indent="0" algn="l">
              <a:lnSpc>
                <a:spcPts val="2950"/>
              </a:lnSpc>
              <a:buNone/>
            </a:pPr>
            <a:r>
              <a:rPr lang="en-US" sz="2350" b="1" dirty="0">
                <a:solidFill>
                  <a:srgbClr val="FFE14D"/>
                </a:solidFill>
                <a:latin typeface="Comfortaa Bold" pitchFamily="34" charset="0"/>
                <a:ea typeface="Comfortaa Bold" pitchFamily="34" charset="-122"/>
                <a:cs typeface="Comfortaa Bold" pitchFamily="34" charset="-120"/>
              </a:rPr>
              <a:t>Resultats d'Aprenentatge i Criteris d'Avaluació (II)</a:t>
            </a:r>
            <a:endParaRPr lang="en-US" sz="2350" dirty="0"/>
          </a:p>
        </p:txBody>
      </p:sp>
      <p:sp>
        <p:nvSpPr>
          <p:cNvPr id="3" name="Shape 1"/>
          <p:cNvSpPr/>
          <p:nvPr/>
        </p:nvSpPr>
        <p:spPr>
          <a:xfrm>
            <a:off x="726996" y="1476970"/>
            <a:ext cx="13176409" cy="5920740"/>
          </a:xfrm>
          <a:prstGeom prst="roundRect">
            <a:avLst>
              <a:gd name="adj" fmla="val 3421"/>
            </a:avLst>
          </a:prstGeom>
          <a:noFill/>
          <a:ln w="7620">
            <a:solidFill>
              <a:srgbClr val="FFFFFF">
                <a:alpha val="24000"/>
              </a:srgbClr>
            </a:solidFill>
            <a:prstDash val="solid"/>
          </a:ln>
        </p:spPr>
        <p:txBody>
          <a:bodyPr/>
          <a:lstStyle/>
          <a:p>
            <a:endParaRPr lang="es-ES"/>
          </a:p>
        </p:txBody>
      </p:sp>
      <p:sp>
        <p:nvSpPr>
          <p:cNvPr id="4" name="Shape 2"/>
          <p:cNvSpPr/>
          <p:nvPr/>
        </p:nvSpPr>
        <p:spPr>
          <a:xfrm>
            <a:off x="734616" y="1484590"/>
            <a:ext cx="13161169" cy="393144"/>
          </a:xfrm>
          <a:prstGeom prst="rect">
            <a:avLst/>
          </a:prstGeom>
          <a:solidFill>
            <a:srgbClr val="FFFFFF">
              <a:alpha val="4000"/>
            </a:srgbClr>
          </a:solidFill>
          <a:ln/>
        </p:spPr>
        <p:txBody>
          <a:bodyPr/>
          <a:lstStyle/>
          <a:p>
            <a:endParaRPr lang="es-ES"/>
          </a:p>
        </p:txBody>
      </p:sp>
      <p:sp>
        <p:nvSpPr>
          <p:cNvPr id="5" name="Text 3"/>
          <p:cNvSpPr/>
          <p:nvPr/>
        </p:nvSpPr>
        <p:spPr>
          <a:xfrm>
            <a:off x="869633" y="1573173"/>
            <a:ext cx="6306741" cy="215979"/>
          </a:xfrm>
          <a:prstGeom prst="rect">
            <a:avLst/>
          </a:prstGeom>
          <a:noFill/>
          <a:ln/>
        </p:spPr>
        <p:txBody>
          <a:bodyPr wrap="none" lIns="0" tIns="0" rIns="0" bIns="0" rtlCol="0" anchor="t"/>
          <a:lstStyle/>
          <a:p>
            <a:pPr marL="0" indent="0" algn="l">
              <a:lnSpc>
                <a:spcPts val="1700"/>
              </a:lnSpc>
              <a:buNone/>
            </a:pPr>
            <a:r>
              <a:rPr lang="en-US" sz="1050" b="1" dirty="0">
                <a:solidFill>
                  <a:srgbClr val="D7D4CC"/>
                </a:solidFill>
                <a:latin typeface="Raleway Medium" pitchFamily="34" charset="0"/>
                <a:ea typeface="Raleway Medium" pitchFamily="34" charset="-122"/>
                <a:cs typeface="Raleway Medium" pitchFamily="34" charset="-120"/>
              </a:rPr>
              <a:t>Resultat d'Aprenentatge</a:t>
            </a:r>
            <a:endParaRPr lang="en-US" sz="1050" dirty="0"/>
          </a:p>
        </p:txBody>
      </p:sp>
      <p:sp>
        <p:nvSpPr>
          <p:cNvPr id="6" name="Text 4"/>
          <p:cNvSpPr/>
          <p:nvPr/>
        </p:nvSpPr>
        <p:spPr>
          <a:xfrm>
            <a:off x="7454027" y="1573173"/>
            <a:ext cx="6306741" cy="215979"/>
          </a:xfrm>
          <a:prstGeom prst="rect">
            <a:avLst/>
          </a:prstGeom>
          <a:noFill/>
          <a:ln/>
        </p:spPr>
        <p:txBody>
          <a:bodyPr wrap="none" lIns="0" tIns="0" rIns="0" bIns="0" rtlCol="0" anchor="t"/>
          <a:lstStyle/>
          <a:p>
            <a:pPr marL="0" indent="0" algn="l">
              <a:lnSpc>
                <a:spcPts val="1700"/>
              </a:lnSpc>
              <a:buNone/>
            </a:pPr>
            <a:r>
              <a:rPr lang="en-US" sz="1050" dirty="0">
                <a:solidFill>
                  <a:srgbClr val="D7D4CC"/>
                </a:solidFill>
                <a:latin typeface="Raleway Medium" pitchFamily="34" charset="0"/>
                <a:ea typeface="Raleway Medium" pitchFamily="34" charset="-122"/>
                <a:cs typeface="Raleway Medium" pitchFamily="34" charset="-120"/>
              </a:rPr>
              <a:t>Criteris d'Avaluació</a:t>
            </a:r>
            <a:endParaRPr lang="en-US" sz="1050" dirty="0"/>
          </a:p>
        </p:txBody>
      </p:sp>
      <p:sp>
        <p:nvSpPr>
          <p:cNvPr id="7" name="Shape 5"/>
          <p:cNvSpPr/>
          <p:nvPr/>
        </p:nvSpPr>
        <p:spPr>
          <a:xfrm>
            <a:off x="734616" y="1877735"/>
            <a:ext cx="13161169" cy="1850945"/>
          </a:xfrm>
          <a:prstGeom prst="rect">
            <a:avLst/>
          </a:prstGeom>
          <a:solidFill>
            <a:srgbClr val="000000">
              <a:alpha val="4000"/>
            </a:srgbClr>
          </a:solidFill>
          <a:ln/>
        </p:spPr>
        <p:txBody>
          <a:bodyPr/>
          <a:lstStyle/>
          <a:p>
            <a:endParaRPr lang="es-ES"/>
          </a:p>
        </p:txBody>
      </p:sp>
      <p:sp>
        <p:nvSpPr>
          <p:cNvPr id="8" name="Text 6"/>
          <p:cNvSpPr/>
          <p:nvPr/>
        </p:nvSpPr>
        <p:spPr>
          <a:xfrm>
            <a:off x="869633" y="1966317"/>
            <a:ext cx="6306741" cy="431959"/>
          </a:xfrm>
          <a:prstGeom prst="rect">
            <a:avLst/>
          </a:prstGeom>
          <a:noFill/>
          <a:ln/>
        </p:spPr>
        <p:txBody>
          <a:bodyPr wrap="square" lIns="0" tIns="0" rIns="0" bIns="0" rtlCol="0" anchor="t"/>
          <a:lstStyle/>
          <a:p>
            <a:pPr marL="0" indent="0" algn="l">
              <a:lnSpc>
                <a:spcPts val="1700"/>
              </a:lnSpc>
              <a:buNone/>
            </a:pPr>
            <a:r>
              <a:rPr lang="en-US" sz="1050" dirty="0">
                <a:solidFill>
                  <a:srgbClr val="D7D4CC"/>
                </a:solidFill>
                <a:latin typeface="Raleway Medium" pitchFamily="34" charset="0"/>
                <a:ea typeface="Raleway Medium" pitchFamily="34" charset="-122"/>
                <a:cs typeface="Raleway Medium" pitchFamily="34" charset="-120"/>
              </a:rPr>
              <a:t>RA 4. Integra contingut multimèdia en documents web valorant-ne l'aportació i seleccionant adequadament els elements interactius.</a:t>
            </a:r>
            <a:endParaRPr lang="en-US" sz="1050" dirty="0"/>
          </a:p>
        </p:txBody>
      </p:sp>
      <p:sp>
        <p:nvSpPr>
          <p:cNvPr id="9" name="Text 7"/>
          <p:cNvSpPr/>
          <p:nvPr/>
        </p:nvSpPr>
        <p:spPr>
          <a:xfrm>
            <a:off x="7454027" y="1925836"/>
            <a:ext cx="6306741" cy="215979"/>
          </a:xfrm>
          <a:prstGeom prst="rect">
            <a:avLst/>
          </a:prstGeom>
          <a:noFill/>
          <a:ln/>
        </p:spPr>
        <p:txBody>
          <a:bodyPr wrap="none" lIns="0" tIns="0" rIns="0" bIns="0" rtlCol="0" anchor="t"/>
          <a:lstStyle/>
          <a:p>
            <a:pPr marL="342900" indent="-342900" algn="l">
              <a:lnSpc>
                <a:spcPts val="1700"/>
              </a:lnSpc>
              <a:buSzPct val="100000"/>
              <a:buFont typeface="Courier New"/>
              <a:buChar char="•"/>
            </a:pPr>
            <a:r>
              <a:rPr lang="en-US" sz="1050" dirty="0">
                <a:solidFill>
                  <a:srgbClr val="D7D4CC"/>
                </a:solidFill>
                <a:latin typeface="Raleway Medium" pitchFamily="34" charset="0"/>
                <a:ea typeface="Raleway Medium" pitchFamily="34" charset="-122"/>
                <a:cs typeface="Raleway Medium" pitchFamily="34" charset="-120"/>
              </a:rPr>
              <a:t>4.1 Reconeixement i anàlisi de tecnologies per inclusió de contingut multimèdia i interactiu.</a:t>
            </a:r>
            <a:endParaRPr lang="en-US" sz="1050" dirty="0">
              <a:ea typeface="Calibri" panose="020F0502020204030204"/>
              <a:cs typeface="Calibri" panose="020F0502020204030204"/>
            </a:endParaRPr>
          </a:p>
        </p:txBody>
      </p:sp>
      <p:sp>
        <p:nvSpPr>
          <p:cNvPr id="10" name="Text 8"/>
          <p:cNvSpPr/>
          <p:nvPr/>
        </p:nvSpPr>
        <p:spPr>
          <a:xfrm>
            <a:off x="7454027" y="2182297"/>
            <a:ext cx="6306741" cy="431959"/>
          </a:xfrm>
          <a:prstGeom prst="rect">
            <a:avLst/>
          </a:prstGeom>
          <a:noFill/>
          <a:ln/>
        </p:spPr>
        <p:txBody>
          <a:bodyPr wrap="squar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4.2 Identificació de configuracions específiques en navegadors per suportar contingut multimèdia.</a:t>
            </a:r>
            <a:endParaRPr lang="en-US" sz="1050" dirty="0"/>
          </a:p>
        </p:txBody>
      </p:sp>
      <p:sp>
        <p:nvSpPr>
          <p:cNvPr id="11" name="Text 9"/>
          <p:cNvSpPr/>
          <p:nvPr/>
        </p:nvSpPr>
        <p:spPr>
          <a:xfrm>
            <a:off x="7454027" y="2654737"/>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4.3 Ús de ferramentes gràfiques pel desenvolupament de contingut multimèdia interactiu.</a:t>
            </a:r>
            <a:endParaRPr lang="en-US" sz="1050" dirty="0"/>
          </a:p>
        </p:txBody>
      </p:sp>
      <p:sp>
        <p:nvSpPr>
          <p:cNvPr id="12" name="Text 10"/>
          <p:cNvSpPr/>
          <p:nvPr/>
        </p:nvSpPr>
        <p:spPr>
          <a:xfrm>
            <a:off x="7454027" y="2911197"/>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4.4 Anàlisi del codi generat per les ferramentes de desenvolupament de contingut interactiu.</a:t>
            </a:r>
            <a:endParaRPr lang="en-US" sz="1050" dirty="0"/>
          </a:p>
        </p:txBody>
      </p:sp>
      <p:sp>
        <p:nvSpPr>
          <p:cNvPr id="13" name="Text 11"/>
          <p:cNvSpPr/>
          <p:nvPr/>
        </p:nvSpPr>
        <p:spPr>
          <a:xfrm>
            <a:off x="7454027" y="3167658"/>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4.5 Addició d'elements multimèdia a documents web.</a:t>
            </a:r>
            <a:endParaRPr lang="en-US" sz="1050" dirty="0"/>
          </a:p>
        </p:txBody>
      </p:sp>
      <p:sp>
        <p:nvSpPr>
          <p:cNvPr id="14" name="Text 12"/>
          <p:cNvSpPr/>
          <p:nvPr/>
        </p:nvSpPr>
        <p:spPr>
          <a:xfrm>
            <a:off x="7454027" y="3424118"/>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4.6 Addició d'interactivitat a elements d'un document web.</a:t>
            </a:r>
            <a:endParaRPr lang="en-US" sz="1050" dirty="0"/>
          </a:p>
        </p:txBody>
      </p:sp>
      <p:sp>
        <p:nvSpPr>
          <p:cNvPr id="15" name="Text 13"/>
          <p:cNvSpPr/>
          <p:nvPr/>
        </p:nvSpPr>
        <p:spPr>
          <a:xfrm>
            <a:off x="7454027" y="3680579"/>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4.7 Verificació del funcionament d'elements multimèdia en diferents navegadors i dispositius.</a:t>
            </a:r>
            <a:endParaRPr lang="en-US" sz="1050" dirty="0"/>
          </a:p>
        </p:txBody>
      </p:sp>
      <p:sp>
        <p:nvSpPr>
          <p:cNvPr id="16" name="Shape 14"/>
          <p:cNvSpPr/>
          <p:nvPr/>
        </p:nvSpPr>
        <p:spPr>
          <a:xfrm>
            <a:off x="734616" y="3944660"/>
            <a:ext cx="13161169" cy="1850946"/>
          </a:xfrm>
          <a:prstGeom prst="rect">
            <a:avLst/>
          </a:prstGeom>
          <a:solidFill>
            <a:srgbClr val="FFFFFF">
              <a:alpha val="4000"/>
            </a:srgbClr>
          </a:solidFill>
          <a:ln/>
        </p:spPr>
        <p:txBody>
          <a:bodyPr/>
          <a:lstStyle/>
          <a:p>
            <a:endParaRPr lang="es-ES"/>
          </a:p>
        </p:txBody>
      </p:sp>
      <p:sp>
        <p:nvSpPr>
          <p:cNvPr id="17" name="Text 15"/>
          <p:cNvSpPr/>
          <p:nvPr/>
        </p:nvSpPr>
        <p:spPr>
          <a:xfrm>
            <a:off x="869633" y="4033242"/>
            <a:ext cx="6306741" cy="431959"/>
          </a:xfrm>
          <a:prstGeom prst="rect">
            <a:avLst/>
          </a:prstGeom>
          <a:noFill/>
          <a:ln/>
        </p:spPr>
        <p:txBody>
          <a:bodyPr wrap="square" lIns="0" tIns="0" rIns="0" bIns="0" rtlCol="0" anchor="t"/>
          <a:lstStyle/>
          <a:p>
            <a:pPr marL="0" indent="0" algn="l">
              <a:lnSpc>
                <a:spcPts val="1700"/>
              </a:lnSpc>
              <a:buNone/>
            </a:pPr>
            <a:r>
              <a:rPr lang="en-US" sz="1050" dirty="0">
                <a:solidFill>
                  <a:srgbClr val="D7D4CC"/>
                </a:solidFill>
                <a:latin typeface="Raleway Medium" pitchFamily="34" charset="0"/>
                <a:ea typeface="Raleway Medium" pitchFamily="34" charset="-122"/>
                <a:cs typeface="Raleway Medium" pitchFamily="34" charset="-120"/>
              </a:rPr>
              <a:t>RA 5. Desenvolupa interfícies web accessibles, analitzant les pautes establertes i aplicant tècniques de verificació.</a:t>
            </a:r>
            <a:endParaRPr lang="en-US" sz="1050" dirty="0"/>
          </a:p>
        </p:txBody>
      </p:sp>
      <p:sp>
        <p:nvSpPr>
          <p:cNvPr id="18" name="Text 16"/>
          <p:cNvSpPr/>
          <p:nvPr/>
        </p:nvSpPr>
        <p:spPr>
          <a:xfrm>
            <a:off x="7454027" y="3992761"/>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5.1 Reconeixement de la necessitat de dissenyar webs accessibles.</a:t>
            </a:r>
            <a:endParaRPr lang="en-US" sz="1050" dirty="0"/>
          </a:p>
        </p:txBody>
      </p:sp>
      <p:sp>
        <p:nvSpPr>
          <p:cNvPr id="19" name="Text 17"/>
          <p:cNvSpPr/>
          <p:nvPr/>
        </p:nvSpPr>
        <p:spPr>
          <a:xfrm>
            <a:off x="7454027" y="4249222"/>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5.2 Anàlisi de l'accessibilitat de documents web diferents.</a:t>
            </a:r>
            <a:endParaRPr lang="en-US" sz="1050" dirty="0"/>
          </a:p>
        </p:txBody>
      </p:sp>
      <p:sp>
        <p:nvSpPr>
          <p:cNvPr id="20" name="Text 18"/>
          <p:cNvSpPr/>
          <p:nvPr/>
        </p:nvSpPr>
        <p:spPr>
          <a:xfrm>
            <a:off x="7454027" y="4505682"/>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5.3 Anàlisi dels principis i pautes d'accessibilitat al contingut i nivells de conformitat.</a:t>
            </a:r>
            <a:endParaRPr lang="en-US" sz="1050" dirty="0"/>
          </a:p>
        </p:txBody>
      </p:sp>
      <p:sp>
        <p:nvSpPr>
          <p:cNvPr id="21" name="Text 19"/>
          <p:cNvSpPr/>
          <p:nvPr/>
        </p:nvSpPr>
        <p:spPr>
          <a:xfrm>
            <a:off x="7454027" y="4762143"/>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5.4 Anàlisi dels possibles errors segons els punts de verificació de prioritat.</a:t>
            </a:r>
            <a:endParaRPr lang="en-US" sz="1050" dirty="0"/>
          </a:p>
        </p:txBody>
      </p:sp>
      <p:sp>
        <p:nvSpPr>
          <p:cNvPr id="22" name="Text 20"/>
          <p:cNvSpPr/>
          <p:nvPr/>
        </p:nvSpPr>
        <p:spPr>
          <a:xfrm>
            <a:off x="7454027" y="5018603"/>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5.5 Assoliment del nivell de conformitat desitjat.</a:t>
            </a:r>
            <a:endParaRPr lang="en-US" sz="1050" dirty="0"/>
          </a:p>
        </p:txBody>
      </p:sp>
      <p:sp>
        <p:nvSpPr>
          <p:cNvPr id="23" name="Text 21"/>
          <p:cNvSpPr/>
          <p:nvPr/>
        </p:nvSpPr>
        <p:spPr>
          <a:xfrm>
            <a:off x="7454027" y="5275064"/>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5.6 Verificació dels nivells assolits mitjançant tests externs.</a:t>
            </a:r>
            <a:endParaRPr lang="en-US" sz="1050" dirty="0"/>
          </a:p>
        </p:txBody>
      </p:sp>
      <p:sp>
        <p:nvSpPr>
          <p:cNvPr id="24" name="Text 22"/>
          <p:cNvSpPr/>
          <p:nvPr/>
        </p:nvSpPr>
        <p:spPr>
          <a:xfrm>
            <a:off x="7454027" y="5531525"/>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5.7 Verificació de la visualització de la interfície amb diferents navegadors i tecnologies.</a:t>
            </a:r>
            <a:endParaRPr lang="en-US" sz="1050" dirty="0"/>
          </a:p>
        </p:txBody>
      </p:sp>
      <p:sp>
        <p:nvSpPr>
          <p:cNvPr id="25" name="Shape 23"/>
          <p:cNvSpPr/>
          <p:nvPr/>
        </p:nvSpPr>
        <p:spPr>
          <a:xfrm>
            <a:off x="734616" y="5795605"/>
            <a:ext cx="13161169" cy="1594485"/>
          </a:xfrm>
          <a:prstGeom prst="rect">
            <a:avLst/>
          </a:prstGeom>
          <a:solidFill>
            <a:srgbClr val="000000">
              <a:alpha val="4000"/>
            </a:srgbClr>
          </a:solidFill>
          <a:ln/>
        </p:spPr>
        <p:txBody>
          <a:bodyPr/>
          <a:lstStyle/>
          <a:p>
            <a:endParaRPr lang="es-ES"/>
          </a:p>
        </p:txBody>
      </p:sp>
      <p:sp>
        <p:nvSpPr>
          <p:cNvPr id="26" name="Text 24"/>
          <p:cNvSpPr/>
          <p:nvPr/>
        </p:nvSpPr>
        <p:spPr>
          <a:xfrm>
            <a:off x="869633" y="5884188"/>
            <a:ext cx="6306741" cy="215979"/>
          </a:xfrm>
          <a:prstGeom prst="rect">
            <a:avLst/>
          </a:prstGeom>
          <a:noFill/>
          <a:ln/>
        </p:spPr>
        <p:txBody>
          <a:bodyPr wrap="none" lIns="0" tIns="0" rIns="0" bIns="0" rtlCol="0" anchor="t"/>
          <a:lstStyle/>
          <a:p>
            <a:pPr marL="0" indent="0" algn="l">
              <a:lnSpc>
                <a:spcPts val="1700"/>
              </a:lnSpc>
              <a:buNone/>
            </a:pPr>
            <a:r>
              <a:rPr lang="en-US" sz="1050" dirty="0">
                <a:solidFill>
                  <a:srgbClr val="D7D4CC"/>
                </a:solidFill>
                <a:latin typeface="Raleway Medium" pitchFamily="34" charset="0"/>
                <a:ea typeface="Raleway Medium" pitchFamily="34" charset="-122"/>
                <a:cs typeface="Raleway Medium" pitchFamily="34" charset="-120"/>
              </a:rPr>
              <a:t>RA 6. Desenvolupa interfícies web amigables analitzant i aplicant les pautes d'usabilitat establertes.</a:t>
            </a:r>
            <a:endParaRPr lang="en-US" sz="1050" dirty="0"/>
          </a:p>
        </p:txBody>
      </p:sp>
      <p:sp>
        <p:nvSpPr>
          <p:cNvPr id="27" name="Text 25"/>
          <p:cNvSpPr/>
          <p:nvPr/>
        </p:nvSpPr>
        <p:spPr>
          <a:xfrm>
            <a:off x="7454027" y="5843707"/>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6.1 Anàlisi de la usabilitat de diferents documents web.</a:t>
            </a:r>
            <a:endParaRPr lang="en-US" sz="1050" dirty="0"/>
          </a:p>
        </p:txBody>
      </p:sp>
      <p:sp>
        <p:nvSpPr>
          <p:cNvPr id="28" name="Text 26"/>
          <p:cNvSpPr/>
          <p:nvPr/>
        </p:nvSpPr>
        <p:spPr>
          <a:xfrm>
            <a:off x="7454027" y="6100167"/>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6.2 Valoració de l'ús d'estàndards en la creació de documents web.</a:t>
            </a:r>
            <a:endParaRPr lang="en-US" sz="1050" dirty="0"/>
          </a:p>
        </p:txBody>
      </p:sp>
      <p:sp>
        <p:nvSpPr>
          <p:cNvPr id="29" name="Text 27"/>
          <p:cNvSpPr/>
          <p:nvPr/>
        </p:nvSpPr>
        <p:spPr>
          <a:xfrm>
            <a:off x="7454027" y="6356628"/>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6.3 Modificació de la interfície web segons l'objectiu i els usuaris destinataris.</a:t>
            </a:r>
            <a:endParaRPr lang="en-US" sz="1050" dirty="0"/>
          </a:p>
        </p:txBody>
      </p:sp>
      <p:sp>
        <p:nvSpPr>
          <p:cNvPr id="30" name="Text 28"/>
          <p:cNvSpPr/>
          <p:nvPr/>
        </p:nvSpPr>
        <p:spPr>
          <a:xfrm>
            <a:off x="7454027" y="6613088"/>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6.4 Verificació de la navegació d'un document web amb diferents perifèrics.</a:t>
            </a:r>
            <a:endParaRPr lang="en-US" sz="1050" dirty="0"/>
          </a:p>
        </p:txBody>
      </p:sp>
      <p:sp>
        <p:nvSpPr>
          <p:cNvPr id="31" name="Text 29"/>
          <p:cNvSpPr/>
          <p:nvPr/>
        </p:nvSpPr>
        <p:spPr>
          <a:xfrm>
            <a:off x="7454027" y="6869549"/>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6.5 Anàlisi de tècniques per verificar la usabilitat d'un document web.</a:t>
            </a:r>
            <a:endParaRPr lang="en-US" sz="1050" dirty="0"/>
          </a:p>
        </p:txBody>
      </p:sp>
      <p:sp>
        <p:nvSpPr>
          <p:cNvPr id="32" name="Text 30"/>
          <p:cNvSpPr/>
          <p:nvPr/>
        </p:nvSpPr>
        <p:spPr>
          <a:xfrm>
            <a:off x="7454027" y="7126010"/>
            <a:ext cx="6306741" cy="21597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6.6 Verificació de la usabilitat en diferents navegadors i tecnologies.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59631" y="688777"/>
            <a:ext cx="8131493" cy="648057"/>
          </a:xfrm>
          <a:prstGeom prst="rect">
            <a:avLst/>
          </a:prstGeom>
          <a:noFill/>
          <a:ln/>
        </p:spPr>
        <p:txBody>
          <a:bodyPr wrap="none" lIns="0" tIns="0" rIns="0" bIns="0" rtlCol="0" anchor="t"/>
          <a:lstStyle/>
          <a:p>
            <a:pPr marL="0" indent="0" algn="l">
              <a:lnSpc>
                <a:spcPts val="5100"/>
              </a:lnSpc>
              <a:buNone/>
            </a:pPr>
            <a:r>
              <a:rPr lang="en-US" sz="4050" b="1" dirty="0">
                <a:solidFill>
                  <a:srgbClr val="FFE14D"/>
                </a:solidFill>
                <a:latin typeface="Comfortaa Bold" pitchFamily="34" charset="0"/>
                <a:ea typeface="Comfortaa Bold" pitchFamily="34" charset="-122"/>
                <a:cs typeface="Comfortaa Bold" pitchFamily="34" charset="-120"/>
              </a:rPr>
              <a:t>Contextualització del projecte</a:t>
            </a:r>
            <a:endParaRPr lang="en-US" sz="4050" dirty="0"/>
          </a:p>
        </p:txBody>
      </p:sp>
      <p:sp>
        <p:nvSpPr>
          <p:cNvPr id="3" name="Shape 1"/>
          <p:cNvSpPr/>
          <p:nvPr/>
        </p:nvSpPr>
        <p:spPr>
          <a:xfrm>
            <a:off x="859631" y="2503408"/>
            <a:ext cx="4187071" cy="233243"/>
          </a:xfrm>
          <a:prstGeom prst="roundRect">
            <a:avLst>
              <a:gd name="adj" fmla="val 150065"/>
            </a:avLst>
          </a:prstGeom>
          <a:solidFill>
            <a:srgbClr val="46464A"/>
          </a:solidFill>
          <a:ln/>
        </p:spPr>
        <p:txBody>
          <a:bodyPr/>
          <a:lstStyle/>
          <a:p>
            <a:endParaRPr lang="es-ES"/>
          </a:p>
        </p:txBody>
      </p:sp>
      <p:sp>
        <p:nvSpPr>
          <p:cNvPr id="4" name="Text 2"/>
          <p:cNvSpPr/>
          <p:nvPr/>
        </p:nvSpPr>
        <p:spPr>
          <a:xfrm>
            <a:off x="1092875" y="2969895"/>
            <a:ext cx="3055977" cy="324088"/>
          </a:xfrm>
          <a:prstGeom prst="rect">
            <a:avLst/>
          </a:prstGeom>
          <a:noFill/>
          <a:ln/>
        </p:spPr>
        <p:txBody>
          <a:bodyPr wrap="none" lIns="0" tIns="0" rIns="0" bIns="0" rtlCol="0" anchor="t"/>
          <a:lstStyle/>
          <a:p>
            <a:pPr marL="0" indent="0" algn="l">
              <a:lnSpc>
                <a:spcPts val="2550"/>
              </a:lnSpc>
              <a:buNone/>
            </a:pPr>
            <a:r>
              <a:rPr lang="en-US" sz="2000" b="1" dirty="0">
                <a:solidFill>
                  <a:srgbClr val="D7D4CC"/>
                </a:solidFill>
                <a:latin typeface="Comfortaa Bold" pitchFamily="34" charset="0"/>
                <a:ea typeface="Comfortaa Bold" pitchFamily="34" charset="-122"/>
                <a:cs typeface="Comfortaa Bold" pitchFamily="34" charset="-120"/>
              </a:rPr>
              <a:t>Entorn socioeconòmic</a:t>
            </a:r>
            <a:endParaRPr lang="en-US" sz="2000" dirty="0"/>
          </a:p>
        </p:txBody>
      </p:sp>
      <p:sp>
        <p:nvSpPr>
          <p:cNvPr id="5" name="Text 3"/>
          <p:cNvSpPr/>
          <p:nvPr/>
        </p:nvSpPr>
        <p:spPr>
          <a:xfrm>
            <a:off x="1092875" y="3433882"/>
            <a:ext cx="3720584" cy="2240280"/>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L'IES Jaume II el Just està ubicat a Tavernes de la Valldigna, població de prop de 18.000 habitants amb una economia basada en la citricultura, el turisme costaner i serveis.</a:t>
            </a:r>
            <a:endParaRPr lang="en-US" sz="1800" dirty="0"/>
          </a:p>
        </p:txBody>
      </p:sp>
      <p:sp>
        <p:nvSpPr>
          <p:cNvPr id="6" name="Text 4"/>
          <p:cNvSpPr/>
          <p:nvPr/>
        </p:nvSpPr>
        <p:spPr>
          <a:xfrm>
            <a:off x="1092875" y="5814060"/>
            <a:ext cx="3720584" cy="1493520"/>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La diversitat cultural i el predomini del valencià com a llengua vehicular caracteritzen l'entorn educatiu del centre.</a:t>
            </a:r>
            <a:endParaRPr lang="en-US" sz="1800" dirty="0"/>
          </a:p>
        </p:txBody>
      </p:sp>
      <p:sp>
        <p:nvSpPr>
          <p:cNvPr id="7" name="Shape 5"/>
          <p:cNvSpPr/>
          <p:nvPr/>
        </p:nvSpPr>
        <p:spPr>
          <a:xfrm>
            <a:off x="5221605" y="2153364"/>
            <a:ext cx="4187071" cy="233243"/>
          </a:xfrm>
          <a:prstGeom prst="roundRect">
            <a:avLst>
              <a:gd name="adj" fmla="val 150065"/>
            </a:avLst>
          </a:prstGeom>
          <a:solidFill>
            <a:srgbClr val="46464A"/>
          </a:solidFill>
          <a:ln/>
        </p:spPr>
        <p:txBody>
          <a:bodyPr/>
          <a:lstStyle/>
          <a:p>
            <a:endParaRPr lang="es-ES"/>
          </a:p>
        </p:txBody>
      </p:sp>
      <p:sp>
        <p:nvSpPr>
          <p:cNvPr id="8" name="Text 6"/>
          <p:cNvSpPr/>
          <p:nvPr/>
        </p:nvSpPr>
        <p:spPr>
          <a:xfrm>
            <a:off x="5454848" y="2619851"/>
            <a:ext cx="2592705" cy="324088"/>
          </a:xfrm>
          <a:prstGeom prst="rect">
            <a:avLst/>
          </a:prstGeom>
          <a:noFill/>
          <a:ln/>
        </p:spPr>
        <p:txBody>
          <a:bodyPr wrap="none" lIns="0" tIns="0" rIns="0" bIns="0" rtlCol="0" anchor="t"/>
          <a:lstStyle/>
          <a:p>
            <a:pPr marL="0" indent="0" algn="l">
              <a:lnSpc>
                <a:spcPts val="2550"/>
              </a:lnSpc>
              <a:buNone/>
            </a:pPr>
            <a:r>
              <a:rPr lang="en-US" sz="2000" b="1" dirty="0">
                <a:solidFill>
                  <a:srgbClr val="D7D4CC"/>
                </a:solidFill>
                <a:latin typeface="Comfortaa Bold" pitchFamily="34" charset="0"/>
                <a:ea typeface="Comfortaa Bold" pitchFamily="34" charset="-122"/>
                <a:cs typeface="Comfortaa Bold" pitchFamily="34" charset="-120"/>
              </a:rPr>
              <a:t>Oferta formativa</a:t>
            </a:r>
            <a:endParaRPr lang="en-US" sz="2000" dirty="0"/>
          </a:p>
        </p:txBody>
      </p:sp>
      <p:sp>
        <p:nvSpPr>
          <p:cNvPr id="9" name="Text 7"/>
          <p:cNvSpPr/>
          <p:nvPr/>
        </p:nvSpPr>
        <p:spPr>
          <a:xfrm>
            <a:off x="5454848" y="3083838"/>
            <a:ext cx="3720584" cy="2613660"/>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El centre imparteix ESO, Batxillerat en diverses modalitats, i diversos cicles formatius de la família d'Informàtica i Comunicacions, incloent el Cicle Superior de Desenvolupament d'Aplicacions Web.</a:t>
            </a:r>
            <a:endParaRPr lang="en-US" sz="1800" dirty="0"/>
          </a:p>
        </p:txBody>
      </p:sp>
      <p:sp>
        <p:nvSpPr>
          <p:cNvPr id="10" name="Text 8"/>
          <p:cNvSpPr/>
          <p:nvPr/>
        </p:nvSpPr>
        <p:spPr>
          <a:xfrm>
            <a:off x="5454848" y="5837396"/>
            <a:ext cx="3720584" cy="1120140"/>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També ofereix cursos d'especialització en Intel·ligència Artificial i Ciberseguretat.</a:t>
            </a:r>
            <a:endParaRPr lang="en-US" sz="1800" dirty="0"/>
          </a:p>
        </p:txBody>
      </p:sp>
      <p:sp>
        <p:nvSpPr>
          <p:cNvPr id="11" name="Shape 9"/>
          <p:cNvSpPr/>
          <p:nvPr/>
        </p:nvSpPr>
        <p:spPr>
          <a:xfrm>
            <a:off x="9583579" y="1803440"/>
            <a:ext cx="4187190" cy="233243"/>
          </a:xfrm>
          <a:prstGeom prst="roundRect">
            <a:avLst>
              <a:gd name="adj" fmla="val 150065"/>
            </a:avLst>
          </a:prstGeom>
          <a:solidFill>
            <a:srgbClr val="46464A"/>
          </a:solidFill>
          <a:ln/>
        </p:spPr>
        <p:txBody>
          <a:bodyPr/>
          <a:lstStyle/>
          <a:p>
            <a:endParaRPr lang="es-ES"/>
          </a:p>
        </p:txBody>
      </p:sp>
      <p:sp>
        <p:nvSpPr>
          <p:cNvPr id="12" name="Text 10"/>
          <p:cNvSpPr/>
          <p:nvPr/>
        </p:nvSpPr>
        <p:spPr>
          <a:xfrm>
            <a:off x="9816822" y="2269927"/>
            <a:ext cx="3191589" cy="324088"/>
          </a:xfrm>
          <a:prstGeom prst="rect">
            <a:avLst/>
          </a:prstGeom>
          <a:noFill/>
          <a:ln/>
        </p:spPr>
        <p:txBody>
          <a:bodyPr wrap="none" lIns="0" tIns="0" rIns="0" bIns="0" rtlCol="0" anchor="t"/>
          <a:lstStyle/>
          <a:p>
            <a:pPr marL="0" indent="0" algn="l">
              <a:lnSpc>
                <a:spcPts val="2550"/>
              </a:lnSpc>
              <a:buNone/>
            </a:pPr>
            <a:r>
              <a:rPr lang="en-US" sz="2000" b="1" dirty="0">
                <a:solidFill>
                  <a:srgbClr val="D7D4CC"/>
                </a:solidFill>
                <a:latin typeface="Comfortaa Bold" pitchFamily="34" charset="0"/>
                <a:ea typeface="Comfortaa Bold" pitchFamily="34" charset="-122"/>
                <a:cs typeface="Comfortaa Bold" pitchFamily="34" charset="-120"/>
              </a:rPr>
              <a:t>Instal·lacions i recursos</a:t>
            </a:r>
            <a:endParaRPr lang="en-US" sz="2000" dirty="0"/>
          </a:p>
        </p:txBody>
      </p:sp>
      <p:sp>
        <p:nvSpPr>
          <p:cNvPr id="13" name="Text 11"/>
          <p:cNvSpPr/>
          <p:nvPr/>
        </p:nvSpPr>
        <p:spPr>
          <a:xfrm>
            <a:off x="9816822" y="2733913"/>
            <a:ext cx="3720703" cy="1866900"/>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L'institut disposa d'un pavelló específic per als cicles d'informàtica, equipat amb aules i recursos tecnològics adequats per a la formació en aquest àmbit.</a:t>
            </a:r>
            <a:endParaRPr lang="en-US" sz="1800" dirty="0"/>
          </a:p>
        </p:txBody>
      </p:sp>
      <p:sp>
        <p:nvSpPr>
          <p:cNvPr id="14" name="Text 12"/>
          <p:cNvSpPr/>
          <p:nvPr/>
        </p:nvSpPr>
        <p:spPr>
          <a:xfrm>
            <a:off x="9816822" y="4740712"/>
            <a:ext cx="3720703" cy="1493520"/>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Compta amb espais complementaris com un pavelló esportiu i un saló d'actes per a activitats educatives i culturals.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81063" y="903446"/>
            <a:ext cx="10183535" cy="664369"/>
          </a:xfrm>
          <a:prstGeom prst="rect">
            <a:avLst/>
          </a:prstGeom>
          <a:noFill/>
          <a:ln/>
        </p:spPr>
        <p:txBody>
          <a:bodyPr wrap="none" lIns="0" tIns="0" rIns="0" bIns="0" rtlCol="0" anchor="t"/>
          <a:lstStyle/>
          <a:p>
            <a:pPr marL="0" indent="0" algn="l">
              <a:lnSpc>
                <a:spcPts val="5200"/>
              </a:lnSpc>
              <a:buNone/>
            </a:pPr>
            <a:r>
              <a:rPr lang="en-US" sz="4150" b="1" dirty="0">
                <a:solidFill>
                  <a:srgbClr val="FFE14D"/>
                </a:solidFill>
                <a:latin typeface="Comfortaa Bold" pitchFamily="34" charset="0"/>
                <a:ea typeface="Comfortaa Bold" pitchFamily="34" charset="-122"/>
                <a:cs typeface="Comfortaa Bold" pitchFamily="34" charset="-120"/>
              </a:rPr>
              <a:t>Justificació pedagògica del projecte</a:t>
            </a:r>
            <a:endParaRPr lang="en-US" sz="4150" dirty="0"/>
          </a:p>
        </p:txBody>
      </p:sp>
      <p:sp>
        <p:nvSpPr>
          <p:cNvPr id="3" name="Text 1"/>
          <p:cNvSpPr/>
          <p:nvPr/>
        </p:nvSpPr>
        <p:spPr>
          <a:xfrm>
            <a:off x="881063" y="2165628"/>
            <a:ext cx="3900011" cy="664369"/>
          </a:xfrm>
          <a:prstGeom prst="rect">
            <a:avLst/>
          </a:prstGeom>
          <a:noFill/>
          <a:ln/>
        </p:spPr>
        <p:txBody>
          <a:bodyPr wrap="square" lIns="0" tIns="0" rIns="0" bIns="0" rtlCol="0" anchor="t"/>
          <a:lstStyle/>
          <a:p>
            <a:pPr marL="0" indent="0" algn="l">
              <a:lnSpc>
                <a:spcPts val="2600"/>
              </a:lnSpc>
              <a:buNone/>
            </a:pPr>
            <a:r>
              <a:rPr lang="en-US" sz="2050" b="1" dirty="0">
                <a:solidFill>
                  <a:srgbClr val="FFE14D"/>
                </a:solidFill>
                <a:latin typeface="Comfortaa Bold" pitchFamily="34" charset="0"/>
                <a:ea typeface="Comfortaa Bold" pitchFamily="34" charset="-122"/>
                <a:cs typeface="Comfortaa Bold" pitchFamily="34" charset="-120"/>
              </a:rPr>
              <a:t>Aplicació pràctica de continguts</a:t>
            </a:r>
            <a:endParaRPr lang="en-US" sz="2050" dirty="0"/>
          </a:p>
        </p:txBody>
      </p:sp>
      <p:sp>
        <p:nvSpPr>
          <p:cNvPr id="4" name="Text 2"/>
          <p:cNvSpPr/>
          <p:nvPr/>
        </p:nvSpPr>
        <p:spPr>
          <a:xfrm>
            <a:off x="881063" y="3069074"/>
            <a:ext cx="3900011" cy="2296001"/>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El projecte permet integrar de manera significativa els continguts del mòdul: planificació d'interfícies, implementació d'usabilitat, disseny accessible, i ús d'estils i ferramentes software.</a:t>
            </a:r>
            <a:endParaRPr lang="en-US" sz="1850" dirty="0"/>
          </a:p>
        </p:txBody>
      </p:sp>
      <p:sp>
        <p:nvSpPr>
          <p:cNvPr id="5" name="Text 3"/>
          <p:cNvSpPr/>
          <p:nvPr/>
        </p:nvSpPr>
        <p:spPr>
          <a:xfrm>
            <a:off x="881063" y="5580221"/>
            <a:ext cx="3900011" cy="1530668"/>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L'alumnat pot aplicar els principis teòrics en un context real i pràctic, reforçant la comprensió i l'aprenentatge.</a:t>
            </a:r>
            <a:endParaRPr lang="en-US" sz="1850" dirty="0"/>
          </a:p>
        </p:txBody>
      </p:sp>
      <p:sp>
        <p:nvSpPr>
          <p:cNvPr id="6" name="Text 4"/>
          <p:cNvSpPr/>
          <p:nvPr/>
        </p:nvSpPr>
        <p:spPr>
          <a:xfrm>
            <a:off x="5372100" y="2165628"/>
            <a:ext cx="3900011" cy="664369"/>
          </a:xfrm>
          <a:prstGeom prst="rect">
            <a:avLst/>
          </a:prstGeom>
          <a:noFill/>
          <a:ln/>
        </p:spPr>
        <p:txBody>
          <a:bodyPr wrap="square" lIns="0" tIns="0" rIns="0" bIns="0" rtlCol="0" anchor="t"/>
          <a:lstStyle/>
          <a:p>
            <a:pPr marL="0" indent="0" algn="l">
              <a:lnSpc>
                <a:spcPts val="2600"/>
              </a:lnSpc>
              <a:buNone/>
            </a:pPr>
            <a:r>
              <a:rPr lang="en-US" sz="2050" b="1" dirty="0">
                <a:solidFill>
                  <a:srgbClr val="FFE14D"/>
                </a:solidFill>
                <a:latin typeface="Comfortaa Bold" pitchFamily="34" charset="0"/>
                <a:ea typeface="Comfortaa Bold" pitchFamily="34" charset="-122"/>
                <a:cs typeface="Comfortaa Bold" pitchFamily="34" charset="-120"/>
              </a:rPr>
              <a:t>Context real i enfocament en l'usuari</a:t>
            </a:r>
            <a:endParaRPr lang="en-US" sz="2050" dirty="0"/>
          </a:p>
        </p:txBody>
      </p:sp>
      <p:sp>
        <p:nvSpPr>
          <p:cNvPr id="7" name="Text 5"/>
          <p:cNvSpPr/>
          <p:nvPr/>
        </p:nvSpPr>
        <p:spPr>
          <a:xfrm>
            <a:off x="5372100" y="3069074"/>
            <a:ext cx="3900011" cy="1913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Abordar la necessitat real d'un poliesportiu municipal i definir perfils d'usuaris permet aplicar els principis de disseny en un escenari pràctic.</a:t>
            </a:r>
            <a:endParaRPr lang="en-US" sz="1850" dirty="0"/>
          </a:p>
        </p:txBody>
      </p:sp>
      <p:sp>
        <p:nvSpPr>
          <p:cNvPr id="8" name="Text 6"/>
          <p:cNvSpPr/>
          <p:nvPr/>
        </p:nvSpPr>
        <p:spPr>
          <a:xfrm>
            <a:off x="5372100" y="5197554"/>
            <a:ext cx="3900011" cy="1530668"/>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Es fomenta l'anàlisi de les necessitats dels usuaris i l'adaptació de la interfície a aquestes necessitats.</a:t>
            </a:r>
            <a:endParaRPr lang="en-US" sz="1850" dirty="0"/>
          </a:p>
        </p:txBody>
      </p:sp>
      <p:sp>
        <p:nvSpPr>
          <p:cNvPr id="9" name="Text 7"/>
          <p:cNvSpPr/>
          <p:nvPr/>
        </p:nvSpPr>
        <p:spPr>
          <a:xfrm>
            <a:off x="9863137" y="2165628"/>
            <a:ext cx="2697242" cy="332184"/>
          </a:xfrm>
          <a:prstGeom prst="rect">
            <a:avLst/>
          </a:prstGeom>
          <a:noFill/>
          <a:ln/>
        </p:spPr>
        <p:txBody>
          <a:bodyPr wrap="none" lIns="0" tIns="0" rIns="0" bIns="0" rtlCol="0" anchor="t"/>
          <a:lstStyle/>
          <a:p>
            <a:pPr marL="0" indent="0" algn="l">
              <a:lnSpc>
                <a:spcPts val="2600"/>
              </a:lnSpc>
              <a:buNone/>
            </a:pPr>
            <a:r>
              <a:rPr lang="en-US" sz="2050" b="1" dirty="0">
                <a:solidFill>
                  <a:srgbClr val="FFE14D"/>
                </a:solidFill>
                <a:latin typeface="Comfortaa Bold" pitchFamily="34" charset="0"/>
                <a:ea typeface="Comfortaa Bold" pitchFamily="34" charset="-122"/>
                <a:cs typeface="Comfortaa Bold" pitchFamily="34" charset="-120"/>
              </a:rPr>
              <a:t>Projecte integrador</a:t>
            </a:r>
            <a:endParaRPr lang="en-US" sz="2050" dirty="0"/>
          </a:p>
        </p:txBody>
      </p:sp>
      <p:sp>
        <p:nvSpPr>
          <p:cNvPr id="10" name="Text 8"/>
          <p:cNvSpPr/>
          <p:nvPr/>
        </p:nvSpPr>
        <p:spPr>
          <a:xfrm>
            <a:off x="9863137" y="2736890"/>
            <a:ext cx="3900011" cy="1913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El disseny de la interfície integra coneixements de diferents àrees, connectant el disseny visual amb l'estructura de dades i la funcionalitat.</a:t>
            </a:r>
            <a:endParaRPr lang="en-US" sz="1850" dirty="0"/>
          </a:p>
        </p:txBody>
      </p:sp>
      <p:sp>
        <p:nvSpPr>
          <p:cNvPr id="11" name="Text 9"/>
          <p:cNvSpPr/>
          <p:nvPr/>
        </p:nvSpPr>
        <p:spPr>
          <a:xfrm>
            <a:off x="9863137" y="4865370"/>
            <a:ext cx="3900011" cy="1530668"/>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L'arquitectura client-servidor posiciona el servidor com a intermediari crucial entre la part client i la base de dades.</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81063" y="1048583"/>
            <a:ext cx="8715375" cy="699254"/>
          </a:xfrm>
          <a:prstGeom prst="rect">
            <a:avLst/>
          </a:prstGeom>
          <a:noFill/>
          <a:ln/>
        </p:spPr>
        <p:txBody>
          <a:bodyPr wrap="none" lIns="0" tIns="0" rIns="0" bIns="0" rtlCol="0" anchor="t"/>
          <a:lstStyle/>
          <a:p>
            <a:pPr marL="0" indent="0" algn="l">
              <a:lnSpc>
                <a:spcPts val="5500"/>
              </a:lnSpc>
              <a:buNone/>
            </a:pPr>
            <a:r>
              <a:rPr lang="en-US" sz="4400" b="1" dirty="0">
                <a:solidFill>
                  <a:srgbClr val="FFE14D"/>
                </a:solidFill>
                <a:latin typeface="Comfortaa Bold" pitchFamily="34" charset="0"/>
                <a:ea typeface="Comfortaa Bold" pitchFamily="34" charset="-122"/>
                <a:cs typeface="Comfortaa Bold" pitchFamily="34" charset="-120"/>
              </a:rPr>
              <a:t>Introducció a la problemàtica</a:t>
            </a:r>
            <a:endParaRPr lang="en-US" sz="4400" dirty="0"/>
          </a:p>
        </p:txBody>
      </p:sp>
      <p:sp>
        <p:nvSpPr>
          <p:cNvPr id="3" name="Text 1"/>
          <p:cNvSpPr/>
          <p:nvPr/>
        </p:nvSpPr>
        <p:spPr>
          <a:xfrm>
            <a:off x="881063" y="2377083"/>
            <a:ext cx="3112294" cy="349687"/>
          </a:xfrm>
          <a:prstGeom prst="rect">
            <a:avLst/>
          </a:prstGeom>
          <a:noFill/>
          <a:ln/>
        </p:spPr>
        <p:txBody>
          <a:bodyPr wrap="none" lIns="0" tIns="0" rIns="0" bIns="0" rtlCol="0" anchor="t"/>
          <a:lstStyle/>
          <a:p>
            <a:pPr marL="0" indent="0" algn="l">
              <a:lnSpc>
                <a:spcPts val="2750"/>
              </a:lnSpc>
              <a:buNone/>
            </a:pPr>
            <a:r>
              <a:rPr lang="en-US" sz="2200" b="1" dirty="0">
                <a:solidFill>
                  <a:srgbClr val="FFE14D"/>
                </a:solidFill>
                <a:latin typeface="Comfortaa Bold" pitchFamily="34" charset="0"/>
                <a:ea typeface="Comfortaa Bold" pitchFamily="34" charset="-122"/>
                <a:cs typeface="Comfortaa Bold" pitchFamily="34" charset="-120"/>
              </a:rPr>
              <a:t>Creixement del pàdel</a:t>
            </a:r>
            <a:endParaRPr lang="en-US" sz="2200" dirty="0"/>
          </a:p>
        </p:txBody>
      </p:sp>
      <p:sp>
        <p:nvSpPr>
          <p:cNvPr id="4" name="Text 2"/>
          <p:cNvSpPr/>
          <p:nvPr/>
        </p:nvSpPr>
        <p:spPr>
          <a:xfrm>
            <a:off x="881063" y="2978468"/>
            <a:ext cx="3879532" cy="3223260"/>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El pàdel ha experimentat un augment sense precedents, convertint-se en un dels esports més populars i demandats a tot el món. Aquest creixement ha impulsat l'Ajuntament de la Font d'en Carròs a augmentar el nombre de pistes disponibles.</a:t>
            </a:r>
            <a:endParaRPr lang="en-US" sz="1950" dirty="0"/>
          </a:p>
        </p:txBody>
      </p:sp>
      <p:sp>
        <p:nvSpPr>
          <p:cNvPr id="5" name="Text 3"/>
          <p:cNvSpPr/>
          <p:nvPr/>
        </p:nvSpPr>
        <p:spPr>
          <a:xfrm>
            <a:off x="5382339" y="2377083"/>
            <a:ext cx="3879532" cy="699373"/>
          </a:xfrm>
          <a:prstGeom prst="rect">
            <a:avLst/>
          </a:prstGeom>
          <a:noFill/>
          <a:ln/>
        </p:spPr>
        <p:txBody>
          <a:bodyPr wrap="square" lIns="0" tIns="0" rIns="0" bIns="0" rtlCol="0" anchor="t"/>
          <a:lstStyle/>
          <a:p>
            <a:pPr marL="0" indent="0" algn="l">
              <a:lnSpc>
                <a:spcPts val="2750"/>
              </a:lnSpc>
              <a:buNone/>
            </a:pPr>
            <a:r>
              <a:rPr lang="en-US" sz="2200" b="1" dirty="0">
                <a:solidFill>
                  <a:srgbClr val="FFE14D"/>
                </a:solidFill>
                <a:latin typeface="Comfortaa Bold" pitchFamily="34" charset="0"/>
                <a:ea typeface="Comfortaa Bold" pitchFamily="34" charset="-122"/>
                <a:cs typeface="Comfortaa Bold" pitchFamily="34" charset="-120"/>
              </a:rPr>
              <a:t>Mètodes obsolets de gestió</a:t>
            </a:r>
            <a:endParaRPr lang="en-US" sz="2200" dirty="0"/>
          </a:p>
        </p:txBody>
      </p:sp>
      <p:sp>
        <p:nvSpPr>
          <p:cNvPr id="6" name="Text 4"/>
          <p:cNvSpPr/>
          <p:nvPr/>
        </p:nvSpPr>
        <p:spPr>
          <a:xfrm>
            <a:off x="5382339" y="3328154"/>
            <a:ext cx="3879532" cy="3626168"/>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Malgrat la creixent demanda, l'ajuntament encara utilitza mètodes tradicionals i poc eficients per gestionar les reserves. Els jugadors sovint han de fer múltiples trucades o visites presencials al centre esportiu per assegurar una reserva.</a:t>
            </a:r>
            <a:endParaRPr lang="en-US" sz="1950" dirty="0"/>
          </a:p>
        </p:txBody>
      </p:sp>
      <p:sp>
        <p:nvSpPr>
          <p:cNvPr id="7" name="Text 5"/>
          <p:cNvSpPr/>
          <p:nvPr/>
        </p:nvSpPr>
        <p:spPr>
          <a:xfrm>
            <a:off x="9883616" y="2377083"/>
            <a:ext cx="2901434" cy="349687"/>
          </a:xfrm>
          <a:prstGeom prst="rect">
            <a:avLst/>
          </a:prstGeom>
          <a:noFill/>
          <a:ln/>
        </p:spPr>
        <p:txBody>
          <a:bodyPr wrap="none" lIns="0" tIns="0" rIns="0" bIns="0" rtlCol="0" anchor="t"/>
          <a:lstStyle/>
          <a:p>
            <a:pPr marL="0" indent="0" algn="l">
              <a:lnSpc>
                <a:spcPts val="2750"/>
              </a:lnSpc>
              <a:buNone/>
            </a:pPr>
            <a:r>
              <a:rPr lang="en-US" sz="2200" b="1" dirty="0">
                <a:solidFill>
                  <a:srgbClr val="FFE14D"/>
                </a:solidFill>
                <a:latin typeface="Comfortaa Bold" pitchFamily="34" charset="0"/>
                <a:ea typeface="Comfortaa Bold" pitchFamily="34" charset="-122"/>
                <a:cs typeface="Comfortaa Bold" pitchFamily="34" charset="-120"/>
              </a:rPr>
              <a:t>Solució tecnològica</a:t>
            </a:r>
            <a:endParaRPr lang="en-US" sz="2200" dirty="0"/>
          </a:p>
        </p:txBody>
      </p:sp>
      <p:sp>
        <p:nvSpPr>
          <p:cNvPr id="8" name="Text 6"/>
          <p:cNvSpPr/>
          <p:nvPr/>
        </p:nvSpPr>
        <p:spPr>
          <a:xfrm>
            <a:off x="9883616" y="2978468"/>
            <a:ext cx="3879532" cy="2820353"/>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En l'era digital actual, la creació d'una plataforma web dedicada a la gestió de reserves es presenta com una solució innovadora i adequada a les necessitats dels jugadors i dels gestors de centres esportius.</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74633" y="688419"/>
            <a:ext cx="5111234" cy="555427"/>
          </a:xfrm>
          <a:prstGeom prst="rect">
            <a:avLst/>
          </a:prstGeom>
          <a:noFill/>
          <a:ln/>
        </p:spPr>
        <p:txBody>
          <a:bodyPr wrap="none" lIns="0" tIns="0" rIns="0" bIns="0" rtlCol="0" anchor="t"/>
          <a:lstStyle/>
          <a:p>
            <a:pPr marL="0" indent="0" algn="l">
              <a:lnSpc>
                <a:spcPts val="4350"/>
              </a:lnSpc>
              <a:buNone/>
            </a:pPr>
            <a:r>
              <a:rPr lang="en-US" sz="3450" b="1" dirty="0">
                <a:solidFill>
                  <a:srgbClr val="FFE14D"/>
                </a:solidFill>
                <a:latin typeface="Comfortaa Bold" pitchFamily="34" charset="0"/>
                <a:ea typeface="Comfortaa Bold" pitchFamily="34" charset="-122"/>
                <a:cs typeface="Comfortaa Bold" pitchFamily="34" charset="-120"/>
              </a:rPr>
              <a:t>Objectius del projecte</a:t>
            </a:r>
            <a:endParaRPr lang="en-US" sz="3450" dirty="0"/>
          </a:p>
        </p:txBody>
      </p:sp>
      <p:pic>
        <p:nvPicPr>
          <p:cNvPr id="3" name="Image 0" descr="preencoded.png"/>
          <p:cNvPicPr>
            <a:picLocks noChangeAspect="1"/>
          </p:cNvPicPr>
          <p:nvPr/>
        </p:nvPicPr>
        <p:blipFill>
          <a:blip r:embed="rId3"/>
          <a:stretch>
            <a:fillRect/>
          </a:stretch>
        </p:blipFill>
        <p:spPr>
          <a:xfrm>
            <a:off x="3297793" y="1643658"/>
            <a:ext cx="1594009" cy="1436965"/>
          </a:xfrm>
          <a:prstGeom prst="rect">
            <a:avLst/>
          </a:prstGeom>
        </p:spPr>
      </p:pic>
      <p:pic>
        <p:nvPicPr>
          <p:cNvPr id="4" name="Image 1" descr="preencoded.png"/>
          <p:cNvPicPr>
            <a:picLocks noChangeAspect="1"/>
          </p:cNvPicPr>
          <p:nvPr/>
        </p:nvPicPr>
        <p:blipFill>
          <a:blip r:embed="rId4"/>
          <a:stretch>
            <a:fillRect/>
          </a:stretch>
        </p:blipFill>
        <p:spPr>
          <a:xfrm>
            <a:off x="3954185" y="2371963"/>
            <a:ext cx="281107" cy="351353"/>
          </a:xfrm>
          <a:prstGeom prst="rect">
            <a:avLst/>
          </a:prstGeom>
        </p:spPr>
      </p:pic>
      <p:sp>
        <p:nvSpPr>
          <p:cNvPr id="5" name="Text 1"/>
          <p:cNvSpPr/>
          <p:nvPr/>
        </p:nvSpPr>
        <p:spPr>
          <a:xfrm>
            <a:off x="5091708" y="2003465"/>
            <a:ext cx="3942755" cy="277654"/>
          </a:xfrm>
          <a:prstGeom prst="rect">
            <a:avLst/>
          </a:prstGeom>
          <a:noFill/>
          <a:ln/>
        </p:spPr>
        <p:txBody>
          <a:bodyPr wrap="none" lIns="0" tIns="0" rIns="0" bIns="0" rtlCol="0" anchor="t"/>
          <a:lstStyle/>
          <a:p>
            <a:pPr marL="0" indent="0" algn="l">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Facilitar la reserva d'instal·lacions</a:t>
            </a:r>
            <a:endParaRPr lang="en-US" sz="1700" dirty="0"/>
          </a:p>
        </p:txBody>
      </p:sp>
      <p:sp>
        <p:nvSpPr>
          <p:cNvPr id="6" name="Text 2"/>
          <p:cNvSpPr/>
          <p:nvPr/>
        </p:nvSpPr>
        <p:spPr>
          <a:xfrm>
            <a:off x="5091708" y="2401014"/>
            <a:ext cx="7183398" cy="3198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Permetre als usuaris completar el procés de reserva de manera àgil i intuïtiva</a:t>
            </a:r>
            <a:endParaRPr lang="en-US" sz="1550" dirty="0"/>
          </a:p>
        </p:txBody>
      </p:sp>
      <p:sp>
        <p:nvSpPr>
          <p:cNvPr id="7" name="Shape 3"/>
          <p:cNvSpPr/>
          <p:nvPr/>
        </p:nvSpPr>
        <p:spPr>
          <a:xfrm>
            <a:off x="4941689" y="3095982"/>
            <a:ext cx="8764191" cy="11430"/>
          </a:xfrm>
          <a:prstGeom prst="roundRect">
            <a:avLst>
              <a:gd name="adj" fmla="val 2623776"/>
            </a:avLst>
          </a:prstGeom>
          <a:solidFill>
            <a:srgbClr val="5F5F63"/>
          </a:solidFill>
          <a:ln/>
        </p:spPr>
        <p:txBody>
          <a:bodyPr/>
          <a:lstStyle/>
          <a:p>
            <a:endParaRPr lang="es-ES"/>
          </a:p>
        </p:txBody>
      </p:sp>
      <p:pic>
        <p:nvPicPr>
          <p:cNvPr id="8" name="Image 2" descr="preencoded.png"/>
          <p:cNvPicPr>
            <a:picLocks noChangeAspect="1"/>
          </p:cNvPicPr>
          <p:nvPr/>
        </p:nvPicPr>
        <p:blipFill>
          <a:blip r:embed="rId5"/>
          <a:stretch>
            <a:fillRect/>
          </a:stretch>
        </p:blipFill>
        <p:spPr>
          <a:xfrm>
            <a:off x="2500789" y="3130510"/>
            <a:ext cx="3188018" cy="1436965"/>
          </a:xfrm>
          <a:prstGeom prst="rect">
            <a:avLst/>
          </a:prstGeom>
        </p:spPr>
      </p:pic>
      <p:pic>
        <p:nvPicPr>
          <p:cNvPr id="9" name="Image 3" descr="preencoded.png"/>
          <p:cNvPicPr>
            <a:picLocks noChangeAspect="1"/>
          </p:cNvPicPr>
          <p:nvPr/>
        </p:nvPicPr>
        <p:blipFill>
          <a:blip r:embed="rId6"/>
          <a:stretch>
            <a:fillRect/>
          </a:stretch>
        </p:blipFill>
        <p:spPr>
          <a:xfrm>
            <a:off x="3954185" y="3673316"/>
            <a:ext cx="281107" cy="351353"/>
          </a:xfrm>
          <a:prstGeom prst="rect">
            <a:avLst/>
          </a:prstGeom>
        </p:spPr>
      </p:pic>
      <p:sp>
        <p:nvSpPr>
          <p:cNvPr id="10" name="Text 4"/>
          <p:cNvSpPr/>
          <p:nvPr/>
        </p:nvSpPr>
        <p:spPr>
          <a:xfrm>
            <a:off x="5888712" y="3490317"/>
            <a:ext cx="3556040" cy="277654"/>
          </a:xfrm>
          <a:prstGeom prst="rect">
            <a:avLst/>
          </a:prstGeom>
          <a:noFill/>
          <a:ln/>
        </p:spPr>
        <p:txBody>
          <a:bodyPr wrap="none" lIns="0" tIns="0" rIns="0" bIns="0" rtlCol="0" anchor="t"/>
          <a:lstStyle/>
          <a:p>
            <a:pPr marL="0" indent="0" algn="l">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Crear una interfície adaptable</a:t>
            </a:r>
            <a:endParaRPr lang="en-US" sz="1700" dirty="0"/>
          </a:p>
        </p:txBody>
      </p:sp>
      <p:sp>
        <p:nvSpPr>
          <p:cNvPr id="11" name="Text 5"/>
          <p:cNvSpPr/>
          <p:nvPr/>
        </p:nvSpPr>
        <p:spPr>
          <a:xfrm>
            <a:off x="5888712" y="3887867"/>
            <a:ext cx="5717738" cy="3198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Desenvolupar un disseny responsiu per a qualsevol dispositiu</a:t>
            </a:r>
            <a:endParaRPr lang="en-US" sz="1550" dirty="0"/>
          </a:p>
        </p:txBody>
      </p:sp>
      <p:sp>
        <p:nvSpPr>
          <p:cNvPr id="12" name="Shape 6"/>
          <p:cNvSpPr/>
          <p:nvPr/>
        </p:nvSpPr>
        <p:spPr>
          <a:xfrm>
            <a:off x="5738693" y="4582835"/>
            <a:ext cx="7967186" cy="11430"/>
          </a:xfrm>
          <a:prstGeom prst="roundRect">
            <a:avLst>
              <a:gd name="adj" fmla="val 2623776"/>
            </a:avLst>
          </a:prstGeom>
          <a:solidFill>
            <a:srgbClr val="5F5F63"/>
          </a:solidFill>
          <a:ln/>
        </p:spPr>
        <p:txBody>
          <a:bodyPr/>
          <a:lstStyle/>
          <a:p>
            <a:endParaRPr lang="es-ES"/>
          </a:p>
        </p:txBody>
      </p:sp>
      <p:pic>
        <p:nvPicPr>
          <p:cNvPr id="13" name="Image 4" descr="preencoded.png"/>
          <p:cNvPicPr>
            <a:picLocks noChangeAspect="1"/>
          </p:cNvPicPr>
          <p:nvPr/>
        </p:nvPicPr>
        <p:blipFill>
          <a:blip r:embed="rId7"/>
          <a:stretch>
            <a:fillRect/>
          </a:stretch>
        </p:blipFill>
        <p:spPr>
          <a:xfrm>
            <a:off x="1703784" y="4617363"/>
            <a:ext cx="4782026" cy="1436965"/>
          </a:xfrm>
          <a:prstGeom prst="rect">
            <a:avLst/>
          </a:prstGeom>
        </p:spPr>
      </p:pic>
      <p:pic>
        <p:nvPicPr>
          <p:cNvPr id="14" name="Image 5" descr="preencoded.png"/>
          <p:cNvPicPr>
            <a:picLocks noChangeAspect="1"/>
          </p:cNvPicPr>
          <p:nvPr/>
        </p:nvPicPr>
        <p:blipFill>
          <a:blip r:embed="rId8"/>
          <a:stretch>
            <a:fillRect/>
          </a:stretch>
        </p:blipFill>
        <p:spPr>
          <a:xfrm>
            <a:off x="3954185" y="5160169"/>
            <a:ext cx="281107" cy="351353"/>
          </a:xfrm>
          <a:prstGeom prst="rect">
            <a:avLst/>
          </a:prstGeom>
        </p:spPr>
      </p:pic>
      <p:sp>
        <p:nvSpPr>
          <p:cNvPr id="15" name="Text 7"/>
          <p:cNvSpPr/>
          <p:nvPr/>
        </p:nvSpPr>
        <p:spPr>
          <a:xfrm>
            <a:off x="6685717" y="4817269"/>
            <a:ext cx="3670340" cy="277654"/>
          </a:xfrm>
          <a:prstGeom prst="rect">
            <a:avLst/>
          </a:prstGeom>
          <a:noFill/>
          <a:ln/>
        </p:spPr>
        <p:txBody>
          <a:bodyPr wrap="none" lIns="0" tIns="0" rIns="0" bIns="0" rtlCol="0" anchor="t"/>
          <a:lstStyle/>
          <a:p>
            <a:pPr marL="0" indent="0" algn="l">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Avaluar competències integrals</a:t>
            </a:r>
            <a:endParaRPr lang="en-US" sz="1700" dirty="0"/>
          </a:p>
        </p:txBody>
      </p:sp>
      <p:sp>
        <p:nvSpPr>
          <p:cNvPr id="16" name="Text 8"/>
          <p:cNvSpPr/>
          <p:nvPr/>
        </p:nvSpPr>
        <p:spPr>
          <a:xfrm>
            <a:off x="6685717" y="5214818"/>
            <a:ext cx="6870144" cy="639604"/>
          </a:xfrm>
          <a:prstGeom prst="rect">
            <a:avLst/>
          </a:prstGeom>
          <a:noFill/>
          <a:ln/>
        </p:spPr>
        <p:txBody>
          <a:bodyPr wrap="square" lIns="0" tIns="0" rIns="0" bIns="0" rtlCol="0" anchor="t"/>
          <a:lstStyle/>
          <a:p>
            <a:pPr marL="0" indent="0" algn="l">
              <a:lnSpc>
                <a:spcPts val="2500"/>
              </a:lnSpc>
              <a:buNone/>
            </a:pPr>
            <a:r>
              <a:rPr lang="en-US" sz="1550" dirty="0" err="1">
                <a:solidFill>
                  <a:srgbClr val="D7D4CC"/>
                </a:solidFill>
                <a:latin typeface="Raleway Medium" pitchFamily="34" charset="0"/>
                <a:ea typeface="Raleway Medium" pitchFamily="34" charset="-122"/>
                <a:cs typeface="Raleway Medium" pitchFamily="34" charset="-120"/>
              </a:rPr>
              <a:t>Utilitzant</a:t>
            </a:r>
            <a:r>
              <a:rPr lang="en-US" sz="1550" dirty="0">
                <a:solidFill>
                  <a:srgbClr val="D7D4CC"/>
                </a:solidFill>
                <a:latin typeface="Raleway Medium" pitchFamily="34" charset="0"/>
                <a:ea typeface="Raleway Medium" pitchFamily="34" charset="-122"/>
                <a:cs typeface="Raleway Medium" pitchFamily="34" charset="-120"/>
              </a:rPr>
              <a:t> com a instrument d'avaluació pràctic de les competències del mòdul</a:t>
            </a:r>
            <a:endParaRPr lang="en-US" sz="1550" dirty="0"/>
          </a:p>
        </p:txBody>
      </p:sp>
      <p:sp>
        <p:nvSpPr>
          <p:cNvPr id="17" name="Shape 9"/>
          <p:cNvSpPr/>
          <p:nvPr/>
        </p:nvSpPr>
        <p:spPr>
          <a:xfrm>
            <a:off x="6535698" y="6069687"/>
            <a:ext cx="7170182" cy="11430"/>
          </a:xfrm>
          <a:prstGeom prst="roundRect">
            <a:avLst>
              <a:gd name="adj" fmla="val 2623776"/>
            </a:avLst>
          </a:prstGeom>
          <a:solidFill>
            <a:srgbClr val="5F5F63"/>
          </a:solidFill>
          <a:ln/>
        </p:spPr>
        <p:txBody>
          <a:bodyPr/>
          <a:lstStyle/>
          <a:p>
            <a:endParaRPr lang="es-ES"/>
          </a:p>
        </p:txBody>
      </p:sp>
      <p:pic>
        <p:nvPicPr>
          <p:cNvPr id="18" name="Image 6" descr="preencoded.png"/>
          <p:cNvPicPr>
            <a:picLocks noChangeAspect="1"/>
          </p:cNvPicPr>
          <p:nvPr/>
        </p:nvPicPr>
        <p:blipFill>
          <a:blip r:embed="rId9"/>
          <a:stretch>
            <a:fillRect/>
          </a:stretch>
        </p:blipFill>
        <p:spPr>
          <a:xfrm>
            <a:off x="906780" y="6104215"/>
            <a:ext cx="6376154" cy="1436965"/>
          </a:xfrm>
          <a:prstGeom prst="rect">
            <a:avLst/>
          </a:prstGeom>
        </p:spPr>
      </p:pic>
      <p:pic>
        <p:nvPicPr>
          <p:cNvPr id="19" name="Image 7" descr="preencoded.png"/>
          <p:cNvPicPr>
            <a:picLocks noChangeAspect="1"/>
          </p:cNvPicPr>
          <p:nvPr/>
        </p:nvPicPr>
        <p:blipFill>
          <a:blip r:embed="rId10"/>
          <a:stretch>
            <a:fillRect/>
          </a:stretch>
        </p:blipFill>
        <p:spPr>
          <a:xfrm>
            <a:off x="3954304" y="6647021"/>
            <a:ext cx="281107" cy="351353"/>
          </a:xfrm>
          <a:prstGeom prst="rect">
            <a:avLst/>
          </a:prstGeom>
        </p:spPr>
      </p:pic>
      <p:sp>
        <p:nvSpPr>
          <p:cNvPr id="20" name="Text 10"/>
          <p:cNvSpPr/>
          <p:nvPr/>
        </p:nvSpPr>
        <p:spPr>
          <a:xfrm>
            <a:off x="7482840" y="6464022"/>
            <a:ext cx="3629025" cy="277654"/>
          </a:xfrm>
          <a:prstGeom prst="rect">
            <a:avLst/>
          </a:prstGeom>
          <a:noFill/>
          <a:ln/>
        </p:spPr>
        <p:txBody>
          <a:bodyPr wrap="none" lIns="0" tIns="0" rIns="0" bIns="0" rtlCol="0" anchor="t"/>
          <a:lstStyle/>
          <a:p>
            <a:pPr marL="0" indent="0" algn="l">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Simular un entorn professional</a:t>
            </a:r>
            <a:endParaRPr lang="en-US" sz="1700" dirty="0"/>
          </a:p>
        </p:txBody>
      </p:sp>
      <p:sp>
        <p:nvSpPr>
          <p:cNvPr id="21" name="Text 11"/>
          <p:cNvSpPr/>
          <p:nvPr/>
        </p:nvSpPr>
        <p:spPr>
          <a:xfrm>
            <a:off x="7482840" y="6861572"/>
            <a:ext cx="5820013" cy="3198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Integrar coneixements en un context similar a un encàrrec real</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81063" y="1037511"/>
            <a:ext cx="12442865" cy="699254"/>
          </a:xfrm>
          <a:prstGeom prst="rect">
            <a:avLst/>
          </a:prstGeom>
          <a:noFill/>
          <a:ln/>
        </p:spPr>
        <p:txBody>
          <a:bodyPr wrap="none" lIns="0" tIns="0" rIns="0" bIns="0" rtlCol="0" anchor="t"/>
          <a:lstStyle/>
          <a:p>
            <a:pPr marL="0" indent="0" algn="l">
              <a:lnSpc>
                <a:spcPts val="5500"/>
              </a:lnSpc>
              <a:buNone/>
            </a:pPr>
            <a:r>
              <a:rPr lang="en-US" sz="4400" b="1" dirty="0">
                <a:solidFill>
                  <a:srgbClr val="FFE14D"/>
                </a:solidFill>
                <a:latin typeface="Comfortaa Bold" pitchFamily="34" charset="0"/>
                <a:ea typeface="Comfortaa Bold" pitchFamily="34" charset="-122"/>
                <a:cs typeface="Comfortaa Bold" pitchFamily="34" charset="-120"/>
              </a:rPr>
              <a:t>Metodologia d'ensenyament-aprenentatge</a:t>
            </a:r>
            <a:endParaRPr lang="en-US" sz="4400" dirty="0"/>
          </a:p>
        </p:txBody>
      </p:sp>
      <p:sp>
        <p:nvSpPr>
          <p:cNvPr id="3" name="Text 1"/>
          <p:cNvSpPr/>
          <p:nvPr/>
        </p:nvSpPr>
        <p:spPr>
          <a:xfrm>
            <a:off x="881063" y="2240280"/>
            <a:ext cx="3804642" cy="699373"/>
          </a:xfrm>
          <a:prstGeom prst="rect">
            <a:avLst/>
          </a:prstGeom>
          <a:noFill/>
          <a:ln/>
        </p:spPr>
        <p:txBody>
          <a:bodyPr wrap="square" lIns="0" tIns="0" rIns="0" bIns="0" rtlCol="0" anchor="t"/>
          <a:lstStyle/>
          <a:p>
            <a:pPr marL="0" indent="0" algn="r">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Aprenentatge basat en projectes</a:t>
            </a:r>
            <a:endParaRPr lang="en-US" sz="2200" dirty="0"/>
          </a:p>
        </p:txBody>
      </p:sp>
      <p:sp>
        <p:nvSpPr>
          <p:cNvPr id="4" name="Text 2"/>
          <p:cNvSpPr/>
          <p:nvPr/>
        </p:nvSpPr>
        <p:spPr>
          <a:xfrm>
            <a:off x="881063" y="3090624"/>
            <a:ext cx="3804642" cy="1611630"/>
          </a:xfrm>
          <a:prstGeom prst="rect">
            <a:avLst/>
          </a:prstGeom>
          <a:noFill/>
          <a:ln/>
        </p:spPr>
        <p:txBody>
          <a:bodyPr wrap="square" lIns="0" tIns="0" rIns="0" bIns="0" rtlCol="0" anchor="t"/>
          <a:lstStyle/>
          <a:p>
            <a:pPr marL="0" indent="0" algn="r">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Desenvolupament progressiu del front-end de l'aplicació en grups de 3-4 alumnes, combinant teoria i pràctica</a:t>
            </a:r>
            <a:endParaRPr lang="en-US" sz="1950" dirty="0"/>
          </a:p>
        </p:txBody>
      </p:sp>
      <p:pic>
        <p:nvPicPr>
          <p:cNvPr id="5" name="Image 0" descr="preencoded.png"/>
          <p:cNvPicPr>
            <a:picLocks noChangeAspect="1"/>
          </p:cNvPicPr>
          <p:nvPr/>
        </p:nvPicPr>
        <p:blipFill>
          <a:blip r:embed="rId3"/>
          <a:stretch>
            <a:fillRect/>
          </a:stretch>
        </p:blipFill>
        <p:spPr>
          <a:xfrm>
            <a:off x="5063252" y="2464237"/>
            <a:ext cx="4503896" cy="4503896"/>
          </a:xfrm>
          <a:prstGeom prst="rect">
            <a:avLst/>
          </a:prstGeom>
        </p:spPr>
      </p:pic>
      <p:sp>
        <p:nvSpPr>
          <p:cNvPr id="6" name="Text 3"/>
          <p:cNvSpPr/>
          <p:nvPr/>
        </p:nvSpPr>
        <p:spPr>
          <a:xfrm>
            <a:off x="6012180" y="3366135"/>
            <a:ext cx="376595" cy="470773"/>
          </a:xfrm>
          <a:prstGeom prst="rect">
            <a:avLst/>
          </a:prstGeom>
          <a:noFill/>
          <a:ln/>
        </p:spPr>
        <p:txBody>
          <a:bodyPr wrap="none" lIns="0" tIns="0" rIns="0" bIns="0" rtlCol="0" anchor="t"/>
          <a:lstStyle/>
          <a:p>
            <a:pPr marL="0" indent="0" algn="l">
              <a:lnSpc>
                <a:spcPts val="4700"/>
              </a:lnSpc>
              <a:buNone/>
            </a:pPr>
            <a:r>
              <a:rPr lang="en-US" sz="2950" b="1" dirty="0">
                <a:solidFill>
                  <a:srgbClr val="D7D4CC"/>
                </a:solidFill>
                <a:latin typeface="Comfortaa Bold" pitchFamily="34" charset="0"/>
                <a:ea typeface="Comfortaa Bold" pitchFamily="34" charset="-122"/>
                <a:cs typeface="Comfortaa Bold" pitchFamily="34" charset="-120"/>
              </a:rPr>
              <a:t>1</a:t>
            </a:r>
            <a:endParaRPr lang="en-US" sz="2950" dirty="0"/>
          </a:p>
        </p:txBody>
      </p:sp>
      <p:sp>
        <p:nvSpPr>
          <p:cNvPr id="7" name="Text 4"/>
          <p:cNvSpPr/>
          <p:nvPr/>
        </p:nvSpPr>
        <p:spPr>
          <a:xfrm>
            <a:off x="9944695" y="2616518"/>
            <a:ext cx="3349228" cy="349687"/>
          </a:xfrm>
          <a:prstGeom prst="rect">
            <a:avLst/>
          </a:prstGeom>
          <a:noFill/>
          <a:ln/>
        </p:spPr>
        <p:txBody>
          <a:bodyPr wrap="none" lIns="0" tIns="0" rIns="0" bIns="0" rtlCol="0" anchor="t"/>
          <a:lstStyle/>
          <a:p>
            <a:pPr marL="0" indent="0" algn="l">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Investigació autònoma</a:t>
            </a:r>
            <a:endParaRPr lang="en-US" sz="2200" dirty="0"/>
          </a:p>
        </p:txBody>
      </p:sp>
      <p:sp>
        <p:nvSpPr>
          <p:cNvPr id="8" name="Text 5"/>
          <p:cNvSpPr/>
          <p:nvPr/>
        </p:nvSpPr>
        <p:spPr>
          <a:xfrm>
            <a:off x="9944695" y="3117175"/>
            <a:ext cx="3804642" cy="1208723"/>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Foment de l'aprenentatge basat en problemes i la recerca de solucions per part de l'alumnat</a:t>
            </a:r>
            <a:endParaRPr lang="en-US" sz="1950" dirty="0"/>
          </a:p>
        </p:txBody>
      </p:sp>
      <p:pic>
        <p:nvPicPr>
          <p:cNvPr id="9" name="Image 1" descr="preencoded.png"/>
          <p:cNvPicPr>
            <a:picLocks noChangeAspect="1"/>
          </p:cNvPicPr>
          <p:nvPr/>
        </p:nvPicPr>
        <p:blipFill>
          <a:blip r:embed="rId4"/>
          <a:stretch>
            <a:fillRect/>
          </a:stretch>
        </p:blipFill>
        <p:spPr>
          <a:xfrm>
            <a:off x="5063252" y="2464237"/>
            <a:ext cx="4503896" cy="4503896"/>
          </a:xfrm>
          <a:prstGeom prst="rect">
            <a:avLst/>
          </a:prstGeom>
        </p:spPr>
      </p:pic>
      <p:sp>
        <p:nvSpPr>
          <p:cNvPr id="10" name="Text 6"/>
          <p:cNvSpPr/>
          <p:nvPr/>
        </p:nvSpPr>
        <p:spPr>
          <a:xfrm>
            <a:off x="8241387" y="3366135"/>
            <a:ext cx="376595" cy="470773"/>
          </a:xfrm>
          <a:prstGeom prst="rect">
            <a:avLst/>
          </a:prstGeom>
          <a:noFill/>
          <a:ln/>
        </p:spPr>
        <p:txBody>
          <a:bodyPr wrap="none" lIns="0" tIns="0" rIns="0" bIns="0" rtlCol="0" anchor="t"/>
          <a:lstStyle/>
          <a:p>
            <a:pPr marL="0" indent="0" algn="l">
              <a:lnSpc>
                <a:spcPts val="4700"/>
              </a:lnSpc>
              <a:buNone/>
            </a:pPr>
            <a:r>
              <a:rPr lang="en-US" sz="2950" b="1" dirty="0">
                <a:solidFill>
                  <a:srgbClr val="D7D4CC"/>
                </a:solidFill>
                <a:latin typeface="Comfortaa Bold" pitchFamily="34" charset="0"/>
                <a:ea typeface="Comfortaa Bold" pitchFamily="34" charset="-122"/>
                <a:cs typeface="Comfortaa Bold" pitchFamily="34" charset="-120"/>
              </a:rPr>
              <a:t>2</a:t>
            </a:r>
            <a:endParaRPr lang="en-US" sz="2950" dirty="0"/>
          </a:p>
        </p:txBody>
      </p:sp>
      <p:sp>
        <p:nvSpPr>
          <p:cNvPr id="11" name="Text 7"/>
          <p:cNvSpPr/>
          <p:nvPr/>
        </p:nvSpPr>
        <p:spPr>
          <a:xfrm>
            <a:off x="9944695" y="5281255"/>
            <a:ext cx="2892504" cy="349687"/>
          </a:xfrm>
          <a:prstGeom prst="rect">
            <a:avLst/>
          </a:prstGeom>
          <a:noFill/>
          <a:ln/>
        </p:spPr>
        <p:txBody>
          <a:bodyPr wrap="none" lIns="0" tIns="0" rIns="0" bIns="0" rtlCol="0" anchor="t"/>
          <a:lstStyle/>
          <a:p>
            <a:pPr marL="0" indent="0" algn="l">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Metodologia Scrum</a:t>
            </a:r>
            <a:endParaRPr lang="en-US" sz="2200" dirty="0"/>
          </a:p>
        </p:txBody>
      </p:sp>
      <p:sp>
        <p:nvSpPr>
          <p:cNvPr id="12" name="Text 8"/>
          <p:cNvSpPr/>
          <p:nvPr/>
        </p:nvSpPr>
        <p:spPr>
          <a:xfrm>
            <a:off x="9944695" y="5781913"/>
            <a:ext cx="3804642" cy="1208723"/>
          </a:xfrm>
          <a:prstGeom prst="rect">
            <a:avLst/>
          </a:prstGeom>
          <a:noFill/>
          <a:ln/>
        </p:spPr>
        <p:txBody>
          <a:bodyPr wrap="square" lIns="0" tIns="0" rIns="0" bIns="0" rtlCol="0" anchor="t"/>
          <a:lstStyle/>
          <a:p>
            <a:pPr marL="0" indent="0" algn="l">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Aplicació de metodologies àgils per a la gestió eficient del projecte i el treball col·laboratiu</a:t>
            </a:r>
            <a:endParaRPr lang="en-US" sz="1950" dirty="0"/>
          </a:p>
        </p:txBody>
      </p:sp>
      <p:pic>
        <p:nvPicPr>
          <p:cNvPr id="13" name="Image 2" descr="preencoded.png"/>
          <p:cNvPicPr>
            <a:picLocks noChangeAspect="1"/>
          </p:cNvPicPr>
          <p:nvPr/>
        </p:nvPicPr>
        <p:blipFill>
          <a:blip r:embed="rId5"/>
          <a:stretch>
            <a:fillRect/>
          </a:stretch>
        </p:blipFill>
        <p:spPr>
          <a:xfrm>
            <a:off x="5063252" y="2464237"/>
            <a:ext cx="4503896" cy="4503896"/>
          </a:xfrm>
          <a:prstGeom prst="rect">
            <a:avLst/>
          </a:prstGeom>
        </p:spPr>
      </p:pic>
      <p:sp>
        <p:nvSpPr>
          <p:cNvPr id="14" name="Text 9"/>
          <p:cNvSpPr/>
          <p:nvPr/>
        </p:nvSpPr>
        <p:spPr>
          <a:xfrm>
            <a:off x="8241387" y="5595342"/>
            <a:ext cx="376595" cy="470773"/>
          </a:xfrm>
          <a:prstGeom prst="rect">
            <a:avLst/>
          </a:prstGeom>
          <a:noFill/>
          <a:ln/>
        </p:spPr>
        <p:txBody>
          <a:bodyPr wrap="none" lIns="0" tIns="0" rIns="0" bIns="0" rtlCol="0" anchor="t"/>
          <a:lstStyle/>
          <a:p>
            <a:pPr marL="0" indent="0" algn="l">
              <a:lnSpc>
                <a:spcPts val="4700"/>
              </a:lnSpc>
              <a:buNone/>
            </a:pPr>
            <a:r>
              <a:rPr lang="en-US" sz="2950" b="1" dirty="0">
                <a:solidFill>
                  <a:srgbClr val="D7D4CC"/>
                </a:solidFill>
                <a:latin typeface="Comfortaa Bold" pitchFamily="34" charset="0"/>
                <a:ea typeface="Comfortaa Bold" pitchFamily="34" charset="-122"/>
                <a:cs typeface="Comfortaa Bold" pitchFamily="34" charset="-120"/>
              </a:rPr>
              <a:t>3</a:t>
            </a:r>
            <a:endParaRPr lang="en-US" sz="2950" dirty="0"/>
          </a:p>
        </p:txBody>
      </p:sp>
      <p:sp>
        <p:nvSpPr>
          <p:cNvPr id="15" name="Text 10"/>
          <p:cNvSpPr/>
          <p:nvPr/>
        </p:nvSpPr>
        <p:spPr>
          <a:xfrm>
            <a:off x="1489829" y="5079802"/>
            <a:ext cx="3195876" cy="349687"/>
          </a:xfrm>
          <a:prstGeom prst="rect">
            <a:avLst/>
          </a:prstGeom>
          <a:noFill/>
          <a:ln/>
        </p:spPr>
        <p:txBody>
          <a:bodyPr wrap="none" lIns="0" tIns="0" rIns="0" bIns="0" rtlCol="0" anchor="t"/>
          <a:lstStyle/>
          <a:p>
            <a:pPr marL="0" indent="0" algn="r">
              <a:lnSpc>
                <a:spcPts val="2750"/>
              </a:lnSpc>
              <a:buNone/>
            </a:pPr>
            <a:r>
              <a:rPr lang="en-US" sz="2200" b="1" dirty="0">
                <a:solidFill>
                  <a:srgbClr val="D7D4CC"/>
                </a:solidFill>
                <a:latin typeface="Comfortaa Bold" pitchFamily="34" charset="0"/>
                <a:ea typeface="Comfortaa Bold" pitchFamily="34" charset="-122"/>
                <a:cs typeface="Comfortaa Bold" pitchFamily="34" charset="-120"/>
              </a:rPr>
              <a:t>Feedback constructiu</a:t>
            </a:r>
            <a:endParaRPr lang="en-US" sz="2200" dirty="0"/>
          </a:p>
        </p:txBody>
      </p:sp>
      <p:sp>
        <p:nvSpPr>
          <p:cNvPr id="16" name="Text 11"/>
          <p:cNvSpPr/>
          <p:nvPr/>
        </p:nvSpPr>
        <p:spPr>
          <a:xfrm>
            <a:off x="881063" y="5580459"/>
            <a:ext cx="3804642" cy="1611630"/>
          </a:xfrm>
          <a:prstGeom prst="rect">
            <a:avLst/>
          </a:prstGeom>
          <a:noFill/>
          <a:ln/>
        </p:spPr>
        <p:txBody>
          <a:bodyPr wrap="square" lIns="0" tIns="0" rIns="0" bIns="0" rtlCol="0" anchor="t"/>
          <a:lstStyle/>
          <a:p>
            <a:pPr marL="0" indent="0" algn="r">
              <a:lnSpc>
                <a:spcPts val="3150"/>
              </a:lnSpc>
              <a:buNone/>
            </a:pPr>
            <a:r>
              <a:rPr lang="en-US" sz="1950" dirty="0">
                <a:solidFill>
                  <a:srgbClr val="D7D4CC"/>
                </a:solidFill>
                <a:latin typeface="Raleway Medium" pitchFamily="34" charset="0"/>
                <a:ea typeface="Raleway Medium" pitchFamily="34" charset="-122"/>
                <a:cs typeface="Raleway Medium" pitchFamily="34" charset="-120"/>
              </a:rPr>
              <a:t>Revisions periòdiques del treball amb retroalimentació per millorar el procés d'aprenentatge</a:t>
            </a:r>
            <a:endParaRPr lang="en-US" sz="1950" dirty="0"/>
          </a:p>
        </p:txBody>
      </p:sp>
      <p:pic>
        <p:nvPicPr>
          <p:cNvPr id="17" name="Image 3" descr="preencoded.png"/>
          <p:cNvPicPr>
            <a:picLocks noChangeAspect="1"/>
          </p:cNvPicPr>
          <p:nvPr/>
        </p:nvPicPr>
        <p:blipFill>
          <a:blip r:embed="rId6"/>
          <a:stretch>
            <a:fillRect/>
          </a:stretch>
        </p:blipFill>
        <p:spPr>
          <a:xfrm>
            <a:off x="5063252" y="2464237"/>
            <a:ext cx="4503896" cy="4503896"/>
          </a:xfrm>
          <a:prstGeom prst="rect">
            <a:avLst/>
          </a:prstGeom>
        </p:spPr>
      </p:pic>
      <p:sp>
        <p:nvSpPr>
          <p:cNvPr id="18" name="Text 12"/>
          <p:cNvSpPr/>
          <p:nvPr/>
        </p:nvSpPr>
        <p:spPr>
          <a:xfrm>
            <a:off x="6012180" y="5595342"/>
            <a:ext cx="376595" cy="470773"/>
          </a:xfrm>
          <a:prstGeom prst="rect">
            <a:avLst/>
          </a:prstGeom>
          <a:noFill/>
          <a:ln/>
        </p:spPr>
        <p:txBody>
          <a:bodyPr wrap="none" lIns="0" tIns="0" rIns="0" bIns="0" rtlCol="0" anchor="t"/>
          <a:lstStyle/>
          <a:p>
            <a:pPr marL="0" indent="0" algn="l">
              <a:lnSpc>
                <a:spcPts val="4700"/>
              </a:lnSpc>
              <a:buNone/>
            </a:pPr>
            <a:r>
              <a:rPr lang="en-US" sz="2950" b="1" dirty="0">
                <a:solidFill>
                  <a:srgbClr val="D7D4CC"/>
                </a:solidFill>
                <a:latin typeface="Comfortaa Bold" pitchFamily="34" charset="0"/>
                <a:ea typeface="Comfortaa Bold" pitchFamily="34" charset="-122"/>
                <a:cs typeface="Comfortaa Bold" pitchFamily="34" charset="-120"/>
              </a:rPr>
              <a:t>4</a:t>
            </a:r>
            <a:endParaRPr lang="en-US" sz="2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4745" y="640080"/>
            <a:ext cx="4405789" cy="420291"/>
          </a:xfrm>
          <a:prstGeom prst="rect">
            <a:avLst/>
          </a:prstGeom>
          <a:noFill/>
          <a:ln/>
        </p:spPr>
        <p:txBody>
          <a:bodyPr wrap="none" lIns="0" tIns="0" rIns="0" bIns="0" rtlCol="0" anchor="t"/>
          <a:lstStyle/>
          <a:p>
            <a:pPr marL="0" indent="0" algn="l">
              <a:lnSpc>
                <a:spcPts val="3300"/>
              </a:lnSpc>
              <a:buNone/>
            </a:pPr>
            <a:r>
              <a:rPr lang="en-US" sz="2600" b="1" dirty="0">
                <a:solidFill>
                  <a:srgbClr val="FFE14D"/>
                </a:solidFill>
                <a:latin typeface="Comfortaa Bold" pitchFamily="34" charset="0"/>
                <a:ea typeface="Comfortaa Bold" pitchFamily="34" charset="-122"/>
                <a:cs typeface="Comfortaa Bold" pitchFamily="34" charset="-120"/>
              </a:rPr>
              <a:t>Arquitectura del Projecte</a:t>
            </a:r>
            <a:endParaRPr lang="en-US" sz="2600" dirty="0"/>
          </a:p>
        </p:txBody>
      </p:sp>
      <p:pic>
        <p:nvPicPr>
          <p:cNvPr id="3" name="Image 0" descr="preencoded.png"/>
          <p:cNvPicPr>
            <a:picLocks noChangeAspect="1"/>
          </p:cNvPicPr>
          <p:nvPr/>
        </p:nvPicPr>
        <p:blipFill>
          <a:blip r:embed="rId3"/>
          <a:stretch>
            <a:fillRect/>
          </a:stretch>
        </p:blipFill>
        <p:spPr>
          <a:xfrm>
            <a:off x="814745" y="1362908"/>
            <a:ext cx="11898154" cy="3910489"/>
          </a:xfrm>
          <a:prstGeom prst="rect">
            <a:avLst/>
          </a:prstGeom>
        </p:spPr>
      </p:pic>
      <p:sp>
        <p:nvSpPr>
          <p:cNvPr id="4" name="Shape 1"/>
          <p:cNvSpPr/>
          <p:nvPr/>
        </p:nvSpPr>
        <p:spPr>
          <a:xfrm>
            <a:off x="814745" y="5443537"/>
            <a:ext cx="4232791" cy="2146340"/>
          </a:xfrm>
          <a:prstGeom prst="roundRect">
            <a:avLst>
              <a:gd name="adj" fmla="val 10575"/>
            </a:avLst>
          </a:prstGeom>
          <a:solidFill>
            <a:srgbClr val="46464A"/>
          </a:solidFill>
          <a:ln/>
        </p:spPr>
        <p:txBody>
          <a:bodyPr/>
          <a:lstStyle/>
          <a:p>
            <a:endParaRPr lang="es-ES"/>
          </a:p>
        </p:txBody>
      </p:sp>
      <p:sp>
        <p:nvSpPr>
          <p:cNvPr id="5" name="Text 2"/>
          <p:cNvSpPr/>
          <p:nvPr/>
        </p:nvSpPr>
        <p:spPr>
          <a:xfrm>
            <a:off x="965954" y="5594747"/>
            <a:ext cx="1681162" cy="210145"/>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Front-end (Client)</a:t>
            </a:r>
            <a:endParaRPr lang="en-US" sz="1300" dirty="0"/>
          </a:p>
        </p:txBody>
      </p:sp>
      <p:sp>
        <p:nvSpPr>
          <p:cNvPr id="6" name="Text 3"/>
          <p:cNvSpPr/>
          <p:nvPr/>
        </p:nvSpPr>
        <p:spPr>
          <a:xfrm>
            <a:off x="965954" y="5895618"/>
            <a:ext cx="3930372" cy="726162"/>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Basat en l'arquitectura Single Page Application (SPA) utilitzant el framework Angular, responsable de generar i gestionar les vistes del lloc web.</a:t>
            </a:r>
            <a:endParaRPr lang="en-US" sz="1150" dirty="0"/>
          </a:p>
        </p:txBody>
      </p:sp>
      <p:sp>
        <p:nvSpPr>
          <p:cNvPr id="7" name="Text 4"/>
          <p:cNvSpPr/>
          <p:nvPr/>
        </p:nvSpPr>
        <p:spPr>
          <a:xfrm>
            <a:off x="965954" y="6712506"/>
            <a:ext cx="3930372" cy="726162"/>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Aquesta capa s'encarrega de la interacció directa amb l'usuari i proporciona una experiència fluid sense necessitat de recarregar la pàgina.</a:t>
            </a:r>
            <a:endParaRPr lang="en-US" sz="1150" dirty="0"/>
          </a:p>
        </p:txBody>
      </p:sp>
      <p:sp>
        <p:nvSpPr>
          <p:cNvPr id="8" name="Shape 5"/>
          <p:cNvSpPr/>
          <p:nvPr/>
        </p:nvSpPr>
        <p:spPr>
          <a:xfrm>
            <a:off x="5198745" y="5443537"/>
            <a:ext cx="4232791" cy="2146340"/>
          </a:xfrm>
          <a:prstGeom prst="roundRect">
            <a:avLst>
              <a:gd name="adj" fmla="val 10575"/>
            </a:avLst>
          </a:prstGeom>
          <a:solidFill>
            <a:srgbClr val="46464A"/>
          </a:solidFill>
          <a:ln/>
        </p:spPr>
        <p:txBody>
          <a:bodyPr/>
          <a:lstStyle/>
          <a:p>
            <a:endParaRPr lang="es-ES"/>
          </a:p>
        </p:txBody>
      </p:sp>
      <p:sp>
        <p:nvSpPr>
          <p:cNvPr id="9" name="Text 6"/>
          <p:cNvSpPr/>
          <p:nvPr/>
        </p:nvSpPr>
        <p:spPr>
          <a:xfrm>
            <a:off x="5349954" y="5594747"/>
            <a:ext cx="1730931" cy="210145"/>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Back-end (Servidor)</a:t>
            </a:r>
            <a:endParaRPr lang="en-US" sz="1300" dirty="0"/>
          </a:p>
        </p:txBody>
      </p:sp>
      <p:sp>
        <p:nvSpPr>
          <p:cNvPr id="10" name="Text 7"/>
          <p:cNvSpPr/>
          <p:nvPr/>
        </p:nvSpPr>
        <p:spPr>
          <a:xfrm>
            <a:off x="5349954" y="5895618"/>
            <a:ext cx="3930372" cy="968216"/>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Desenvolupat amb el framework Laravel, actua com a intermediari entre el client i la base de dades, proporcionant una API per a les operacions necessàries.</a:t>
            </a:r>
            <a:endParaRPr lang="en-US" sz="1150" dirty="0"/>
          </a:p>
        </p:txBody>
      </p:sp>
      <p:sp>
        <p:nvSpPr>
          <p:cNvPr id="11" name="Text 8"/>
          <p:cNvSpPr/>
          <p:nvPr/>
        </p:nvSpPr>
        <p:spPr>
          <a:xfrm>
            <a:off x="5349954" y="6954560"/>
            <a:ext cx="3930372" cy="484108"/>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Gestiona la lògica de negoci i processa les peticions del client, retornant les dades en format JSON.</a:t>
            </a:r>
            <a:endParaRPr lang="en-US" sz="1150" dirty="0"/>
          </a:p>
        </p:txBody>
      </p:sp>
      <p:sp>
        <p:nvSpPr>
          <p:cNvPr id="12" name="Shape 9"/>
          <p:cNvSpPr/>
          <p:nvPr/>
        </p:nvSpPr>
        <p:spPr>
          <a:xfrm>
            <a:off x="9582745" y="5443537"/>
            <a:ext cx="4232791" cy="2146340"/>
          </a:xfrm>
          <a:prstGeom prst="roundRect">
            <a:avLst>
              <a:gd name="adj" fmla="val 10575"/>
            </a:avLst>
          </a:prstGeom>
          <a:solidFill>
            <a:srgbClr val="46464A"/>
          </a:solidFill>
          <a:ln/>
        </p:spPr>
        <p:txBody>
          <a:bodyPr/>
          <a:lstStyle/>
          <a:p>
            <a:endParaRPr lang="es-ES"/>
          </a:p>
        </p:txBody>
      </p:sp>
      <p:sp>
        <p:nvSpPr>
          <p:cNvPr id="13" name="Text 10"/>
          <p:cNvSpPr/>
          <p:nvPr/>
        </p:nvSpPr>
        <p:spPr>
          <a:xfrm>
            <a:off x="9733955" y="5594747"/>
            <a:ext cx="1681162" cy="210145"/>
          </a:xfrm>
          <a:prstGeom prst="rect">
            <a:avLst/>
          </a:prstGeom>
          <a:noFill/>
          <a:ln/>
        </p:spPr>
        <p:txBody>
          <a:bodyPr wrap="none" lIns="0" tIns="0" rIns="0" bIns="0" rtlCol="0" anchor="t"/>
          <a:lstStyle/>
          <a:p>
            <a:pPr marL="0" indent="0" algn="l">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Base de Dades</a:t>
            </a:r>
            <a:endParaRPr lang="en-US" sz="1300" dirty="0"/>
          </a:p>
        </p:txBody>
      </p:sp>
      <p:sp>
        <p:nvSpPr>
          <p:cNvPr id="14" name="Text 11"/>
          <p:cNvSpPr/>
          <p:nvPr/>
        </p:nvSpPr>
        <p:spPr>
          <a:xfrm>
            <a:off x="9733955" y="5895618"/>
            <a:ext cx="3930372" cy="726162"/>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Utilitza MySQL com a sistema de gestió, emmagatzemant tota la informació necessària per al funcionament de l'aplicació.</a:t>
            </a:r>
            <a:endParaRPr lang="en-US" sz="1150" dirty="0"/>
          </a:p>
        </p:txBody>
      </p:sp>
      <p:sp>
        <p:nvSpPr>
          <p:cNvPr id="15" name="Text 12"/>
          <p:cNvSpPr/>
          <p:nvPr/>
        </p:nvSpPr>
        <p:spPr>
          <a:xfrm>
            <a:off x="9733955" y="6712506"/>
            <a:ext cx="3930372" cy="484108"/>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El backend (Laravel) és l'únic component que interacciona directament amb la base de dades.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80348" y="692944"/>
            <a:ext cx="4663440" cy="523994"/>
          </a:xfrm>
          <a:prstGeom prst="rect">
            <a:avLst/>
          </a:prstGeom>
          <a:noFill/>
          <a:ln/>
        </p:spPr>
        <p:txBody>
          <a:bodyPr wrap="none" lIns="0" tIns="0" rIns="0" bIns="0" rtlCol="0" anchor="t"/>
          <a:lstStyle/>
          <a:p>
            <a:pPr marL="0" indent="0" algn="l">
              <a:lnSpc>
                <a:spcPts val="4100"/>
              </a:lnSpc>
              <a:buNone/>
            </a:pPr>
            <a:r>
              <a:rPr lang="en-US" sz="3300" b="1" dirty="0">
                <a:solidFill>
                  <a:srgbClr val="FFE14D"/>
                </a:solidFill>
                <a:latin typeface="Comfortaa Bold" pitchFamily="34" charset="0"/>
                <a:ea typeface="Comfortaa Bold" pitchFamily="34" charset="-122"/>
                <a:cs typeface="Comfortaa Bold" pitchFamily="34" charset="-120"/>
              </a:rPr>
              <a:t>Planificació temporal</a:t>
            </a:r>
            <a:endParaRPr lang="en-US" sz="3300" dirty="0"/>
          </a:p>
        </p:txBody>
      </p:sp>
      <p:pic>
        <p:nvPicPr>
          <p:cNvPr id="3" name="Image 0" descr="preencoded.png"/>
          <p:cNvPicPr>
            <a:picLocks noChangeAspect="1"/>
          </p:cNvPicPr>
          <p:nvPr/>
        </p:nvPicPr>
        <p:blipFill>
          <a:blip r:embed="rId3"/>
          <a:stretch>
            <a:fillRect/>
          </a:stretch>
        </p:blipFill>
        <p:spPr>
          <a:xfrm>
            <a:off x="2363153" y="1594128"/>
            <a:ext cx="9904095" cy="59424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81063" y="761524"/>
            <a:ext cx="4755475" cy="594360"/>
          </a:xfrm>
          <a:prstGeom prst="rect">
            <a:avLst/>
          </a:prstGeom>
          <a:noFill/>
          <a:ln/>
        </p:spPr>
        <p:txBody>
          <a:bodyPr wrap="none" lIns="0" tIns="0" rIns="0" bIns="0" rtlCol="0" anchor="t"/>
          <a:lstStyle/>
          <a:p>
            <a:pPr marL="0" indent="0" algn="l">
              <a:lnSpc>
                <a:spcPts val="4650"/>
              </a:lnSpc>
              <a:buNone/>
            </a:pPr>
            <a:r>
              <a:rPr lang="en-US" sz="3700" b="1" dirty="0">
                <a:solidFill>
                  <a:srgbClr val="FFE14D"/>
                </a:solidFill>
                <a:latin typeface="Comfortaa Bold" pitchFamily="34" charset="0"/>
                <a:ea typeface="Comfortaa Bold" pitchFamily="34" charset="-122"/>
                <a:cs typeface="Comfortaa Bold" pitchFamily="34" charset="-120"/>
              </a:rPr>
              <a:t>Bloc 1 - Anàlisi</a:t>
            </a:r>
            <a:endParaRPr lang="en-US" sz="3700" dirty="0"/>
          </a:p>
        </p:txBody>
      </p:sp>
      <p:sp>
        <p:nvSpPr>
          <p:cNvPr id="3" name="Shape 1"/>
          <p:cNvSpPr/>
          <p:nvPr/>
        </p:nvSpPr>
        <p:spPr>
          <a:xfrm>
            <a:off x="7299960" y="1783794"/>
            <a:ext cx="30480" cy="4758809"/>
          </a:xfrm>
          <a:prstGeom prst="roundRect">
            <a:avLst>
              <a:gd name="adj" fmla="val 1053156"/>
            </a:avLst>
          </a:prstGeom>
          <a:solidFill>
            <a:srgbClr val="5F5F63"/>
          </a:solidFill>
          <a:ln/>
        </p:spPr>
        <p:txBody>
          <a:bodyPr/>
          <a:lstStyle/>
          <a:p>
            <a:endParaRPr lang="es-ES"/>
          </a:p>
        </p:txBody>
      </p:sp>
      <p:sp>
        <p:nvSpPr>
          <p:cNvPr id="4" name="Shape 2"/>
          <p:cNvSpPr/>
          <p:nvPr/>
        </p:nvSpPr>
        <p:spPr>
          <a:xfrm>
            <a:off x="6462951" y="2009299"/>
            <a:ext cx="641985" cy="30480"/>
          </a:xfrm>
          <a:prstGeom prst="roundRect">
            <a:avLst>
              <a:gd name="adj" fmla="val 1053156"/>
            </a:avLst>
          </a:prstGeom>
          <a:solidFill>
            <a:srgbClr val="5F5F63"/>
          </a:solidFill>
          <a:ln/>
        </p:spPr>
        <p:txBody>
          <a:bodyPr/>
          <a:lstStyle/>
          <a:p>
            <a:endParaRPr lang="es-ES"/>
          </a:p>
        </p:txBody>
      </p:sp>
      <p:sp>
        <p:nvSpPr>
          <p:cNvPr id="5" name="Shape 3"/>
          <p:cNvSpPr/>
          <p:nvPr/>
        </p:nvSpPr>
        <p:spPr>
          <a:xfrm>
            <a:off x="7074456" y="1783794"/>
            <a:ext cx="481489" cy="481489"/>
          </a:xfrm>
          <a:prstGeom prst="roundRect">
            <a:avLst>
              <a:gd name="adj" fmla="val 66669"/>
            </a:avLst>
          </a:prstGeom>
          <a:solidFill>
            <a:srgbClr val="46464A"/>
          </a:solidFill>
          <a:ln/>
        </p:spPr>
        <p:txBody>
          <a:bodyPr/>
          <a:lstStyle/>
          <a:p>
            <a:endParaRPr lang="es-ES"/>
          </a:p>
        </p:txBody>
      </p:sp>
      <p:pic>
        <p:nvPicPr>
          <p:cNvPr id="6" name="Image 0" descr="preencoded.png"/>
          <p:cNvPicPr>
            <a:picLocks noChangeAspect="1"/>
          </p:cNvPicPr>
          <p:nvPr/>
        </p:nvPicPr>
        <p:blipFill>
          <a:blip r:embed="rId3"/>
          <a:stretch>
            <a:fillRect/>
          </a:stretch>
        </p:blipFill>
        <p:spPr>
          <a:xfrm>
            <a:off x="7172563" y="1846243"/>
            <a:ext cx="285274" cy="356592"/>
          </a:xfrm>
          <a:prstGeom prst="rect">
            <a:avLst/>
          </a:prstGeom>
        </p:spPr>
      </p:pic>
      <p:sp>
        <p:nvSpPr>
          <p:cNvPr id="7" name="Text 4"/>
          <p:cNvSpPr/>
          <p:nvPr/>
        </p:nvSpPr>
        <p:spPr>
          <a:xfrm>
            <a:off x="881063" y="1857256"/>
            <a:ext cx="5364242" cy="594360"/>
          </a:xfrm>
          <a:prstGeom prst="rect">
            <a:avLst/>
          </a:prstGeom>
          <a:noFill/>
          <a:ln/>
        </p:spPr>
        <p:txBody>
          <a:bodyPr wrap="square" lIns="0" tIns="0" rIns="0" bIns="0" rtlCol="0" anchor="t"/>
          <a:lstStyle/>
          <a:p>
            <a:pPr marL="0" indent="0" algn="r">
              <a:lnSpc>
                <a:spcPts val="2300"/>
              </a:lnSpc>
              <a:buNone/>
            </a:pPr>
            <a:r>
              <a:rPr lang="en-US" sz="1850" b="1" dirty="0">
                <a:solidFill>
                  <a:srgbClr val="D7D4CC"/>
                </a:solidFill>
                <a:latin typeface="Comfortaa Bold" pitchFamily="34" charset="0"/>
                <a:ea typeface="Comfortaa Bold" pitchFamily="34" charset="-122"/>
                <a:cs typeface="Comfortaa Bold" pitchFamily="34" charset="-120"/>
              </a:rPr>
              <a:t>Sessió 1 (12/09/2024): Introducció, abast i usuaris</a:t>
            </a:r>
            <a:endParaRPr lang="en-US" sz="1850" dirty="0"/>
          </a:p>
        </p:txBody>
      </p:sp>
      <p:sp>
        <p:nvSpPr>
          <p:cNvPr id="8" name="Text 5"/>
          <p:cNvSpPr/>
          <p:nvPr/>
        </p:nvSpPr>
        <p:spPr>
          <a:xfrm>
            <a:off x="881063" y="2579965"/>
            <a:ext cx="5364242" cy="1369219"/>
          </a:xfrm>
          <a:prstGeom prst="rect">
            <a:avLst/>
          </a:prstGeom>
          <a:noFill/>
          <a:ln/>
        </p:spPr>
        <p:txBody>
          <a:bodyPr wrap="square" lIns="0" tIns="0" rIns="0" bIns="0" rtlCol="0" anchor="t"/>
          <a:lstStyle/>
          <a:p>
            <a:pPr marL="0" indent="0" algn="r">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Definició dels objectius principals de l'aplicació i identificació del públic objectiu. Els alumnes analitzaran els diferents tipus d'usuaris potencials del sistema de reserves.</a:t>
            </a:r>
            <a:endParaRPr lang="en-US" sz="1650" dirty="0"/>
          </a:p>
        </p:txBody>
      </p:sp>
      <p:sp>
        <p:nvSpPr>
          <p:cNvPr id="9" name="Shape 6"/>
          <p:cNvSpPr/>
          <p:nvPr/>
        </p:nvSpPr>
        <p:spPr>
          <a:xfrm>
            <a:off x="7525464" y="3293150"/>
            <a:ext cx="641985" cy="30480"/>
          </a:xfrm>
          <a:prstGeom prst="roundRect">
            <a:avLst>
              <a:gd name="adj" fmla="val 1053156"/>
            </a:avLst>
          </a:prstGeom>
          <a:solidFill>
            <a:srgbClr val="5F5F63"/>
          </a:solidFill>
          <a:ln/>
        </p:spPr>
        <p:txBody>
          <a:bodyPr/>
          <a:lstStyle/>
          <a:p>
            <a:endParaRPr lang="es-ES"/>
          </a:p>
        </p:txBody>
      </p:sp>
      <p:sp>
        <p:nvSpPr>
          <p:cNvPr id="10" name="Shape 7"/>
          <p:cNvSpPr/>
          <p:nvPr/>
        </p:nvSpPr>
        <p:spPr>
          <a:xfrm>
            <a:off x="7074456" y="3067645"/>
            <a:ext cx="481489" cy="481489"/>
          </a:xfrm>
          <a:prstGeom prst="roundRect">
            <a:avLst>
              <a:gd name="adj" fmla="val 66669"/>
            </a:avLst>
          </a:prstGeom>
          <a:solidFill>
            <a:srgbClr val="46464A"/>
          </a:solidFill>
          <a:ln/>
        </p:spPr>
        <p:txBody>
          <a:bodyPr/>
          <a:lstStyle/>
          <a:p>
            <a:endParaRPr lang="es-ES"/>
          </a:p>
        </p:txBody>
      </p:sp>
      <p:pic>
        <p:nvPicPr>
          <p:cNvPr id="11" name="Image 1" descr="preencoded.png"/>
          <p:cNvPicPr>
            <a:picLocks noChangeAspect="1"/>
          </p:cNvPicPr>
          <p:nvPr/>
        </p:nvPicPr>
        <p:blipFill>
          <a:blip r:embed="rId4"/>
          <a:stretch>
            <a:fillRect/>
          </a:stretch>
        </p:blipFill>
        <p:spPr>
          <a:xfrm>
            <a:off x="7172563" y="3130094"/>
            <a:ext cx="285274" cy="356592"/>
          </a:xfrm>
          <a:prstGeom prst="rect">
            <a:avLst/>
          </a:prstGeom>
        </p:spPr>
      </p:pic>
      <p:sp>
        <p:nvSpPr>
          <p:cNvPr id="12" name="Text 8"/>
          <p:cNvSpPr/>
          <p:nvPr/>
        </p:nvSpPr>
        <p:spPr>
          <a:xfrm>
            <a:off x="8385096" y="3141107"/>
            <a:ext cx="5364242" cy="594360"/>
          </a:xfrm>
          <a:prstGeom prst="rect">
            <a:avLst/>
          </a:prstGeom>
          <a:noFill/>
          <a:ln/>
        </p:spPr>
        <p:txBody>
          <a:bodyPr wrap="square" lIns="0" tIns="0" rIns="0" bIns="0" rtlCol="0" anchor="t"/>
          <a:lstStyle/>
          <a:p>
            <a:pPr marL="0" indent="0" algn="l">
              <a:lnSpc>
                <a:spcPts val="2300"/>
              </a:lnSpc>
              <a:buNone/>
            </a:pPr>
            <a:r>
              <a:rPr lang="en-US" sz="1850" b="1" dirty="0">
                <a:solidFill>
                  <a:srgbClr val="D7D4CC"/>
                </a:solidFill>
                <a:latin typeface="Comfortaa Bold" pitchFamily="34" charset="0"/>
                <a:ea typeface="Comfortaa Bold" pitchFamily="34" charset="-122"/>
                <a:cs typeface="Comfortaa Bold" pitchFamily="34" charset="-120"/>
              </a:rPr>
              <a:t>Sessió 2 (17/09/2024): Anàlisi d'aplicacions similars</a:t>
            </a:r>
            <a:endParaRPr lang="en-US" sz="1850" dirty="0"/>
          </a:p>
        </p:txBody>
      </p:sp>
      <p:sp>
        <p:nvSpPr>
          <p:cNvPr id="13" name="Text 9"/>
          <p:cNvSpPr/>
          <p:nvPr/>
        </p:nvSpPr>
        <p:spPr>
          <a:xfrm>
            <a:off x="8385096" y="3863816"/>
            <a:ext cx="5364242" cy="1369219"/>
          </a:xfrm>
          <a:prstGeom prst="rect">
            <a:avLst/>
          </a:prstGeom>
          <a:noFill/>
          <a:ln/>
        </p:spPr>
        <p:txBody>
          <a:bodyPr wrap="square" lIns="0" tIns="0" rIns="0" bIns="0" rtlCol="0" anchor="t"/>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Investigació i anàlisi d'interfícies d'aplicacions de reserva existents per identificar patrons de disseny comuns i bones pràctiques per a funcionalitats com la reserva i el registre.</a:t>
            </a:r>
            <a:endParaRPr lang="en-US" sz="1650" dirty="0"/>
          </a:p>
        </p:txBody>
      </p:sp>
      <p:sp>
        <p:nvSpPr>
          <p:cNvPr id="14" name="Shape 10"/>
          <p:cNvSpPr/>
          <p:nvPr/>
        </p:nvSpPr>
        <p:spPr>
          <a:xfrm>
            <a:off x="6462951" y="4602599"/>
            <a:ext cx="641985" cy="30480"/>
          </a:xfrm>
          <a:prstGeom prst="roundRect">
            <a:avLst>
              <a:gd name="adj" fmla="val 1053156"/>
            </a:avLst>
          </a:prstGeom>
          <a:solidFill>
            <a:srgbClr val="5F5F63"/>
          </a:solidFill>
          <a:ln/>
        </p:spPr>
        <p:txBody>
          <a:bodyPr/>
          <a:lstStyle/>
          <a:p>
            <a:endParaRPr lang="es-ES"/>
          </a:p>
        </p:txBody>
      </p:sp>
      <p:sp>
        <p:nvSpPr>
          <p:cNvPr id="15" name="Shape 11"/>
          <p:cNvSpPr/>
          <p:nvPr/>
        </p:nvSpPr>
        <p:spPr>
          <a:xfrm>
            <a:off x="7074456" y="4377095"/>
            <a:ext cx="481489" cy="481489"/>
          </a:xfrm>
          <a:prstGeom prst="roundRect">
            <a:avLst>
              <a:gd name="adj" fmla="val 66669"/>
            </a:avLst>
          </a:prstGeom>
          <a:solidFill>
            <a:srgbClr val="46464A"/>
          </a:solidFill>
          <a:ln/>
        </p:spPr>
        <p:txBody>
          <a:bodyPr/>
          <a:lstStyle/>
          <a:p>
            <a:endParaRPr lang="es-ES"/>
          </a:p>
        </p:txBody>
      </p:sp>
      <p:pic>
        <p:nvPicPr>
          <p:cNvPr id="16" name="Image 2" descr="preencoded.png"/>
          <p:cNvPicPr>
            <a:picLocks noChangeAspect="1"/>
          </p:cNvPicPr>
          <p:nvPr/>
        </p:nvPicPr>
        <p:blipFill>
          <a:blip r:embed="rId5"/>
          <a:stretch>
            <a:fillRect/>
          </a:stretch>
        </p:blipFill>
        <p:spPr>
          <a:xfrm>
            <a:off x="7172563" y="4439543"/>
            <a:ext cx="285274" cy="356592"/>
          </a:xfrm>
          <a:prstGeom prst="rect">
            <a:avLst/>
          </a:prstGeom>
        </p:spPr>
      </p:pic>
      <p:sp>
        <p:nvSpPr>
          <p:cNvPr id="17" name="Text 12"/>
          <p:cNvSpPr/>
          <p:nvPr/>
        </p:nvSpPr>
        <p:spPr>
          <a:xfrm>
            <a:off x="881063" y="4450556"/>
            <a:ext cx="5364242" cy="594360"/>
          </a:xfrm>
          <a:prstGeom prst="rect">
            <a:avLst/>
          </a:prstGeom>
          <a:noFill/>
          <a:ln/>
        </p:spPr>
        <p:txBody>
          <a:bodyPr wrap="square" lIns="0" tIns="0" rIns="0" bIns="0" rtlCol="0" anchor="t"/>
          <a:lstStyle/>
          <a:p>
            <a:pPr marL="0" indent="0" algn="r">
              <a:lnSpc>
                <a:spcPts val="2300"/>
              </a:lnSpc>
              <a:buNone/>
            </a:pPr>
            <a:r>
              <a:rPr lang="en-US" sz="1850" b="1" dirty="0">
                <a:solidFill>
                  <a:srgbClr val="D7D4CC"/>
                </a:solidFill>
                <a:latin typeface="Comfortaa Bold" pitchFamily="34" charset="0"/>
                <a:ea typeface="Comfortaa Bold" pitchFamily="34" charset="-122"/>
                <a:cs typeface="Comfortaa Bold" pitchFamily="34" charset="-120"/>
              </a:rPr>
              <a:t>Sessió 3 (19/09/2024): Principis de disseny i anàlisi DAFO</a:t>
            </a:r>
            <a:endParaRPr lang="en-US" sz="1850" dirty="0"/>
          </a:p>
        </p:txBody>
      </p:sp>
      <p:sp>
        <p:nvSpPr>
          <p:cNvPr id="18" name="Text 13"/>
          <p:cNvSpPr/>
          <p:nvPr/>
        </p:nvSpPr>
        <p:spPr>
          <a:xfrm>
            <a:off x="881063" y="5173266"/>
            <a:ext cx="5364242" cy="1369219"/>
          </a:xfrm>
          <a:prstGeom prst="rect">
            <a:avLst/>
          </a:prstGeom>
          <a:noFill/>
          <a:ln/>
        </p:spPr>
        <p:txBody>
          <a:bodyPr wrap="square" lIns="0" tIns="0" rIns="0" bIns="0" rtlCol="0" anchor="t"/>
          <a:lstStyle/>
          <a:p>
            <a:pPr marL="0" indent="0" algn="r">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Aprofundiment en els elements clau del disseny d'interfícies i realització d'una anàlisi DAFO del projecte, identificant fortaleses, debilitats, oportunitats i amenaces.</a:t>
            </a:r>
            <a:endParaRPr lang="en-US" sz="1650" dirty="0"/>
          </a:p>
        </p:txBody>
      </p:sp>
      <p:sp>
        <p:nvSpPr>
          <p:cNvPr id="19" name="Text 14"/>
          <p:cNvSpPr/>
          <p:nvPr/>
        </p:nvSpPr>
        <p:spPr>
          <a:xfrm>
            <a:off x="881063" y="6783348"/>
            <a:ext cx="12868275" cy="684609"/>
          </a:xfrm>
          <a:prstGeom prst="rect">
            <a:avLst/>
          </a:prstGeom>
          <a:noFill/>
          <a:ln/>
        </p:spPr>
        <p:txBody>
          <a:bodyPr wrap="square" lIns="0" tIns="0" rIns="0" bIns="0" rtlCol="0" anchor="t"/>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El Bloc 1 finalitza amb l'entrega del document d'anàlisi el 19/09/2024, que haurà d'incloure la definició del projecte, usuaris/perfils, anàlisi d'interfícies existents i el DAFO.</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81063" y="846177"/>
            <a:ext cx="4475798" cy="559356"/>
          </a:xfrm>
          <a:prstGeom prst="rect">
            <a:avLst/>
          </a:prstGeom>
          <a:noFill/>
          <a:ln/>
        </p:spPr>
        <p:txBody>
          <a:bodyPr wrap="none" lIns="0" tIns="0" rIns="0" bIns="0" rtlCol="0" anchor="t"/>
          <a:lstStyle/>
          <a:p>
            <a:pPr marL="0" indent="0" algn="l">
              <a:lnSpc>
                <a:spcPts val="4400"/>
              </a:lnSpc>
              <a:buNone/>
            </a:pPr>
            <a:r>
              <a:rPr lang="en-US" sz="3500" b="1" dirty="0">
                <a:solidFill>
                  <a:srgbClr val="FFE14D"/>
                </a:solidFill>
                <a:latin typeface="Comfortaa Bold" pitchFamily="34" charset="0"/>
                <a:ea typeface="Comfortaa Bold" pitchFamily="34" charset="-122"/>
                <a:cs typeface="Comfortaa Bold" pitchFamily="34" charset="-120"/>
              </a:rPr>
              <a:t>Bloc 2 - Disseny</a:t>
            </a:r>
            <a:endParaRPr lang="en-US" sz="3500" dirty="0"/>
          </a:p>
        </p:txBody>
      </p:sp>
      <p:sp>
        <p:nvSpPr>
          <p:cNvPr id="3" name="Shape 1"/>
          <p:cNvSpPr/>
          <p:nvPr/>
        </p:nvSpPr>
        <p:spPr>
          <a:xfrm>
            <a:off x="7303770" y="1808321"/>
            <a:ext cx="22860" cy="5026104"/>
          </a:xfrm>
          <a:prstGeom prst="roundRect">
            <a:avLst>
              <a:gd name="adj" fmla="val 1321608"/>
            </a:avLst>
          </a:prstGeom>
          <a:solidFill>
            <a:srgbClr val="5F5F63"/>
          </a:solidFill>
          <a:ln/>
        </p:spPr>
        <p:txBody>
          <a:bodyPr/>
          <a:lstStyle/>
          <a:p>
            <a:endParaRPr lang="es-ES"/>
          </a:p>
        </p:txBody>
      </p:sp>
      <p:sp>
        <p:nvSpPr>
          <p:cNvPr id="4" name="Shape 2"/>
          <p:cNvSpPr/>
          <p:nvPr/>
        </p:nvSpPr>
        <p:spPr>
          <a:xfrm>
            <a:off x="6507361" y="2023467"/>
            <a:ext cx="604123" cy="22860"/>
          </a:xfrm>
          <a:prstGeom prst="roundRect">
            <a:avLst>
              <a:gd name="adj" fmla="val 1321608"/>
            </a:avLst>
          </a:prstGeom>
          <a:solidFill>
            <a:srgbClr val="5F5F63"/>
          </a:solidFill>
          <a:ln/>
        </p:spPr>
        <p:txBody>
          <a:bodyPr/>
          <a:lstStyle/>
          <a:p>
            <a:endParaRPr lang="es-ES"/>
          </a:p>
        </p:txBody>
      </p:sp>
      <p:sp>
        <p:nvSpPr>
          <p:cNvPr id="5" name="Shape 3"/>
          <p:cNvSpPr/>
          <p:nvPr/>
        </p:nvSpPr>
        <p:spPr>
          <a:xfrm>
            <a:off x="7088624" y="1808321"/>
            <a:ext cx="453152" cy="453152"/>
          </a:xfrm>
          <a:prstGeom prst="roundRect">
            <a:avLst>
              <a:gd name="adj" fmla="val 66671"/>
            </a:avLst>
          </a:prstGeom>
          <a:solidFill>
            <a:srgbClr val="46464A"/>
          </a:solidFill>
          <a:ln/>
        </p:spPr>
        <p:txBody>
          <a:bodyPr/>
          <a:lstStyle/>
          <a:p>
            <a:endParaRPr lang="es-ES"/>
          </a:p>
        </p:txBody>
      </p:sp>
      <p:pic>
        <p:nvPicPr>
          <p:cNvPr id="6" name="Image 0" descr="preencoded.png"/>
          <p:cNvPicPr>
            <a:picLocks noChangeAspect="1"/>
          </p:cNvPicPr>
          <p:nvPr/>
        </p:nvPicPr>
        <p:blipFill>
          <a:blip r:embed="rId3"/>
          <a:stretch>
            <a:fillRect/>
          </a:stretch>
        </p:blipFill>
        <p:spPr>
          <a:xfrm>
            <a:off x="7180957" y="1867079"/>
            <a:ext cx="268486" cy="335637"/>
          </a:xfrm>
          <a:prstGeom prst="rect">
            <a:avLst/>
          </a:prstGeom>
        </p:spPr>
      </p:pic>
      <p:sp>
        <p:nvSpPr>
          <p:cNvPr id="7" name="Text 4"/>
          <p:cNvSpPr/>
          <p:nvPr/>
        </p:nvSpPr>
        <p:spPr>
          <a:xfrm>
            <a:off x="1814036" y="1877497"/>
            <a:ext cx="4494133" cy="279797"/>
          </a:xfrm>
          <a:prstGeom prst="rect">
            <a:avLst/>
          </a:prstGeom>
          <a:noFill/>
          <a:ln/>
        </p:spPr>
        <p:txBody>
          <a:bodyPr wrap="none" lIns="0" tIns="0" rIns="0" bIns="0" rtlCol="0" anchor="t"/>
          <a:lstStyle/>
          <a:p>
            <a:pPr marL="0" indent="0" algn="r">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Sessió 4-5 (24-26/09/2024): Guia d'estils</a:t>
            </a:r>
            <a:endParaRPr lang="en-US" sz="1750" dirty="0"/>
          </a:p>
        </p:txBody>
      </p:sp>
      <p:sp>
        <p:nvSpPr>
          <p:cNvPr id="8" name="Text 5"/>
          <p:cNvSpPr/>
          <p:nvPr/>
        </p:nvSpPr>
        <p:spPr>
          <a:xfrm>
            <a:off x="881063" y="2278023"/>
            <a:ext cx="5427107" cy="966907"/>
          </a:xfrm>
          <a:prstGeom prst="rect">
            <a:avLst/>
          </a:prstGeom>
          <a:noFill/>
          <a:ln/>
        </p:spPr>
        <p:txBody>
          <a:bodyPr wrap="square" lIns="0" tIns="0" rIns="0" bIns="0" rtlCol="0" anchor="t"/>
          <a:lstStyle/>
          <a:p>
            <a:pPr marL="0" indent="0" algn="r">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Definició del logotip, selecció d'una paleta de colors, iconografia, botons i tipografia per al projecte, creant una guia d'estils completa i coherent.</a:t>
            </a:r>
            <a:endParaRPr lang="en-US" sz="1550" dirty="0"/>
          </a:p>
        </p:txBody>
      </p:sp>
      <p:sp>
        <p:nvSpPr>
          <p:cNvPr id="9" name="Shape 6"/>
          <p:cNvSpPr/>
          <p:nvPr/>
        </p:nvSpPr>
        <p:spPr>
          <a:xfrm>
            <a:off x="7518916" y="3231833"/>
            <a:ext cx="604123" cy="22860"/>
          </a:xfrm>
          <a:prstGeom prst="roundRect">
            <a:avLst>
              <a:gd name="adj" fmla="val 1321608"/>
            </a:avLst>
          </a:prstGeom>
          <a:solidFill>
            <a:srgbClr val="5F5F63"/>
          </a:solidFill>
          <a:ln/>
        </p:spPr>
        <p:txBody>
          <a:bodyPr/>
          <a:lstStyle/>
          <a:p>
            <a:endParaRPr lang="es-ES"/>
          </a:p>
        </p:txBody>
      </p:sp>
      <p:sp>
        <p:nvSpPr>
          <p:cNvPr id="10" name="Shape 7"/>
          <p:cNvSpPr/>
          <p:nvPr/>
        </p:nvSpPr>
        <p:spPr>
          <a:xfrm>
            <a:off x="7088624" y="3016687"/>
            <a:ext cx="453152" cy="453152"/>
          </a:xfrm>
          <a:prstGeom prst="roundRect">
            <a:avLst>
              <a:gd name="adj" fmla="val 66671"/>
            </a:avLst>
          </a:prstGeom>
          <a:solidFill>
            <a:srgbClr val="46464A"/>
          </a:solidFill>
          <a:ln/>
        </p:spPr>
        <p:txBody>
          <a:bodyPr/>
          <a:lstStyle/>
          <a:p>
            <a:endParaRPr lang="es-ES"/>
          </a:p>
        </p:txBody>
      </p:sp>
      <p:pic>
        <p:nvPicPr>
          <p:cNvPr id="11" name="Image 1" descr="preencoded.png"/>
          <p:cNvPicPr>
            <a:picLocks noChangeAspect="1"/>
          </p:cNvPicPr>
          <p:nvPr/>
        </p:nvPicPr>
        <p:blipFill>
          <a:blip r:embed="rId4"/>
          <a:stretch>
            <a:fillRect/>
          </a:stretch>
        </p:blipFill>
        <p:spPr>
          <a:xfrm>
            <a:off x="7180957" y="3075444"/>
            <a:ext cx="268486" cy="335637"/>
          </a:xfrm>
          <a:prstGeom prst="rect">
            <a:avLst/>
          </a:prstGeom>
        </p:spPr>
      </p:pic>
      <p:sp>
        <p:nvSpPr>
          <p:cNvPr id="12" name="Text 8"/>
          <p:cNvSpPr/>
          <p:nvPr/>
        </p:nvSpPr>
        <p:spPr>
          <a:xfrm>
            <a:off x="8322231" y="3085862"/>
            <a:ext cx="5427107" cy="559594"/>
          </a:xfrm>
          <a:prstGeom prst="rect">
            <a:avLst/>
          </a:prstGeom>
          <a:noFill/>
          <a:ln/>
        </p:spPr>
        <p:txBody>
          <a:bodyPr wrap="squar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Sessió 6 (01/10/2024): Usabilitat i experiència d'usuari</a:t>
            </a:r>
            <a:endParaRPr lang="en-US" sz="1750" dirty="0"/>
          </a:p>
        </p:txBody>
      </p:sp>
      <p:sp>
        <p:nvSpPr>
          <p:cNvPr id="13" name="Text 9"/>
          <p:cNvSpPr/>
          <p:nvPr/>
        </p:nvSpPr>
        <p:spPr>
          <a:xfrm>
            <a:off x="8322231" y="3766185"/>
            <a:ext cx="5427107" cy="966907"/>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Introducció als conceptes de Usabilitat i Experiència d'Usuari (UI/UX), amb anàlisi guiada de la usabilitat de l'exemple proporcionat.</a:t>
            </a:r>
            <a:endParaRPr lang="en-US" sz="1550" dirty="0"/>
          </a:p>
        </p:txBody>
      </p:sp>
      <p:sp>
        <p:nvSpPr>
          <p:cNvPr id="14" name="Shape 10"/>
          <p:cNvSpPr/>
          <p:nvPr/>
        </p:nvSpPr>
        <p:spPr>
          <a:xfrm>
            <a:off x="6507361" y="4291370"/>
            <a:ext cx="604123" cy="22860"/>
          </a:xfrm>
          <a:prstGeom prst="roundRect">
            <a:avLst>
              <a:gd name="adj" fmla="val 1321608"/>
            </a:avLst>
          </a:prstGeom>
          <a:solidFill>
            <a:srgbClr val="5F5F63"/>
          </a:solidFill>
          <a:ln/>
        </p:spPr>
        <p:txBody>
          <a:bodyPr/>
          <a:lstStyle/>
          <a:p>
            <a:endParaRPr lang="es-ES"/>
          </a:p>
        </p:txBody>
      </p:sp>
      <p:sp>
        <p:nvSpPr>
          <p:cNvPr id="15" name="Shape 11"/>
          <p:cNvSpPr/>
          <p:nvPr/>
        </p:nvSpPr>
        <p:spPr>
          <a:xfrm>
            <a:off x="7088624" y="4076224"/>
            <a:ext cx="453152" cy="453152"/>
          </a:xfrm>
          <a:prstGeom prst="roundRect">
            <a:avLst>
              <a:gd name="adj" fmla="val 66671"/>
            </a:avLst>
          </a:prstGeom>
          <a:solidFill>
            <a:srgbClr val="46464A"/>
          </a:solidFill>
          <a:ln/>
        </p:spPr>
        <p:txBody>
          <a:bodyPr/>
          <a:lstStyle/>
          <a:p>
            <a:endParaRPr lang="es-ES"/>
          </a:p>
        </p:txBody>
      </p:sp>
      <p:pic>
        <p:nvPicPr>
          <p:cNvPr id="16" name="Image 2" descr="preencoded.png"/>
          <p:cNvPicPr>
            <a:picLocks noChangeAspect="1"/>
          </p:cNvPicPr>
          <p:nvPr/>
        </p:nvPicPr>
        <p:blipFill>
          <a:blip r:embed="rId5"/>
          <a:stretch>
            <a:fillRect/>
          </a:stretch>
        </p:blipFill>
        <p:spPr>
          <a:xfrm>
            <a:off x="7180957" y="4168557"/>
            <a:ext cx="268486" cy="268486"/>
          </a:xfrm>
          <a:prstGeom prst="rect">
            <a:avLst/>
          </a:prstGeom>
        </p:spPr>
      </p:pic>
      <p:sp>
        <p:nvSpPr>
          <p:cNvPr id="17" name="Text 12"/>
          <p:cNvSpPr/>
          <p:nvPr/>
        </p:nvSpPr>
        <p:spPr>
          <a:xfrm>
            <a:off x="881063" y="4145399"/>
            <a:ext cx="5427107" cy="559594"/>
          </a:xfrm>
          <a:prstGeom prst="rect">
            <a:avLst/>
          </a:prstGeom>
          <a:noFill/>
          <a:ln/>
        </p:spPr>
        <p:txBody>
          <a:bodyPr wrap="square" lIns="0" tIns="0" rIns="0" bIns="0" rtlCol="0" anchor="t"/>
          <a:lstStyle/>
          <a:p>
            <a:pPr marL="0" indent="0" algn="r">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Sessió 7-8 (03-08/10/2024): Prototipatge i formularis</a:t>
            </a:r>
            <a:endParaRPr lang="en-US" sz="1750" dirty="0"/>
          </a:p>
        </p:txBody>
      </p:sp>
      <p:sp>
        <p:nvSpPr>
          <p:cNvPr id="18" name="Text 13"/>
          <p:cNvSpPr/>
          <p:nvPr/>
        </p:nvSpPr>
        <p:spPr>
          <a:xfrm>
            <a:off x="881063" y="4825722"/>
            <a:ext cx="5427107" cy="966907"/>
          </a:xfrm>
          <a:prstGeom prst="rect">
            <a:avLst/>
          </a:prstGeom>
          <a:noFill/>
          <a:ln/>
        </p:spPr>
        <p:txBody>
          <a:bodyPr wrap="square" lIns="0" tIns="0" rIns="0" bIns="0" rtlCol="0" anchor="t"/>
          <a:lstStyle/>
          <a:p>
            <a:pPr marL="0" indent="0" algn="r">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Elaboració de wireframes de baixa fidelitat aplicant el principi mobile-first i disseny de formularis usables per a l'aplicació.</a:t>
            </a:r>
            <a:endParaRPr lang="en-US" sz="1550" dirty="0"/>
          </a:p>
        </p:txBody>
      </p:sp>
      <p:sp>
        <p:nvSpPr>
          <p:cNvPr id="19" name="Shape 14"/>
          <p:cNvSpPr/>
          <p:nvPr/>
        </p:nvSpPr>
        <p:spPr>
          <a:xfrm>
            <a:off x="7518916" y="5351026"/>
            <a:ext cx="604123" cy="22860"/>
          </a:xfrm>
          <a:prstGeom prst="roundRect">
            <a:avLst>
              <a:gd name="adj" fmla="val 1321608"/>
            </a:avLst>
          </a:prstGeom>
          <a:solidFill>
            <a:srgbClr val="5F5F63"/>
          </a:solidFill>
          <a:ln/>
        </p:spPr>
        <p:txBody>
          <a:bodyPr/>
          <a:lstStyle/>
          <a:p>
            <a:endParaRPr lang="es-ES"/>
          </a:p>
        </p:txBody>
      </p:sp>
      <p:sp>
        <p:nvSpPr>
          <p:cNvPr id="20" name="Shape 15"/>
          <p:cNvSpPr/>
          <p:nvPr/>
        </p:nvSpPr>
        <p:spPr>
          <a:xfrm>
            <a:off x="7088624" y="5135880"/>
            <a:ext cx="453152" cy="453152"/>
          </a:xfrm>
          <a:prstGeom prst="roundRect">
            <a:avLst>
              <a:gd name="adj" fmla="val 66671"/>
            </a:avLst>
          </a:prstGeom>
          <a:solidFill>
            <a:srgbClr val="46464A"/>
          </a:solidFill>
          <a:ln/>
        </p:spPr>
        <p:txBody>
          <a:bodyPr/>
          <a:lstStyle/>
          <a:p>
            <a:endParaRPr lang="es-ES"/>
          </a:p>
        </p:txBody>
      </p:sp>
      <p:pic>
        <p:nvPicPr>
          <p:cNvPr id="21" name="Image 3" descr="preencoded.png"/>
          <p:cNvPicPr>
            <a:picLocks noChangeAspect="1"/>
          </p:cNvPicPr>
          <p:nvPr/>
        </p:nvPicPr>
        <p:blipFill>
          <a:blip r:embed="rId6"/>
          <a:stretch>
            <a:fillRect/>
          </a:stretch>
        </p:blipFill>
        <p:spPr>
          <a:xfrm>
            <a:off x="7180957" y="5194637"/>
            <a:ext cx="268486" cy="335637"/>
          </a:xfrm>
          <a:prstGeom prst="rect">
            <a:avLst/>
          </a:prstGeom>
        </p:spPr>
      </p:pic>
      <p:sp>
        <p:nvSpPr>
          <p:cNvPr id="22" name="Text 16"/>
          <p:cNvSpPr/>
          <p:nvPr/>
        </p:nvSpPr>
        <p:spPr>
          <a:xfrm>
            <a:off x="8322231" y="5205055"/>
            <a:ext cx="5340906" cy="279797"/>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Sessió 9 (10/10/2024): Consolidació del disseny</a:t>
            </a:r>
            <a:endParaRPr lang="en-US" sz="1750" dirty="0"/>
          </a:p>
        </p:txBody>
      </p:sp>
      <p:sp>
        <p:nvSpPr>
          <p:cNvPr id="23" name="Text 17"/>
          <p:cNvSpPr/>
          <p:nvPr/>
        </p:nvSpPr>
        <p:spPr>
          <a:xfrm>
            <a:off x="8322231" y="5605582"/>
            <a:ext cx="5427107" cy="966907"/>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Revisió i refinament dels wireframes i creació de diagrames de flux que exemplifiquen l'ús de l'aplicació i els passos a realitzar.</a:t>
            </a:r>
            <a:endParaRPr lang="en-US" sz="1550" dirty="0"/>
          </a:p>
        </p:txBody>
      </p:sp>
      <p:sp>
        <p:nvSpPr>
          <p:cNvPr id="24" name="Text 18"/>
          <p:cNvSpPr/>
          <p:nvPr/>
        </p:nvSpPr>
        <p:spPr>
          <a:xfrm>
            <a:off x="881063" y="7061002"/>
            <a:ext cx="12868275" cy="322302"/>
          </a:xfrm>
          <a:prstGeom prst="rect">
            <a:avLst/>
          </a:prstGeom>
          <a:noFill/>
          <a:ln/>
        </p:spPr>
        <p:txBody>
          <a:bodyPr wrap="non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El Bloc 2 finalitza amb l'entrega del document de disseny el 10/10/2024.</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81063" y="711994"/>
            <a:ext cx="4475798" cy="559356"/>
          </a:xfrm>
          <a:prstGeom prst="rect">
            <a:avLst/>
          </a:prstGeom>
          <a:noFill/>
          <a:ln/>
        </p:spPr>
        <p:txBody>
          <a:bodyPr wrap="none" lIns="0" tIns="0" rIns="0" bIns="0" rtlCol="0" anchor="t"/>
          <a:lstStyle/>
          <a:p>
            <a:pPr marL="0" indent="0" algn="l">
              <a:lnSpc>
                <a:spcPts val="4400"/>
              </a:lnSpc>
              <a:buNone/>
            </a:pPr>
            <a:r>
              <a:rPr lang="en-US" sz="3500" b="1" dirty="0">
                <a:solidFill>
                  <a:srgbClr val="FFE14D"/>
                </a:solidFill>
                <a:latin typeface="Comfortaa Bold" pitchFamily="34" charset="0"/>
                <a:ea typeface="Comfortaa Bold" pitchFamily="34" charset="-122"/>
                <a:cs typeface="Comfortaa Bold" pitchFamily="34" charset="-120"/>
              </a:rPr>
              <a:t>Bloc 3 - HTML</a:t>
            </a:r>
            <a:endParaRPr lang="en-US" sz="3500" dirty="0"/>
          </a:p>
        </p:txBody>
      </p:sp>
      <p:sp>
        <p:nvSpPr>
          <p:cNvPr id="3" name="Shape 1"/>
          <p:cNvSpPr/>
          <p:nvPr/>
        </p:nvSpPr>
        <p:spPr>
          <a:xfrm>
            <a:off x="7303770" y="1674138"/>
            <a:ext cx="22860" cy="4972169"/>
          </a:xfrm>
          <a:prstGeom prst="roundRect">
            <a:avLst>
              <a:gd name="adj" fmla="val 1321608"/>
            </a:avLst>
          </a:prstGeom>
          <a:solidFill>
            <a:srgbClr val="5F5F63"/>
          </a:solidFill>
          <a:ln/>
        </p:spPr>
        <p:txBody>
          <a:bodyPr/>
          <a:lstStyle/>
          <a:p>
            <a:endParaRPr lang="es-ES"/>
          </a:p>
        </p:txBody>
      </p:sp>
      <p:sp>
        <p:nvSpPr>
          <p:cNvPr id="4" name="Shape 2"/>
          <p:cNvSpPr/>
          <p:nvPr/>
        </p:nvSpPr>
        <p:spPr>
          <a:xfrm>
            <a:off x="6507361" y="1889284"/>
            <a:ext cx="604123" cy="22860"/>
          </a:xfrm>
          <a:prstGeom prst="roundRect">
            <a:avLst>
              <a:gd name="adj" fmla="val 1321608"/>
            </a:avLst>
          </a:prstGeom>
          <a:solidFill>
            <a:srgbClr val="5F5F63"/>
          </a:solidFill>
          <a:ln/>
        </p:spPr>
        <p:txBody>
          <a:bodyPr/>
          <a:lstStyle/>
          <a:p>
            <a:endParaRPr lang="es-ES"/>
          </a:p>
        </p:txBody>
      </p:sp>
      <p:sp>
        <p:nvSpPr>
          <p:cNvPr id="5" name="Shape 3"/>
          <p:cNvSpPr/>
          <p:nvPr/>
        </p:nvSpPr>
        <p:spPr>
          <a:xfrm>
            <a:off x="7088624" y="1674138"/>
            <a:ext cx="453152" cy="453152"/>
          </a:xfrm>
          <a:prstGeom prst="roundRect">
            <a:avLst>
              <a:gd name="adj" fmla="val 66671"/>
            </a:avLst>
          </a:prstGeom>
          <a:solidFill>
            <a:srgbClr val="46464A"/>
          </a:solidFill>
          <a:ln/>
        </p:spPr>
        <p:txBody>
          <a:bodyPr/>
          <a:lstStyle/>
          <a:p>
            <a:endParaRPr lang="es-ES"/>
          </a:p>
        </p:txBody>
      </p:sp>
      <p:pic>
        <p:nvPicPr>
          <p:cNvPr id="6" name="Image 0" descr="preencoded.png"/>
          <p:cNvPicPr>
            <a:picLocks noChangeAspect="1"/>
          </p:cNvPicPr>
          <p:nvPr/>
        </p:nvPicPr>
        <p:blipFill>
          <a:blip r:embed="rId3"/>
          <a:stretch>
            <a:fillRect/>
          </a:stretch>
        </p:blipFill>
        <p:spPr>
          <a:xfrm>
            <a:off x="7180957" y="1732895"/>
            <a:ext cx="268486" cy="335637"/>
          </a:xfrm>
          <a:prstGeom prst="rect">
            <a:avLst/>
          </a:prstGeom>
        </p:spPr>
      </p:pic>
      <p:sp>
        <p:nvSpPr>
          <p:cNvPr id="7" name="Text 4"/>
          <p:cNvSpPr/>
          <p:nvPr/>
        </p:nvSpPr>
        <p:spPr>
          <a:xfrm>
            <a:off x="2523411" y="1743313"/>
            <a:ext cx="3784759" cy="279797"/>
          </a:xfrm>
          <a:prstGeom prst="rect">
            <a:avLst/>
          </a:prstGeom>
          <a:noFill/>
          <a:ln/>
        </p:spPr>
        <p:txBody>
          <a:bodyPr wrap="none" lIns="0" tIns="0" rIns="0" bIns="0" rtlCol="0" anchor="t"/>
          <a:lstStyle/>
          <a:p>
            <a:pPr marL="0" indent="0" algn="r">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10-11 (15-17/10/2024): </a:t>
            </a:r>
            <a:r>
              <a:rPr lang="en-US" sz="1750" b="1" dirty="0" err="1">
                <a:solidFill>
                  <a:srgbClr val="D7D4CC"/>
                </a:solidFill>
                <a:latin typeface="Comfortaa Bold" pitchFamily="34" charset="0"/>
                <a:ea typeface="Comfortaa Bold" pitchFamily="34" charset="-122"/>
                <a:cs typeface="Comfortaa Bold" pitchFamily="34" charset="-120"/>
              </a:rPr>
              <a:t>Estructura</a:t>
            </a:r>
            <a:r>
              <a:rPr lang="en-US" sz="1750" b="1" dirty="0">
                <a:solidFill>
                  <a:srgbClr val="D7D4CC"/>
                </a:solidFill>
                <a:latin typeface="Comfortaa Bold" pitchFamily="34" charset="0"/>
                <a:ea typeface="Comfortaa Bold" pitchFamily="34" charset="-122"/>
                <a:cs typeface="Comfortaa Bold" pitchFamily="34" charset="-120"/>
              </a:rPr>
              <a:t> </a:t>
            </a:r>
            <a:r>
              <a:rPr lang="en-US" sz="1750" b="1" dirty="0" err="1">
                <a:solidFill>
                  <a:srgbClr val="D7D4CC"/>
                </a:solidFill>
                <a:latin typeface="Comfortaa Bold" pitchFamily="34" charset="0"/>
                <a:ea typeface="Comfortaa Bold" pitchFamily="34" charset="-122"/>
                <a:cs typeface="Comfortaa Bold" pitchFamily="34" charset="-120"/>
              </a:rPr>
              <a:t>bàsica</a:t>
            </a:r>
            <a:endParaRPr lang="en-US" sz="1750" dirty="0"/>
          </a:p>
        </p:txBody>
      </p:sp>
      <p:sp>
        <p:nvSpPr>
          <p:cNvPr id="8" name="Text 5"/>
          <p:cNvSpPr/>
          <p:nvPr/>
        </p:nvSpPr>
        <p:spPr>
          <a:xfrm>
            <a:off x="881063" y="2143839"/>
            <a:ext cx="5427107" cy="644604"/>
          </a:xfrm>
          <a:prstGeom prst="rect">
            <a:avLst/>
          </a:prstGeom>
          <a:noFill/>
          <a:ln/>
        </p:spPr>
        <p:txBody>
          <a:bodyPr wrap="square" lIns="0" tIns="0" rIns="0" bIns="0" rtlCol="0" anchor="t"/>
          <a:lstStyle/>
          <a:p>
            <a:pPr marL="0" indent="0" algn="r">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Estructura HTML5, elements bàsics, enllaços, navegació i prototipat amb Figma</a:t>
            </a:r>
            <a:endParaRPr lang="en-US" sz="1550" dirty="0"/>
          </a:p>
        </p:txBody>
      </p:sp>
      <p:sp>
        <p:nvSpPr>
          <p:cNvPr id="9" name="Shape 6"/>
          <p:cNvSpPr/>
          <p:nvPr/>
        </p:nvSpPr>
        <p:spPr>
          <a:xfrm>
            <a:off x="7518916" y="3097649"/>
            <a:ext cx="604123" cy="22860"/>
          </a:xfrm>
          <a:prstGeom prst="roundRect">
            <a:avLst>
              <a:gd name="adj" fmla="val 1321608"/>
            </a:avLst>
          </a:prstGeom>
          <a:solidFill>
            <a:srgbClr val="5F5F63"/>
          </a:solidFill>
          <a:ln/>
        </p:spPr>
        <p:txBody>
          <a:bodyPr/>
          <a:lstStyle/>
          <a:p>
            <a:endParaRPr lang="es-ES"/>
          </a:p>
        </p:txBody>
      </p:sp>
      <p:sp>
        <p:nvSpPr>
          <p:cNvPr id="10" name="Shape 7"/>
          <p:cNvSpPr/>
          <p:nvPr/>
        </p:nvSpPr>
        <p:spPr>
          <a:xfrm>
            <a:off x="7088624" y="2882503"/>
            <a:ext cx="453152" cy="453152"/>
          </a:xfrm>
          <a:prstGeom prst="roundRect">
            <a:avLst>
              <a:gd name="adj" fmla="val 66671"/>
            </a:avLst>
          </a:prstGeom>
          <a:solidFill>
            <a:srgbClr val="46464A"/>
          </a:solidFill>
          <a:ln/>
        </p:spPr>
        <p:txBody>
          <a:bodyPr/>
          <a:lstStyle/>
          <a:p>
            <a:endParaRPr lang="es-ES"/>
          </a:p>
        </p:txBody>
      </p:sp>
      <p:pic>
        <p:nvPicPr>
          <p:cNvPr id="11" name="Image 1" descr="preencoded.png"/>
          <p:cNvPicPr>
            <a:picLocks noChangeAspect="1"/>
          </p:cNvPicPr>
          <p:nvPr/>
        </p:nvPicPr>
        <p:blipFill>
          <a:blip r:embed="rId4"/>
          <a:stretch>
            <a:fillRect/>
          </a:stretch>
        </p:blipFill>
        <p:spPr>
          <a:xfrm>
            <a:off x="7180957" y="2941260"/>
            <a:ext cx="268486" cy="335637"/>
          </a:xfrm>
          <a:prstGeom prst="rect">
            <a:avLst/>
          </a:prstGeom>
        </p:spPr>
      </p:pic>
      <p:sp>
        <p:nvSpPr>
          <p:cNvPr id="12" name="Text 8"/>
          <p:cNvSpPr/>
          <p:nvPr/>
        </p:nvSpPr>
        <p:spPr>
          <a:xfrm>
            <a:off x="8322231" y="2951678"/>
            <a:ext cx="4091464" cy="279797"/>
          </a:xfrm>
          <a:prstGeom prst="rect">
            <a:avLst/>
          </a:prstGeom>
          <a:noFill/>
          <a:ln/>
        </p:spPr>
        <p:txBody>
          <a:bodyPr wrap="none" lIns="0" tIns="0" rIns="0" bIns="0" rtlCol="0" anchor="t"/>
          <a:lstStyle/>
          <a:p>
            <a:pPr marL="0" indent="0" algn="l">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12-13 (22-24/10/2024) Elements </a:t>
            </a:r>
            <a:r>
              <a:rPr lang="en-US" sz="1750" b="1" dirty="0" err="1">
                <a:solidFill>
                  <a:srgbClr val="D7D4CC"/>
                </a:solidFill>
                <a:latin typeface="Comfortaa Bold" pitchFamily="34" charset="0"/>
                <a:ea typeface="Comfortaa Bold" pitchFamily="34" charset="-122"/>
                <a:cs typeface="Comfortaa Bold" pitchFamily="34" charset="-120"/>
              </a:rPr>
              <a:t>semàntics</a:t>
            </a:r>
            <a:endParaRPr lang="en-US" sz="1750" dirty="0"/>
          </a:p>
        </p:txBody>
      </p:sp>
      <p:sp>
        <p:nvSpPr>
          <p:cNvPr id="13" name="Text 9"/>
          <p:cNvSpPr/>
          <p:nvPr/>
        </p:nvSpPr>
        <p:spPr>
          <a:xfrm>
            <a:off x="8322231" y="3352205"/>
            <a:ext cx="5427107" cy="644604"/>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Elements estructurals semàntics i microformats per a contingut multimèdia</a:t>
            </a:r>
            <a:endParaRPr lang="en-US" sz="1550" dirty="0"/>
          </a:p>
        </p:txBody>
      </p:sp>
      <p:sp>
        <p:nvSpPr>
          <p:cNvPr id="14" name="Shape 10"/>
          <p:cNvSpPr/>
          <p:nvPr/>
        </p:nvSpPr>
        <p:spPr>
          <a:xfrm>
            <a:off x="6507361" y="4139208"/>
            <a:ext cx="604123" cy="22860"/>
          </a:xfrm>
          <a:prstGeom prst="roundRect">
            <a:avLst>
              <a:gd name="adj" fmla="val 1321608"/>
            </a:avLst>
          </a:prstGeom>
          <a:solidFill>
            <a:srgbClr val="5F5F63"/>
          </a:solidFill>
          <a:ln/>
        </p:spPr>
        <p:txBody>
          <a:bodyPr/>
          <a:lstStyle/>
          <a:p>
            <a:endParaRPr lang="es-ES"/>
          </a:p>
        </p:txBody>
      </p:sp>
      <p:sp>
        <p:nvSpPr>
          <p:cNvPr id="15" name="Shape 11"/>
          <p:cNvSpPr/>
          <p:nvPr/>
        </p:nvSpPr>
        <p:spPr>
          <a:xfrm>
            <a:off x="7088624" y="3924062"/>
            <a:ext cx="453152" cy="453152"/>
          </a:xfrm>
          <a:prstGeom prst="roundRect">
            <a:avLst>
              <a:gd name="adj" fmla="val 66671"/>
            </a:avLst>
          </a:prstGeom>
          <a:solidFill>
            <a:srgbClr val="46464A"/>
          </a:solidFill>
          <a:ln/>
        </p:spPr>
        <p:txBody>
          <a:bodyPr/>
          <a:lstStyle/>
          <a:p>
            <a:endParaRPr lang="es-ES"/>
          </a:p>
        </p:txBody>
      </p:sp>
      <p:pic>
        <p:nvPicPr>
          <p:cNvPr id="16" name="Image 2" descr="preencoded.png"/>
          <p:cNvPicPr>
            <a:picLocks noChangeAspect="1"/>
          </p:cNvPicPr>
          <p:nvPr/>
        </p:nvPicPr>
        <p:blipFill>
          <a:blip r:embed="rId5"/>
          <a:stretch>
            <a:fillRect/>
          </a:stretch>
        </p:blipFill>
        <p:spPr>
          <a:xfrm>
            <a:off x="7180957" y="3982819"/>
            <a:ext cx="268486" cy="335637"/>
          </a:xfrm>
          <a:prstGeom prst="rect">
            <a:avLst/>
          </a:prstGeom>
        </p:spPr>
      </p:pic>
      <p:sp>
        <p:nvSpPr>
          <p:cNvPr id="17" name="Text 12"/>
          <p:cNvSpPr/>
          <p:nvPr/>
        </p:nvSpPr>
        <p:spPr>
          <a:xfrm>
            <a:off x="1719620" y="3993237"/>
            <a:ext cx="4588550" cy="279797"/>
          </a:xfrm>
          <a:prstGeom prst="rect">
            <a:avLst/>
          </a:prstGeom>
          <a:noFill/>
          <a:ln/>
        </p:spPr>
        <p:txBody>
          <a:bodyPr wrap="none" lIns="0" tIns="0" rIns="0" bIns="0" rtlCol="0" anchor="t"/>
          <a:lstStyle/>
          <a:p>
            <a:pPr marL="0" indent="0" algn="r">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14 (29/10/2024): </a:t>
            </a:r>
            <a:r>
              <a:rPr lang="en-US" sz="1750" b="1" dirty="0" err="1">
                <a:solidFill>
                  <a:srgbClr val="D7D4CC"/>
                </a:solidFill>
                <a:latin typeface="Comfortaa Bold" pitchFamily="34" charset="0"/>
                <a:ea typeface="Comfortaa Bold" pitchFamily="34" charset="-122"/>
                <a:cs typeface="Comfortaa Bold" pitchFamily="34" charset="-120"/>
              </a:rPr>
              <a:t>Organització</a:t>
            </a:r>
            <a:r>
              <a:rPr lang="en-US" sz="1750" b="1" dirty="0">
                <a:solidFill>
                  <a:srgbClr val="D7D4CC"/>
                </a:solidFill>
                <a:latin typeface="Comfortaa Bold" pitchFamily="34" charset="0"/>
                <a:ea typeface="Comfortaa Bold" pitchFamily="34" charset="-122"/>
                <a:cs typeface="Comfortaa Bold" pitchFamily="34" charset="-120"/>
              </a:rPr>
              <a:t> del </a:t>
            </a:r>
            <a:r>
              <a:rPr lang="en-US" sz="1750" b="1" dirty="0" err="1">
                <a:solidFill>
                  <a:srgbClr val="D7D4CC"/>
                </a:solidFill>
                <a:latin typeface="Comfortaa Bold" pitchFamily="34" charset="0"/>
                <a:ea typeface="Comfortaa Bold" pitchFamily="34" charset="-122"/>
                <a:cs typeface="Comfortaa Bold" pitchFamily="34" charset="-120"/>
              </a:rPr>
              <a:t>contingut</a:t>
            </a:r>
            <a:endParaRPr lang="en-US" sz="1750" dirty="0"/>
          </a:p>
        </p:txBody>
      </p:sp>
      <p:sp>
        <p:nvSpPr>
          <p:cNvPr id="18" name="Text 13"/>
          <p:cNvSpPr/>
          <p:nvPr/>
        </p:nvSpPr>
        <p:spPr>
          <a:xfrm>
            <a:off x="881063" y="4393763"/>
            <a:ext cx="5427107" cy="644604"/>
          </a:xfrm>
          <a:prstGeom prst="rect">
            <a:avLst/>
          </a:prstGeom>
          <a:noFill/>
          <a:ln/>
        </p:spPr>
        <p:txBody>
          <a:bodyPr wrap="square" lIns="0" tIns="0" rIns="0" bIns="0" rtlCol="0" anchor="t"/>
          <a:lstStyle/>
          <a:p>
            <a:pPr marL="0" indent="0" algn="r">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Implementació de llistes i taules per a la navegació i la informació estructurada</a:t>
            </a:r>
            <a:endParaRPr lang="en-US" sz="1550" dirty="0"/>
          </a:p>
        </p:txBody>
      </p:sp>
      <p:sp>
        <p:nvSpPr>
          <p:cNvPr id="19" name="Shape 14"/>
          <p:cNvSpPr/>
          <p:nvPr/>
        </p:nvSpPr>
        <p:spPr>
          <a:xfrm>
            <a:off x="7518916" y="5180886"/>
            <a:ext cx="604123" cy="22860"/>
          </a:xfrm>
          <a:prstGeom prst="roundRect">
            <a:avLst>
              <a:gd name="adj" fmla="val 1321608"/>
            </a:avLst>
          </a:prstGeom>
          <a:solidFill>
            <a:srgbClr val="5F5F63"/>
          </a:solidFill>
          <a:ln/>
        </p:spPr>
        <p:txBody>
          <a:bodyPr/>
          <a:lstStyle/>
          <a:p>
            <a:endParaRPr lang="es-ES"/>
          </a:p>
        </p:txBody>
      </p:sp>
      <p:sp>
        <p:nvSpPr>
          <p:cNvPr id="20" name="Shape 15"/>
          <p:cNvSpPr/>
          <p:nvPr/>
        </p:nvSpPr>
        <p:spPr>
          <a:xfrm>
            <a:off x="7088624" y="4965740"/>
            <a:ext cx="453152" cy="453152"/>
          </a:xfrm>
          <a:prstGeom prst="roundRect">
            <a:avLst>
              <a:gd name="adj" fmla="val 66671"/>
            </a:avLst>
          </a:prstGeom>
          <a:solidFill>
            <a:srgbClr val="46464A"/>
          </a:solidFill>
          <a:ln/>
        </p:spPr>
        <p:txBody>
          <a:bodyPr/>
          <a:lstStyle/>
          <a:p>
            <a:endParaRPr lang="es-ES"/>
          </a:p>
        </p:txBody>
      </p:sp>
      <p:pic>
        <p:nvPicPr>
          <p:cNvPr id="21" name="Image 3" descr="preencoded.png"/>
          <p:cNvPicPr>
            <a:picLocks noChangeAspect="1"/>
          </p:cNvPicPr>
          <p:nvPr/>
        </p:nvPicPr>
        <p:blipFill>
          <a:blip r:embed="rId6"/>
          <a:stretch>
            <a:fillRect/>
          </a:stretch>
        </p:blipFill>
        <p:spPr>
          <a:xfrm>
            <a:off x="7180957" y="5024497"/>
            <a:ext cx="268486" cy="335637"/>
          </a:xfrm>
          <a:prstGeom prst="rect">
            <a:avLst/>
          </a:prstGeom>
        </p:spPr>
      </p:pic>
      <p:sp>
        <p:nvSpPr>
          <p:cNvPr id="22" name="Text 16"/>
          <p:cNvSpPr/>
          <p:nvPr/>
        </p:nvSpPr>
        <p:spPr>
          <a:xfrm>
            <a:off x="8322231" y="5034915"/>
            <a:ext cx="4718090" cy="279797"/>
          </a:xfrm>
          <a:prstGeom prst="rect">
            <a:avLst/>
          </a:prstGeom>
          <a:noFill/>
          <a:ln/>
        </p:spPr>
        <p:txBody>
          <a:bodyPr wrap="none" lIns="0" tIns="0" rIns="0" bIns="0" rtlCol="0" anchor="t"/>
          <a:lstStyle/>
          <a:p>
            <a:pPr marL="0" indent="0" algn="l">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15-17 (05-12/11/2024): </a:t>
            </a:r>
            <a:r>
              <a:rPr lang="en-US" sz="1750" b="1" dirty="0" err="1">
                <a:solidFill>
                  <a:srgbClr val="D7D4CC"/>
                </a:solidFill>
                <a:latin typeface="Comfortaa Bold" pitchFamily="34" charset="0"/>
                <a:ea typeface="Comfortaa Bold" pitchFamily="34" charset="-122"/>
                <a:cs typeface="Comfortaa Bold" pitchFamily="34" charset="-120"/>
              </a:rPr>
              <a:t>Formularis</a:t>
            </a:r>
            <a:r>
              <a:rPr lang="en-US" sz="1750" b="1" dirty="0">
                <a:solidFill>
                  <a:srgbClr val="D7D4CC"/>
                </a:solidFill>
                <a:latin typeface="Comfortaa Bold" pitchFamily="34" charset="0"/>
                <a:ea typeface="Comfortaa Bold" pitchFamily="34" charset="-122"/>
                <a:cs typeface="Comfortaa Bold" pitchFamily="34" charset="-120"/>
              </a:rPr>
              <a:t> </a:t>
            </a:r>
            <a:r>
              <a:rPr lang="en-US" sz="1750" b="1" dirty="0" err="1">
                <a:solidFill>
                  <a:srgbClr val="D7D4CC"/>
                </a:solidFill>
                <a:latin typeface="Comfortaa Bold" pitchFamily="34" charset="0"/>
                <a:ea typeface="Comfortaa Bold" pitchFamily="34" charset="-122"/>
                <a:cs typeface="Comfortaa Bold" pitchFamily="34" charset="-120"/>
              </a:rPr>
              <a:t>i</a:t>
            </a:r>
            <a:r>
              <a:rPr lang="en-US" sz="1750" b="1" dirty="0">
                <a:solidFill>
                  <a:srgbClr val="D7D4CC"/>
                </a:solidFill>
                <a:latin typeface="Comfortaa Bold" pitchFamily="34" charset="0"/>
                <a:ea typeface="Comfortaa Bold" pitchFamily="34" charset="-122"/>
                <a:cs typeface="Comfortaa Bold" pitchFamily="34" charset="-120"/>
              </a:rPr>
              <a:t> </a:t>
            </a:r>
            <a:r>
              <a:rPr lang="en-US" sz="1750" b="1" dirty="0" err="1">
                <a:solidFill>
                  <a:srgbClr val="D7D4CC"/>
                </a:solidFill>
                <a:latin typeface="Comfortaa Bold" pitchFamily="34" charset="0"/>
                <a:ea typeface="Comfortaa Bold" pitchFamily="34" charset="-122"/>
                <a:cs typeface="Comfortaa Bold" pitchFamily="34" charset="-120"/>
              </a:rPr>
              <a:t>accessibilitat</a:t>
            </a:r>
            <a:endParaRPr lang="en-US" sz="1750" dirty="0"/>
          </a:p>
        </p:txBody>
      </p:sp>
      <p:sp>
        <p:nvSpPr>
          <p:cNvPr id="23" name="Text 17"/>
          <p:cNvSpPr/>
          <p:nvPr/>
        </p:nvSpPr>
        <p:spPr>
          <a:xfrm>
            <a:off x="8322231" y="5435441"/>
            <a:ext cx="5427107" cy="644604"/>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Disseny i validació de formularis, implementació de criteris d'accessibilitat</a:t>
            </a:r>
            <a:endParaRPr lang="en-US" sz="1550" dirty="0"/>
          </a:p>
        </p:txBody>
      </p:sp>
      <p:sp>
        <p:nvSpPr>
          <p:cNvPr id="24" name="Text 18"/>
          <p:cNvSpPr/>
          <p:nvPr/>
        </p:nvSpPr>
        <p:spPr>
          <a:xfrm>
            <a:off x="881063" y="6872883"/>
            <a:ext cx="12868275" cy="644604"/>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El Bloc 3 finalitza amb l'entrega dels fitxers HTML i la justificació de la implementació el 12/11/2024, incloent l'estructura de les pàgines del portal web basada en els prototips elaborats anteriorment.</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81063" y="820698"/>
            <a:ext cx="5035272" cy="629364"/>
          </a:xfrm>
          <a:prstGeom prst="rect">
            <a:avLst/>
          </a:prstGeom>
          <a:noFill/>
          <a:ln/>
        </p:spPr>
        <p:txBody>
          <a:bodyPr wrap="none" lIns="0" tIns="0" rIns="0" bIns="0" rtlCol="0" anchor="t"/>
          <a:lstStyle/>
          <a:p>
            <a:pPr marL="0" indent="0" algn="l">
              <a:lnSpc>
                <a:spcPts val="4950"/>
              </a:lnSpc>
              <a:buNone/>
            </a:pPr>
            <a:r>
              <a:rPr lang="en-US" sz="3950" b="1" dirty="0">
                <a:solidFill>
                  <a:srgbClr val="FFE14D"/>
                </a:solidFill>
                <a:latin typeface="Comfortaa Bold" pitchFamily="34" charset="0"/>
                <a:ea typeface="Comfortaa Bold" pitchFamily="34" charset="-122"/>
                <a:cs typeface="Comfortaa Bold" pitchFamily="34" charset="-120"/>
              </a:rPr>
              <a:t>Bloc 4 - CSS</a:t>
            </a:r>
            <a:endParaRPr lang="en-US" sz="3950" dirty="0"/>
          </a:p>
        </p:txBody>
      </p:sp>
      <p:sp>
        <p:nvSpPr>
          <p:cNvPr id="3" name="Shape 1"/>
          <p:cNvSpPr/>
          <p:nvPr/>
        </p:nvSpPr>
        <p:spPr>
          <a:xfrm>
            <a:off x="881063" y="3984903"/>
            <a:ext cx="12868275" cy="30480"/>
          </a:xfrm>
          <a:prstGeom prst="roundRect">
            <a:avLst>
              <a:gd name="adj" fmla="val 1115106"/>
            </a:avLst>
          </a:prstGeom>
          <a:solidFill>
            <a:srgbClr val="5F5F63"/>
          </a:solidFill>
          <a:ln/>
        </p:spPr>
        <p:txBody>
          <a:bodyPr/>
          <a:lstStyle/>
          <a:p>
            <a:endParaRPr lang="es-ES"/>
          </a:p>
        </p:txBody>
      </p:sp>
      <p:sp>
        <p:nvSpPr>
          <p:cNvPr id="4" name="Shape 2"/>
          <p:cNvSpPr/>
          <p:nvPr/>
        </p:nvSpPr>
        <p:spPr>
          <a:xfrm>
            <a:off x="2048179" y="3305175"/>
            <a:ext cx="30480" cy="679728"/>
          </a:xfrm>
          <a:prstGeom prst="roundRect">
            <a:avLst>
              <a:gd name="adj" fmla="val 1115106"/>
            </a:avLst>
          </a:prstGeom>
          <a:solidFill>
            <a:srgbClr val="5F5F63"/>
          </a:solidFill>
          <a:ln/>
        </p:spPr>
        <p:txBody>
          <a:bodyPr/>
          <a:lstStyle/>
          <a:p>
            <a:endParaRPr lang="es-ES"/>
          </a:p>
        </p:txBody>
      </p:sp>
      <p:sp>
        <p:nvSpPr>
          <p:cNvPr id="5" name="Shape 3"/>
          <p:cNvSpPr/>
          <p:nvPr/>
        </p:nvSpPr>
        <p:spPr>
          <a:xfrm>
            <a:off x="1808506" y="3729990"/>
            <a:ext cx="509826" cy="509826"/>
          </a:xfrm>
          <a:prstGeom prst="roundRect">
            <a:avLst>
              <a:gd name="adj" fmla="val 66667"/>
            </a:avLst>
          </a:prstGeom>
          <a:solidFill>
            <a:srgbClr val="46464A"/>
          </a:solidFill>
          <a:ln/>
        </p:spPr>
        <p:txBody>
          <a:bodyPr/>
          <a:lstStyle/>
          <a:p>
            <a:endParaRPr lang="es-ES"/>
          </a:p>
        </p:txBody>
      </p:sp>
      <p:sp>
        <p:nvSpPr>
          <p:cNvPr id="6" name="Text 4"/>
          <p:cNvSpPr/>
          <p:nvPr/>
        </p:nvSpPr>
        <p:spPr>
          <a:xfrm>
            <a:off x="1912388" y="3796129"/>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1</a:t>
            </a:r>
            <a:endParaRPr lang="en-US" sz="2350" dirty="0"/>
          </a:p>
        </p:txBody>
      </p:sp>
      <p:sp>
        <p:nvSpPr>
          <p:cNvPr id="7" name="Text 5"/>
          <p:cNvSpPr/>
          <p:nvPr/>
        </p:nvSpPr>
        <p:spPr>
          <a:xfrm>
            <a:off x="645591" y="1903214"/>
            <a:ext cx="3380065"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18-19 (14-19/11/2024):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err="1">
                <a:solidFill>
                  <a:srgbClr val="D7D4CC"/>
                </a:solidFill>
                <a:latin typeface="Comfortaa Bold" pitchFamily="34" charset="0"/>
                <a:ea typeface="Comfortaa Bold" pitchFamily="34" charset="-122"/>
                <a:cs typeface="Comfortaa Bold" pitchFamily="34" charset="-120"/>
              </a:rPr>
              <a:t>Introducció</a:t>
            </a:r>
            <a:r>
              <a:rPr lang="en-US" sz="1950" b="1" dirty="0">
                <a:solidFill>
                  <a:srgbClr val="D7D4CC"/>
                </a:solidFill>
                <a:latin typeface="Comfortaa Bold" pitchFamily="34" charset="0"/>
                <a:ea typeface="Comfortaa Bold" pitchFamily="34" charset="-122"/>
                <a:cs typeface="Comfortaa Bold" pitchFamily="34" charset="-120"/>
              </a:rPr>
              <a:t> i Estils Bàsics</a:t>
            </a:r>
            <a:endParaRPr lang="en-US" sz="1950" dirty="0"/>
          </a:p>
        </p:txBody>
      </p:sp>
      <p:sp>
        <p:nvSpPr>
          <p:cNvPr id="8" name="Text 6"/>
          <p:cNvSpPr/>
          <p:nvPr/>
        </p:nvSpPr>
        <p:spPr>
          <a:xfrm>
            <a:off x="73495" y="2495262"/>
            <a:ext cx="4524256" cy="724853"/>
          </a:xfrm>
          <a:prstGeom prst="rect">
            <a:avLst/>
          </a:prstGeom>
          <a:noFill/>
          <a:ln/>
        </p:spPr>
        <p:txBody>
          <a:bodyPr wrap="square" lIns="0" tIns="0" rIns="0" bIns="0" rtlCol="0" anchor="t"/>
          <a:lstStyle/>
          <a:p>
            <a:pPr marL="0" indent="0" algn="ctr">
              <a:lnSpc>
                <a:spcPts val="2850"/>
              </a:lnSpc>
              <a:buNone/>
            </a:pPr>
            <a:r>
              <a:rPr lang="en-US" sz="1750" dirty="0" err="1">
                <a:solidFill>
                  <a:srgbClr val="D7D4CC"/>
                </a:solidFill>
                <a:latin typeface="Raleway Medium" pitchFamily="34" charset="0"/>
                <a:ea typeface="Raleway Medium" pitchFamily="34" charset="-122"/>
                <a:cs typeface="Raleway Medium" pitchFamily="34" charset="-120"/>
              </a:rPr>
              <a:t>Sintaxi</a:t>
            </a:r>
            <a:r>
              <a:rPr lang="en-US" sz="1750" dirty="0">
                <a:solidFill>
                  <a:srgbClr val="D7D4CC"/>
                </a:solidFill>
                <a:latin typeface="Raleway Medium" pitchFamily="34" charset="0"/>
                <a:ea typeface="Raleway Medium" pitchFamily="34" charset="-122"/>
                <a:cs typeface="Raleway Medium" pitchFamily="34" charset="-120"/>
              </a:rPr>
              <a:t> CSS, vinculació de fulls d'estil, colors, fons i tipografia</a:t>
            </a:r>
            <a:endParaRPr lang="en-US" sz="1750" dirty="0"/>
          </a:p>
        </p:txBody>
      </p:sp>
      <p:sp>
        <p:nvSpPr>
          <p:cNvPr id="9" name="Shape 7"/>
          <p:cNvSpPr/>
          <p:nvPr/>
        </p:nvSpPr>
        <p:spPr>
          <a:xfrm>
            <a:off x="4134108" y="3984903"/>
            <a:ext cx="30480" cy="679728"/>
          </a:xfrm>
          <a:prstGeom prst="roundRect">
            <a:avLst>
              <a:gd name="adj" fmla="val 1115106"/>
            </a:avLst>
          </a:prstGeom>
          <a:solidFill>
            <a:srgbClr val="5F5F63"/>
          </a:solidFill>
          <a:ln/>
        </p:spPr>
        <p:txBody>
          <a:bodyPr/>
          <a:lstStyle/>
          <a:p>
            <a:endParaRPr lang="es-ES"/>
          </a:p>
        </p:txBody>
      </p:sp>
      <p:sp>
        <p:nvSpPr>
          <p:cNvPr id="10" name="Shape 8"/>
          <p:cNvSpPr/>
          <p:nvPr/>
        </p:nvSpPr>
        <p:spPr>
          <a:xfrm>
            <a:off x="3894435" y="3729990"/>
            <a:ext cx="509826" cy="509826"/>
          </a:xfrm>
          <a:prstGeom prst="roundRect">
            <a:avLst>
              <a:gd name="adj" fmla="val 66667"/>
            </a:avLst>
          </a:prstGeom>
          <a:solidFill>
            <a:srgbClr val="46464A"/>
          </a:solidFill>
          <a:ln/>
        </p:spPr>
        <p:txBody>
          <a:bodyPr/>
          <a:lstStyle/>
          <a:p>
            <a:endParaRPr lang="es-ES"/>
          </a:p>
        </p:txBody>
      </p:sp>
      <p:sp>
        <p:nvSpPr>
          <p:cNvPr id="11" name="Text 9"/>
          <p:cNvSpPr/>
          <p:nvPr/>
        </p:nvSpPr>
        <p:spPr>
          <a:xfrm>
            <a:off x="3998317" y="3796129"/>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2</a:t>
            </a:r>
            <a:endParaRPr lang="en-US" sz="2350" dirty="0"/>
          </a:p>
        </p:txBody>
      </p:sp>
      <p:sp>
        <p:nvSpPr>
          <p:cNvPr id="12" name="Text 10"/>
          <p:cNvSpPr/>
          <p:nvPr/>
        </p:nvSpPr>
        <p:spPr>
          <a:xfrm>
            <a:off x="2418771" y="4891207"/>
            <a:ext cx="3461147"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20-21 (21-26/11/2024):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a:solidFill>
                  <a:srgbClr val="D7D4CC"/>
                </a:solidFill>
                <a:latin typeface="Comfortaa Bold" pitchFamily="34" charset="0"/>
                <a:ea typeface="Comfortaa Bold" pitchFamily="34" charset="-122"/>
                <a:cs typeface="Comfortaa Bold" pitchFamily="34" charset="-120"/>
              </a:rPr>
              <a:t>Model de Caixa i Elements</a:t>
            </a:r>
            <a:endParaRPr lang="en-US" sz="1950" dirty="0"/>
          </a:p>
        </p:txBody>
      </p:sp>
      <p:sp>
        <p:nvSpPr>
          <p:cNvPr id="13" name="Text 11"/>
          <p:cNvSpPr/>
          <p:nvPr/>
        </p:nvSpPr>
        <p:spPr>
          <a:xfrm>
            <a:off x="1887276" y="5461483"/>
            <a:ext cx="4524256" cy="724853"/>
          </a:xfrm>
          <a:prstGeom prst="rect">
            <a:avLst/>
          </a:prstGeom>
          <a:noFill/>
          <a:ln/>
        </p:spPr>
        <p:txBody>
          <a:bodyPr wrap="square" lIns="0" tIns="0" rIns="0" bIns="0" rtlCol="0" anchor="t"/>
          <a:lstStyle/>
          <a:p>
            <a:pPr marL="0" indent="0" algn="ctr">
              <a:lnSpc>
                <a:spcPts val="2850"/>
              </a:lnSpc>
              <a:buNone/>
            </a:pPr>
            <a:r>
              <a:rPr lang="en-US" sz="1750" dirty="0">
                <a:solidFill>
                  <a:srgbClr val="D7D4CC"/>
                </a:solidFill>
                <a:latin typeface="Raleway Medium" pitchFamily="34" charset="0"/>
                <a:ea typeface="Raleway Medium" pitchFamily="34" charset="-122"/>
                <a:cs typeface="Raleway Medium" pitchFamily="34" charset="-120"/>
              </a:rPr>
              <a:t>Padding, borders, margins, propietats de display i dimensions</a:t>
            </a:r>
            <a:endParaRPr lang="en-US" sz="1750" dirty="0"/>
          </a:p>
        </p:txBody>
      </p:sp>
      <p:sp>
        <p:nvSpPr>
          <p:cNvPr id="14" name="Shape 12"/>
          <p:cNvSpPr/>
          <p:nvPr/>
        </p:nvSpPr>
        <p:spPr>
          <a:xfrm>
            <a:off x="6688233" y="3305175"/>
            <a:ext cx="30480" cy="679728"/>
          </a:xfrm>
          <a:prstGeom prst="roundRect">
            <a:avLst>
              <a:gd name="adj" fmla="val 1115106"/>
            </a:avLst>
          </a:prstGeom>
          <a:solidFill>
            <a:srgbClr val="5F5F63"/>
          </a:solidFill>
          <a:ln/>
        </p:spPr>
        <p:txBody>
          <a:bodyPr/>
          <a:lstStyle/>
          <a:p>
            <a:endParaRPr lang="es-ES"/>
          </a:p>
        </p:txBody>
      </p:sp>
      <p:sp>
        <p:nvSpPr>
          <p:cNvPr id="15" name="Shape 13"/>
          <p:cNvSpPr/>
          <p:nvPr/>
        </p:nvSpPr>
        <p:spPr>
          <a:xfrm>
            <a:off x="6448561" y="3729990"/>
            <a:ext cx="509826" cy="509826"/>
          </a:xfrm>
          <a:prstGeom prst="roundRect">
            <a:avLst>
              <a:gd name="adj" fmla="val 66667"/>
            </a:avLst>
          </a:prstGeom>
          <a:solidFill>
            <a:srgbClr val="46464A"/>
          </a:solidFill>
          <a:ln/>
        </p:spPr>
        <p:txBody>
          <a:bodyPr/>
          <a:lstStyle/>
          <a:p>
            <a:endParaRPr lang="es-ES"/>
          </a:p>
        </p:txBody>
      </p:sp>
      <p:sp>
        <p:nvSpPr>
          <p:cNvPr id="16" name="Text 14"/>
          <p:cNvSpPr/>
          <p:nvPr/>
        </p:nvSpPr>
        <p:spPr>
          <a:xfrm>
            <a:off x="6552443" y="3796129"/>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3</a:t>
            </a:r>
            <a:endParaRPr lang="en-US" sz="2350" dirty="0"/>
          </a:p>
        </p:txBody>
      </p:sp>
      <p:sp>
        <p:nvSpPr>
          <p:cNvPr id="17" name="Text 15"/>
          <p:cNvSpPr/>
          <p:nvPr/>
        </p:nvSpPr>
        <p:spPr>
          <a:xfrm>
            <a:off x="5216978" y="1903214"/>
            <a:ext cx="2973110"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22 (28/11-05/12/2024):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err="1">
                <a:solidFill>
                  <a:srgbClr val="D7D4CC"/>
                </a:solidFill>
                <a:latin typeface="Comfortaa Bold" pitchFamily="34" charset="0"/>
                <a:ea typeface="Comfortaa Bold" pitchFamily="34" charset="-122"/>
                <a:cs typeface="Comfortaa Bold" pitchFamily="34" charset="-120"/>
              </a:rPr>
              <a:t>Maquetació</a:t>
            </a:r>
            <a:r>
              <a:rPr lang="en-US" sz="1950" b="1" dirty="0">
                <a:solidFill>
                  <a:srgbClr val="D7D4CC"/>
                </a:solidFill>
                <a:latin typeface="Comfortaa Bold" pitchFamily="34" charset="0"/>
                <a:ea typeface="Comfortaa Bold" pitchFamily="34" charset="-122"/>
                <a:cs typeface="Comfortaa Bold" pitchFamily="34" charset="-120"/>
              </a:rPr>
              <a:t> Avançada</a:t>
            </a:r>
            <a:endParaRPr lang="en-US" sz="1950" dirty="0"/>
          </a:p>
        </p:txBody>
      </p:sp>
      <p:sp>
        <p:nvSpPr>
          <p:cNvPr id="18" name="Text 16"/>
          <p:cNvSpPr/>
          <p:nvPr/>
        </p:nvSpPr>
        <p:spPr>
          <a:xfrm>
            <a:off x="4441405" y="2636777"/>
            <a:ext cx="4524256" cy="724853"/>
          </a:xfrm>
          <a:prstGeom prst="rect">
            <a:avLst/>
          </a:prstGeom>
          <a:noFill/>
          <a:ln/>
        </p:spPr>
        <p:txBody>
          <a:bodyPr wrap="square" lIns="0" tIns="0" rIns="0" bIns="0" rtlCol="0" anchor="t"/>
          <a:lstStyle/>
          <a:p>
            <a:pPr marL="0" indent="0" algn="ctr">
              <a:lnSpc>
                <a:spcPts val="2850"/>
              </a:lnSpc>
              <a:buNone/>
            </a:pPr>
            <a:r>
              <a:rPr lang="en-US" sz="1750" dirty="0">
                <a:solidFill>
                  <a:srgbClr val="D7D4CC"/>
                </a:solidFill>
                <a:latin typeface="Raleway Medium" pitchFamily="34" charset="0"/>
                <a:ea typeface="Raleway Medium" pitchFamily="34" charset="-122"/>
                <a:cs typeface="Raleway Medium" pitchFamily="34" charset="-120"/>
              </a:rPr>
              <a:t>Flexbox, CSS Grid i maquetació responsiva</a:t>
            </a:r>
            <a:endParaRPr lang="en-US" sz="1750" dirty="0"/>
          </a:p>
        </p:txBody>
      </p:sp>
      <p:sp>
        <p:nvSpPr>
          <p:cNvPr id="19" name="Shape 17"/>
          <p:cNvSpPr/>
          <p:nvPr/>
        </p:nvSpPr>
        <p:spPr>
          <a:xfrm>
            <a:off x="9078954" y="3984903"/>
            <a:ext cx="30480" cy="679728"/>
          </a:xfrm>
          <a:prstGeom prst="roundRect">
            <a:avLst>
              <a:gd name="adj" fmla="val 1115106"/>
            </a:avLst>
          </a:prstGeom>
          <a:solidFill>
            <a:srgbClr val="5F5F63"/>
          </a:solidFill>
          <a:ln/>
        </p:spPr>
        <p:txBody>
          <a:bodyPr/>
          <a:lstStyle/>
          <a:p>
            <a:endParaRPr lang="es-ES"/>
          </a:p>
        </p:txBody>
      </p:sp>
      <p:sp>
        <p:nvSpPr>
          <p:cNvPr id="20" name="Shape 18"/>
          <p:cNvSpPr/>
          <p:nvPr/>
        </p:nvSpPr>
        <p:spPr>
          <a:xfrm>
            <a:off x="8828400" y="3729990"/>
            <a:ext cx="509826" cy="509826"/>
          </a:xfrm>
          <a:prstGeom prst="roundRect">
            <a:avLst>
              <a:gd name="adj" fmla="val 66667"/>
            </a:avLst>
          </a:prstGeom>
          <a:solidFill>
            <a:srgbClr val="46464A"/>
          </a:solidFill>
          <a:ln/>
        </p:spPr>
        <p:txBody>
          <a:bodyPr/>
          <a:lstStyle/>
          <a:p>
            <a:endParaRPr lang="es-ES"/>
          </a:p>
        </p:txBody>
      </p:sp>
      <p:sp>
        <p:nvSpPr>
          <p:cNvPr id="21" name="Text 19"/>
          <p:cNvSpPr/>
          <p:nvPr/>
        </p:nvSpPr>
        <p:spPr>
          <a:xfrm>
            <a:off x="8932282" y="3796129"/>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4</a:t>
            </a:r>
            <a:endParaRPr lang="en-US" sz="2350" dirty="0"/>
          </a:p>
        </p:txBody>
      </p:sp>
      <p:sp>
        <p:nvSpPr>
          <p:cNvPr id="24" name="Text 22"/>
          <p:cNvSpPr/>
          <p:nvPr/>
        </p:nvSpPr>
        <p:spPr>
          <a:xfrm>
            <a:off x="881063" y="6321504"/>
            <a:ext cx="12868275" cy="1087279"/>
          </a:xfrm>
          <a:prstGeom prst="rect">
            <a:avLst/>
          </a:prstGeom>
          <a:noFill/>
          <a:ln/>
        </p:spPr>
        <p:txBody>
          <a:bodyPr wrap="square" lIns="0" tIns="0" rIns="0" bIns="0" rtlCol="0" anchor="t"/>
          <a:lstStyle/>
          <a:p>
            <a:pPr marL="0" indent="0" algn="l">
              <a:lnSpc>
                <a:spcPts val="2850"/>
              </a:lnSpc>
              <a:buNone/>
            </a:pPr>
            <a:r>
              <a:rPr lang="en-US" sz="1750" dirty="0">
                <a:solidFill>
                  <a:srgbClr val="D7D4CC"/>
                </a:solidFill>
                <a:latin typeface="Raleway Medium" pitchFamily="34" charset="0"/>
                <a:ea typeface="Raleway Medium" pitchFamily="34" charset="-122"/>
                <a:cs typeface="Raleway Medium" pitchFamily="34" charset="-120"/>
              </a:rPr>
              <a:t>El Bloc 4 finalitza amb l'entrega dels fitxers CSS i la justificació de la implementació el 12/12/2024. L'entrega ha d'incloure els arxius HTML vinculats als fulls d'estil, els fulls d'estil externs, imatges i recursos utilitzats, i un document justificatiu de les decisions de maquetació preses.</a:t>
            </a:r>
            <a:endParaRPr lang="en-US" sz="1750" dirty="0"/>
          </a:p>
        </p:txBody>
      </p:sp>
      <p:sp>
        <p:nvSpPr>
          <p:cNvPr id="28" name="Shape 12">
            <a:extLst>
              <a:ext uri="{FF2B5EF4-FFF2-40B4-BE49-F238E27FC236}">
                <a16:creationId xmlns:a16="http://schemas.microsoft.com/office/drawing/2014/main" id="{E9727553-160C-B6C0-7011-1EE78FB0AD3A}"/>
              </a:ext>
            </a:extLst>
          </p:cNvPr>
          <p:cNvSpPr/>
          <p:nvPr/>
        </p:nvSpPr>
        <p:spPr>
          <a:xfrm>
            <a:off x="11445288" y="3326947"/>
            <a:ext cx="30480" cy="679728"/>
          </a:xfrm>
          <a:prstGeom prst="roundRect">
            <a:avLst>
              <a:gd name="adj" fmla="val 1115106"/>
            </a:avLst>
          </a:prstGeom>
          <a:solidFill>
            <a:srgbClr val="5F5F63"/>
          </a:solidFill>
          <a:ln/>
        </p:spPr>
        <p:txBody>
          <a:bodyPr/>
          <a:lstStyle/>
          <a:p>
            <a:endParaRPr lang="es-ES"/>
          </a:p>
        </p:txBody>
      </p:sp>
      <p:sp>
        <p:nvSpPr>
          <p:cNvPr id="25" name="Shape 13">
            <a:extLst>
              <a:ext uri="{FF2B5EF4-FFF2-40B4-BE49-F238E27FC236}">
                <a16:creationId xmlns:a16="http://schemas.microsoft.com/office/drawing/2014/main" id="{6F480007-EE07-1373-1D81-D6F416F3E526}"/>
              </a:ext>
            </a:extLst>
          </p:cNvPr>
          <p:cNvSpPr/>
          <p:nvPr/>
        </p:nvSpPr>
        <p:spPr>
          <a:xfrm>
            <a:off x="11205614" y="3762647"/>
            <a:ext cx="509826" cy="509826"/>
          </a:xfrm>
          <a:prstGeom prst="roundRect">
            <a:avLst>
              <a:gd name="adj" fmla="val 66667"/>
            </a:avLst>
          </a:prstGeom>
          <a:solidFill>
            <a:srgbClr val="46464A"/>
          </a:solidFill>
          <a:ln/>
        </p:spPr>
        <p:txBody>
          <a:bodyPr/>
          <a:lstStyle/>
          <a:p>
            <a:endParaRPr lang="es-ES" dirty="0"/>
          </a:p>
        </p:txBody>
      </p:sp>
      <p:sp>
        <p:nvSpPr>
          <p:cNvPr id="26" name="Text 14">
            <a:extLst>
              <a:ext uri="{FF2B5EF4-FFF2-40B4-BE49-F238E27FC236}">
                <a16:creationId xmlns:a16="http://schemas.microsoft.com/office/drawing/2014/main" id="{A20E7E9A-E6BE-2559-069E-04554E3F8A98}"/>
              </a:ext>
            </a:extLst>
          </p:cNvPr>
          <p:cNvSpPr/>
          <p:nvPr/>
        </p:nvSpPr>
        <p:spPr>
          <a:xfrm>
            <a:off x="11309496" y="3828786"/>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27" name="Text 19">
            <a:extLst>
              <a:ext uri="{FF2B5EF4-FFF2-40B4-BE49-F238E27FC236}">
                <a16:creationId xmlns:a16="http://schemas.microsoft.com/office/drawing/2014/main" id="{C3BA6411-37E6-8210-C953-6609D01754EF}"/>
              </a:ext>
            </a:extLst>
          </p:cNvPr>
          <p:cNvSpPr/>
          <p:nvPr/>
        </p:nvSpPr>
        <p:spPr>
          <a:xfrm>
            <a:off x="11305369" y="3850555"/>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5</a:t>
            </a:r>
            <a:endParaRPr lang="en-US" sz="2350" dirty="0"/>
          </a:p>
        </p:txBody>
      </p:sp>
      <p:sp>
        <p:nvSpPr>
          <p:cNvPr id="29" name="Text 20"/>
          <p:cNvSpPr/>
          <p:nvPr/>
        </p:nvSpPr>
        <p:spPr>
          <a:xfrm>
            <a:off x="9651651" y="1886749"/>
            <a:ext cx="3609618"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25-26 (10-12/12/2024):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err="1">
                <a:solidFill>
                  <a:srgbClr val="D7D4CC"/>
                </a:solidFill>
                <a:latin typeface="Comfortaa Bold" pitchFamily="34" charset="0"/>
                <a:ea typeface="Comfortaa Bold" pitchFamily="34" charset="-122"/>
                <a:cs typeface="Comfortaa Bold" pitchFamily="34" charset="-120"/>
              </a:rPr>
              <a:t>Implementació</a:t>
            </a:r>
            <a:r>
              <a:rPr lang="en-US" sz="1950" b="1" dirty="0">
                <a:solidFill>
                  <a:srgbClr val="D7D4CC"/>
                </a:solidFill>
                <a:latin typeface="Comfortaa Bold" pitchFamily="34" charset="0"/>
                <a:ea typeface="Comfortaa Bold" pitchFamily="34" charset="-122"/>
                <a:cs typeface="Comfortaa Bold" pitchFamily="34" charset="-120"/>
              </a:rPr>
              <a:t> Guia d'Estils</a:t>
            </a:r>
            <a:endParaRPr lang="en-US" sz="1950" dirty="0"/>
          </a:p>
        </p:txBody>
      </p:sp>
      <p:sp>
        <p:nvSpPr>
          <p:cNvPr id="30" name="Text 21"/>
          <p:cNvSpPr/>
          <p:nvPr/>
        </p:nvSpPr>
        <p:spPr>
          <a:xfrm>
            <a:off x="9194332" y="2467913"/>
            <a:ext cx="4524256" cy="724853"/>
          </a:xfrm>
          <a:prstGeom prst="rect">
            <a:avLst/>
          </a:prstGeom>
          <a:noFill/>
          <a:ln/>
        </p:spPr>
        <p:txBody>
          <a:bodyPr wrap="square" lIns="0" tIns="0" rIns="0" bIns="0" rtlCol="0" anchor="t"/>
          <a:lstStyle/>
          <a:p>
            <a:pPr marL="0" indent="0" algn="ctr">
              <a:lnSpc>
                <a:spcPts val="2850"/>
              </a:lnSpc>
              <a:buNone/>
            </a:pPr>
            <a:r>
              <a:rPr lang="en-US" sz="1750" dirty="0" err="1">
                <a:solidFill>
                  <a:srgbClr val="D7D4CC"/>
                </a:solidFill>
                <a:latin typeface="Raleway Medium" pitchFamily="34" charset="0"/>
                <a:ea typeface="Raleway Medium" pitchFamily="34" charset="-122"/>
                <a:cs typeface="Raleway Medium" pitchFamily="34" charset="-120"/>
              </a:rPr>
              <a:t>Consolidació</a:t>
            </a:r>
            <a:r>
              <a:rPr lang="en-US" sz="1750" dirty="0">
                <a:solidFill>
                  <a:srgbClr val="D7D4CC"/>
                </a:solidFill>
                <a:latin typeface="Raleway Medium" pitchFamily="34" charset="0"/>
                <a:ea typeface="Raleway Medium" pitchFamily="34" charset="-122"/>
                <a:cs typeface="Raleway Medium" pitchFamily="34" charset="-120"/>
              </a:rPr>
              <a:t> dels estils i accessibilitat amb CSS</a:t>
            </a:r>
            <a:endParaRPr lang="en-US" sz="1750" dirty="0"/>
          </a:p>
        </p:txBody>
      </p:sp>
      <p:sp>
        <p:nvSpPr>
          <p:cNvPr id="31" name="Text 20">
            <a:extLst>
              <a:ext uri="{FF2B5EF4-FFF2-40B4-BE49-F238E27FC236}">
                <a16:creationId xmlns:a16="http://schemas.microsoft.com/office/drawing/2014/main" id="{679AB321-8752-3C33-6D59-1D2B4D9AE002}"/>
              </a:ext>
            </a:extLst>
          </p:cNvPr>
          <p:cNvSpPr/>
          <p:nvPr/>
        </p:nvSpPr>
        <p:spPr>
          <a:xfrm>
            <a:off x="7278564" y="4891207"/>
            <a:ext cx="3609618"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23-24 (3-5/12/2024):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a:solidFill>
                  <a:srgbClr val="D7D4CC"/>
                </a:solidFill>
                <a:latin typeface="Comfortaa Bold" pitchFamily="34" charset="0"/>
                <a:ea typeface="Comfortaa Bold" pitchFamily="34" charset="-122"/>
                <a:cs typeface="Comfortaa Bold" pitchFamily="34" charset="-120"/>
              </a:rPr>
              <a:t>CSS </a:t>
            </a:r>
            <a:r>
              <a:rPr lang="en-US" sz="1950" b="1" dirty="0" err="1">
                <a:solidFill>
                  <a:srgbClr val="D7D4CC"/>
                </a:solidFill>
                <a:latin typeface="Comfortaa Bold" pitchFamily="34" charset="0"/>
                <a:ea typeface="Comfortaa Bold" pitchFamily="34" charset="-122"/>
                <a:cs typeface="Comfortaa Bold" pitchFamily="34" charset="-120"/>
              </a:rPr>
              <a:t>Semàntic</a:t>
            </a:r>
            <a:endParaRPr lang="en-US" sz="1950" dirty="0"/>
          </a:p>
        </p:txBody>
      </p:sp>
      <p:sp>
        <p:nvSpPr>
          <p:cNvPr id="32" name="Text 21">
            <a:extLst>
              <a:ext uri="{FF2B5EF4-FFF2-40B4-BE49-F238E27FC236}">
                <a16:creationId xmlns:a16="http://schemas.microsoft.com/office/drawing/2014/main" id="{E34B64E5-D5C1-C7C3-B7E6-8D1758FDEAA9}"/>
              </a:ext>
            </a:extLst>
          </p:cNvPr>
          <p:cNvSpPr/>
          <p:nvPr/>
        </p:nvSpPr>
        <p:spPr>
          <a:xfrm>
            <a:off x="6821245" y="5472371"/>
            <a:ext cx="4524256" cy="724853"/>
          </a:xfrm>
          <a:prstGeom prst="rect">
            <a:avLst/>
          </a:prstGeom>
          <a:noFill/>
          <a:ln/>
        </p:spPr>
        <p:txBody>
          <a:bodyPr wrap="square" lIns="0" tIns="0" rIns="0" bIns="0" rtlCol="0" anchor="t"/>
          <a:lstStyle/>
          <a:p>
            <a:pPr marL="0" indent="0" algn="ctr">
              <a:lnSpc>
                <a:spcPts val="2850"/>
              </a:lnSpc>
              <a:buNone/>
            </a:pPr>
            <a:r>
              <a:rPr lang="en-US" sz="1750" dirty="0">
                <a:solidFill>
                  <a:srgbClr val="D7D4CC"/>
                </a:solidFill>
                <a:latin typeface="Raleway Medium" pitchFamily="34" charset="0"/>
                <a:ea typeface="Raleway Medium" pitchFamily="34" charset="-122"/>
                <a:cs typeface="Raleway Medium" pitchFamily="34" charset="-120"/>
              </a:rPr>
              <a:t>Us de Flexbox</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C6DEE-6A2D-26D3-7D57-F9A27C4E30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39CB40-B153-B27B-4B0D-BEE8A2DDDB51}"/>
              </a:ext>
            </a:extLst>
          </p:cNvPr>
          <p:cNvSpPr/>
          <p:nvPr/>
        </p:nvSpPr>
        <p:spPr>
          <a:xfrm>
            <a:off x="881063" y="820698"/>
            <a:ext cx="5035272" cy="629364"/>
          </a:xfrm>
          <a:prstGeom prst="rect">
            <a:avLst/>
          </a:prstGeom>
          <a:noFill/>
          <a:ln/>
        </p:spPr>
        <p:txBody>
          <a:bodyPr wrap="none" lIns="0" tIns="0" rIns="0" bIns="0" rtlCol="0" anchor="t"/>
          <a:lstStyle/>
          <a:p>
            <a:pPr marL="0" indent="0" algn="l">
              <a:lnSpc>
                <a:spcPts val="4950"/>
              </a:lnSpc>
              <a:buNone/>
            </a:pPr>
            <a:r>
              <a:rPr lang="en-US" sz="3950" b="1" dirty="0">
                <a:solidFill>
                  <a:srgbClr val="FFE14D"/>
                </a:solidFill>
                <a:latin typeface="Comfortaa Bold" pitchFamily="34" charset="0"/>
                <a:ea typeface="Comfortaa Bold" pitchFamily="34" charset="-122"/>
                <a:cs typeface="Comfortaa Bold" pitchFamily="34" charset="-120"/>
              </a:rPr>
              <a:t>Bloc 5 - </a:t>
            </a:r>
            <a:r>
              <a:rPr lang="en-US" sz="3950" b="1" dirty="0" err="1">
                <a:solidFill>
                  <a:srgbClr val="FFE14D"/>
                </a:solidFill>
                <a:latin typeface="Comfortaa Bold" pitchFamily="34" charset="0"/>
                <a:ea typeface="Comfortaa Bold" pitchFamily="34" charset="-122"/>
                <a:cs typeface="Comfortaa Bold" pitchFamily="34" charset="-120"/>
              </a:rPr>
              <a:t>Multimèdia</a:t>
            </a:r>
            <a:endParaRPr lang="en-US" sz="3950" dirty="0"/>
          </a:p>
        </p:txBody>
      </p:sp>
      <p:sp>
        <p:nvSpPr>
          <p:cNvPr id="3" name="Shape 1">
            <a:extLst>
              <a:ext uri="{FF2B5EF4-FFF2-40B4-BE49-F238E27FC236}">
                <a16:creationId xmlns:a16="http://schemas.microsoft.com/office/drawing/2014/main" id="{1E1782A8-DE50-2D31-EF92-74C5DAAC5245}"/>
              </a:ext>
            </a:extLst>
          </p:cNvPr>
          <p:cNvSpPr/>
          <p:nvPr/>
        </p:nvSpPr>
        <p:spPr>
          <a:xfrm>
            <a:off x="881063" y="3984903"/>
            <a:ext cx="12868275" cy="30480"/>
          </a:xfrm>
          <a:prstGeom prst="roundRect">
            <a:avLst>
              <a:gd name="adj" fmla="val 1115106"/>
            </a:avLst>
          </a:prstGeom>
          <a:solidFill>
            <a:srgbClr val="5F5F63"/>
          </a:solidFill>
          <a:ln/>
        </p:spPr>
        <p:txBody>
          <a:bodyPr/>
          <a:lstStyle/>
          <a:p>
            <a:endParaRPr lang="es-ES"/>
          </a:p>
        </p:txBody>
      </p:sp>
      <p:sp>
        <p:nvSpPr>
          <p:cNvPr id="4" name="Shape 2">
            <a:extLst>
              <a:ext uri="{FF2B5EF4-FFF2-40B4-BE49-F238E27FC236}">
                <a16:creationId xmlns:a16="http://schemas.microsoft.com/office/drawing/2014/main" id="{7D0F9470-4259-C785-FD56-0207797A4B18}"/>
              </a:ext>
            </a:extLst>
          </p:cNvPr>
          <p:cNvSpPr/>
          <p:nvPr/>
        </p:nvSpPr>
        <p:spPr>
          <a:xfrm>
            <a:off x="4301523" y="3305175"/>
            <a:ext cx="30480" cy="679728"/>
          </a:xfrm>
          <a:prstGeom prst="roundRect">
            <a:avLst>
              <a:gd name="adj" fmla="val 1115106"/>
            </a:avLst>
          </a:prstGeom>
          <a:solidFill>
            <a:srgbClr val="5F5F63"/>
          </a:solidFill>
          <a:ln/>
        </p:spPr>
        <p:txBody>
          <a:bodyPr/>
          <a:lstStyle/>
          <a:p>
            <a:endParaRPr lang="es-ES"/>
          </a:p>
        </p:txBody>
      </p:sp>
      <p:sp>
        <p:nvSpPr>
          <p:cNvPr id="5" name="Shape 3">
            <a:extLst>
              <a:ext uri="{FF2B5EF4-FFF2-40B4-BE49-F238E27FC236}">
                <a16:creationId xmlns:a16="http://schemas.microsoft.com/office/drawing/2014/main" id="{BEF33D2A-8460-BFC5-D115-C2CD6FD1CFB2}"/>
              </a:ext>
            </a:extLst>
          </p:cNvPr>
          <p:cNvSpPr/>
          <p:nvPr/>
        </p:nvSpPr>
        <p:spPr>
          <a:xfrm>
            <a:off x="4061850" y="3729990"/>
            <a:ext cx="509826" cy="509826"/>
          </a:xfrm>
          <a:prstGeom prst="roundRect">
            <a:avLst>
              <a:gd name="adj" fmla="val 66667"/>
            </a:avLst>
          </a:prstGeom>
          <a:solidFill>
            <a:srgbClr val="46464A"/>
          </a:solidFill>
          <a:ln/>
        </p:spPr>
        <p:txBody>
          <a:bodyPr/>
          <a:lstStyle/>
          <a:p>
            <a:endParaRPr lang="es-ES"/>
          </a:p>
        </p:txBody>
      </p:sp>
      <p:sp>
        <p:nvSpPr>
          <p:cNvPr id="6" name="Text 4">
            <a:extLst>
              <a:ext uri="{FF2B5EF4-FFF2-40B4-BE49-F238E27FC236}">
                <a16:creationId xmlns:a16="http://schemas.microsoft.com/office/drawing/2014/main" id="{4460B76C-35A2-B9DE-F41A-0E056E551235}"/>
              </a:ext>
            </a:extLst>
          </p:cNvPr>
          <p:cNvSpPr/>
          <p:nvPr/>
        </p:nvSpPr>
        <p:spPr>
          <a:xfrm>
            <a:off x="4165732" y="3796129"/>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1</a:t>
            </a:r>
            <a:endParaRPr lang="en-US" sz="2350" dirty="0"/>
          </a:p>
        </p:txBody>
      </p:sp>
      <p:sp>
        <p:nvSpPr>
          <p:cNvPr id="7" name="Text 5">
            <a:extLst>
              <a:ext uri="{FF2B5EF4-FFF2-40B4-BE49-F238E27FC236}">
                <a16:creationId xmlns:a16="http://schemas.microsoft.com/office/drawing/2014/main" id="{198A3BEE-0EFF-5015-EEC4-AD53BCA6EC83}"/>
              </a:ext>
            </a:extLst>
          </p:cNvPr>
          <p:cNvSpPr/>
          <p:nvPr/>
        </p:nvSpPr>
        <p:spPr>
          <a:xfrm>
            <a:off x="2898935" y="1903214"/>
            <a:ext cx="3380065"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27 (17/12/2024):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err="1">
                <a:solidFill>
                  <a:srgbClr val="D7D4CC"/>
                </a:solidFill>
                <a:latin typeface="Comfortaa Bold" pitchFamily="34" charset="0"/>
                <a:ea typeface="Comfortaa Bold" pitchFamily="34" charset="-122"/>
                <a:cs typeface="Comfortaa Bold" pitchFamily="34" charset="-120"/>
              </a:rPr>
              <a:t>Tipus</a:t>
            </a:r>
            <a:r>
              <a:rPr lang="en-US" sz="1950" b="1" dirty="0">
                <a:solidFill>
                  <a:srgbClr val="D7D4CC"/>
                </a:solidFill>
                <a:latin typeface="Comfortaa Bold" pitchFamily="34" charset="0"/>
                <a:ea typeface="Comfortaa Bold" pitchFamily="34" charset="-122"/>
                <a:cs typeface="Comfortaa Bold" pitchFamily="34" charset="-120"/>
              </a:rPr>
              <a:t> </a:t>
            </a:r>
            <a:r>
              <a:rPr lang="en-US" sz="1950" b="1" dirty="0" err="1">
                <a:solidFill>
                  <a:srgbClr val="D7D4CC"/>
                </a:solidFill>
                <a:latin typeface="Comfortaa Bold" pitchFamily="34" charset="0"/>
                <a:ea typeface="Comfortaa Bold" pitchFamily="34" charset="-122"/>
                <a:cs typeface="Comfortaa Bold" pitchFamily="34" charset="-120"/>
              </a:rPr>
              <a:t>d’imatges</a:t>
            </a:r>
            <a:endParaRPr lang="en-US" sz="1950" dirty="0"/>
          </a:p>
        </p:txBody>
      </p:sp>
      <p:sp>
        <p:nvSpPr>
          <p:cNvPr id="8" name="Text 6">
            <a:extLst>
              <a:ext uri="{FF2B5EF4-FFF2-40B4-BE49-F238E27FC236}">
                <a16:creationId xmlns:a16="http://schemas.microsoft.com/office/drawing/2014/main" id="{7284D8AE-2E28-60B6-B0A7-0167E7490A0F}"/>
              </a:ext>
            </a:extLst>
          </p:cNvPr>
          <p:cNvSpPr/>
          <p:nvPr/>
        </p:nvSpPr>
        <p:spPr>
          <a:xfrm>
            <a:off x="2326839" y="2593232"/>
            <a:ext cx="4524256" cy="724853"/>
          </a:xfrm>
          <a:prstGeom prst="rect">
            <a:avLst/>
          </a:prstGeom>
          <a:noFill/>
          <a:ln/>
        </p:spPr>
        <p:txBody>
          <a:bodyPr wrap="square" lIns="0" tIns="0" rIns="0" bIns="0" rtlCol="0" anchor="t"/>
          <a:lstStyle/>
          <a:p>
            <a:pPr marL="0" indent="0" algn="ctr">
              <a:lnSpc>
                <a:spcPts val="2850"/>
              </a:lnSpc>
              <a:buNone/>
            </a:pPr>
            <a:r>
              <a:rPr lang="en-US" sz="1750" dirty="0">
                <a:solidFill>
                  <a:srgbClr val="D7D4CC"/>
                </a:solidFill>
                <a:latin typeface="Raleway Medium" pitchFamily="34" charset="0"/>
              </a:rPr>
              <a:t>Formats, </a:t>
            </a:r>
            <a:r>
              <a:rPr lang="en-US" sz="1750" dirty="0" err="1">
                <a:solidFill>
                  <a:srgbClr val="D7D4CC"/>
                </a:solidFill>
                <a:latin typeface="Raleway Medium" pitchFamily="34" charset="0"/>
              </a:rPr>
              <a:t>optimització</a:t>
            </a:r>
            <a:r>
              <a:rPr lang="en-US" sz="1750" dirty="0">
                <a:solidFill>
                  <a:srgbClr val="D7D4CC"/>
                </a:solidFill>
                <a:latin typeface="Raleway Medium" pitchFamily="34" charset="0"/>
              </a:rPr>
              <a:t> (JPEG, PNG, GIF) </a:t>
            </a:r>
            <a:r>
              <a:rPr lang="en-US" sz="1750" dirty="0" err="1">
                <a:solidFill>
                  <a:srgbClr val="D7D4CC"/>
                </a:solidFill>
                <a:latin typeface="Raleway Medium" pitchFamily="34" charset="0"/>
              </a:rPr>
              <a:t>i</a:t>
            </a:r>
            <a:r>
              <a:rPr lang="en-US" sz="1750" dirty="0">
                <a:solidFill>
                  <a:srgbClr val="D7D4CC"/>
                </a:solidFill>
                <a:latin typeface="Raleway Medium" pitchFamily="34" charset="0"/>
              </a:rPr>
              <a:t> </a:t>
            </a:r>
            <a:r>
              <a:rPr lang="en-US" sz="1750" dirty="0" err="1">
                <a:solidFill>
                  <a:srgbClr val="D7D4CC"/>
                </a:solidFill>
                <a:latin typeface="Raleway Medium" pitchFamily="34" charset="0"/>
              </a:rPr>
              <a:t>accessibilitat</a:t>
            </a:r>
            <a:endParaRPr lang="en-US" sz="1750" dirty="0"/>
          </a:p>
        </p:txBody>
      </p:sp>
      <p:sp>
        <p:nvSpPr>
          <p:cNvPr id="11" name="Text 9">
            <a:extLst>
              <a:ext uri="{FF2B5EF4-FFF2-40B4-BE49-F238E27FC236}">
                <a16:creationId xmlns:a16="http://schemas.microsoft.com/office/drawing/2014/main" id="{E02C470D-AB90-479A-ADE6-8D29DF0F19E3}"/>
              </a:ext>
            </a:extLst>
          </p:cNvPr>
          <p:cNvSpPr/>
          <p:nvPr/>
        </p:nvSpPr>
        <p:spPr>
          <a:xfrm>
            <a:off x="3998317" y="3796129"/>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16" name="Text 14">
            <a:extLst>
              <a:ext uri="{FF2B5EF4-FFF2-40B4-BE49-F238E27FC236}">
                <a16:creationId xmlns:a16="http://schemas.microsoft.com/office/drawing/2014/main" id="{67F31234-852E-73C3-D01E-0E11ADB62385}"/>
              </a:ext>
            </a:extLst>
          </p:cNvPr>
          <p:cNvSpPr/>
          <p:nvPr/>
        </p:nvSpPr>
        <p:spPr>
          <a:xfrm>
            <a:off x="6552443" y="3796129"/>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24" name="Text 22">
            <a:extLst>
              <a:ext uri="{FF2B5EF4-FFF2-40B4-BE49-F238E27FC236}">
                <a16:creationId xmlns:a16="http://schemas.microsoft.com/office/drawing/2014/main" id="{0860B405-AECC-07D5-4DF2-E4454E26CC78}"/>
              </a:ext>
            </a:extLst>
          </p:cNvPr>
          <p:cNvSpPr/>
          <p:nvPr/>
        </p:nvSpPr>
        <p:spPr>
          <a:xfrm>
            <a:off x="881063" y="6321504"/>
            <a:ext cx="12868275" cy="1087279"/>
          </a:xfrm>
          <a:prstGeom prst="rect">
            <a:avLst/>
          </a:prstGeom>
          <a:noFill/>
          <a:ln/>
        </p:spPr>
        <p:txBody>
          <a:bodyPr wrap="square" lIns="0" tIns="0" rIns="0" bIns="0" rtlCol="0" anchor="t"/>
          <a:lstStyle/>
          <a:p>
            <a:pPr marL="0" indent="0" algn="l">
              <a:lnSpc>
                <a:spcPts val="2850"/>
              </a:lnSpc>
              <a:buNone/>
            </a:pPr>
            <a:r>
              <a:rPr lang="en-US" sz="1750" dirty="0">
                <a:solidFill>
                  <a:srgbClr val="D7D4CC"/>
                </a:solidFill>
                <a:latin typeface="Raleway Medium" pitchFamily="34" charset="0"/>
                <a:ea typeface="Raleway Medium" pitchFamily="34" charset="-122"/>
                <a:cs typeface="Raleway Medium" pitchFamily="34" charset="-120"/>
              </a:rPr>
              <a:t>Aquest bloc no </a:t>
            </a:r>
            <a:r>
              <a:rPr lang="en-US" sz="1750" dirty="0" err="1">
                <a:solidFill>
                  <a:srgbClr val="D7D4CC"/>
                </a:solidFill>
                <a:latin typeface="Raleway Medium" pitchFamily="34" charset="0"/>
                <a:ea typeface="Raleway Medium" pitchFamily="34" charset="-122"/>
                <a:cs typeface="Raleway Medium" pitchFamily="34" charset="-120"/>
              </a:rPr>
              <a:t>requereix</a:t>
            </a:r>
            <a:r>
              <a:rPr lang="en-US" sz="1750" dirty="0">
                <a:solidFill>
                  <a:srgbClr val="D7D4CC"/>
                </a:solidFill>
                <a:latin typeface="Raleway Medium" pitchFamily="34" charset="0"/>
                <a:ea typeface="Raleway Medium" pitchFamily="34" charset="-122"/>
                <a:cs typeface="Raleway Medium" pitchFamily="34" charset="-120"/>
              </a:rPr>
              <a:t> d’un </a:t>
            </a:r>
            <a:r>
              <a:rPr lang="en-US" sz="1750" dirty="0" err="1">
                <a:solidFill>
                  <a:srgbClr val="D7D4CC"/>
                </a:solidFill>
                <a:latin typeface="Raleway Medium" pitchFamily="34" charset="0"/>
                <a:ea typeface="Raleway Medium" pitchFamily="34" charset="-122"/>
                <a:cs typeface="Raleway Medium" pitchFamily="34" charset="-120"/>
              </a:rPr>
              <a:t>entrega</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específica</a:t>
            </a:r>
            <a:r>
              <a:rPr lang="en-US" sz="1750" dirty="0">
                <a:solidFill>
                  <a:srgbClr val="D7D4CC"/>
                </a:solidFill>
                <a:latin typeface="Raleway Medium" pitchFamily="34" charset="0"/>
                <a:ea typeface="Raleway Medium" pitchFamily="34" charset="-122"/>
                <a:cs typeface="Raleway Medium" pitchFamily="34" charset="-120"/>
              </a:rPr>
              <a:t>.</a:t>
            </a:r>
            <a:endParaRPr lang="en-US" sz="1750" dirty="0"/>
          </a:p>
        </p:txBody>
      </p:sp>
      <p:sp>
        <p:nvSpPr>
          <p:cNvPr id="28" name="Shape 12">
            <a:extLst>
              <a:ext uri="{FF2B5EF4-FFF2-40B4-BE49-F238E27FC236}">
                <a16:creationId xmlns:a16="http://schemas.microsoft.com/office/drawing/2014/main" id="{DC6A6A00-FCC4-194A-C914-B3D1C7CC82CA}"/>
              </a:ext>
            </a:extLst>
          </p:cNvPr>
          <p:cNvSpPr/>
          <p:nvPr/>
        </p:nvSpPr>
        <p:spPr>
          <a:xfrm>
            <a:off x="9747117" y="3326947"/>
            <a:ext cx="30480" cy="679728"/>
          </a:xfrm>
          <a:prstGeom prst="roundRect">
            <a:avLst>
              <a:gd name="adj" fmla="val 1115106"/>
            </a:avLst>
          </a:prstGeom>
          <a:solidFill>
            <a:srgbClr val="5F5F63"/>
          </a:solidFill>
          <a:ln/>
        </p:spPr>
        <p:txBody>
          <a:bodyPr/>
          <a:lstStyle/>
          <a:p>
            <a:endParaRPr lang="es-ES"/>
          </a:p>
        </p:txBody>
      </p:sp>
      <p:sp>
        <p:nvSpPr>
          <p:cNvPr id="25" name="Shape 13">
            <a:extLst>
              <a:ext uri="{FF2B5EF4-FFF2-40B4-BE49-F238E27FC236}">
                <a16:creationId xmlns:a16="http://schemas.microsoft.com/office/drawing/2014/main" id="{65553029-DCF7-317D-3CE6-C2DB4A72801E}"/>
              </a:ext>
            </a:extLst>
          </p:cNvPr>
          <p:cNvSpPr/>
          <p:nvPr/>
        </p:nvSpPr>
        <p:spPr>
          <a:xfrm>
            <a:off x="9507443" y="3762647"/>
            <a:ext cx="509826" cy="509826"/>
          </a:xfrm>
          <a:prstGeom prst="roundRect">
            <a:avLst>
              <a:gd name="adj" fmla="val 66667"/>
            </a:avLst>
          </a:prstGeom>
          <a:solidFill>
            <a:srgbClr val="46464A"/>
          </a:solidFill>
          <a:ln/>
        </p:spPr>
        <p:txBody>
          <a:bodyPr/>
          <a:lstStyle/>
          <a:p>
            <a:endParaRPr lang="es-ES" dirty="0"/>
          </a:p>
        </p:txBody>
      </p:sp>
      <p:sp>
        <p:nvSpPr>
          <p:cNvPr id="26" name="Text 14">
            <a:extLst>
              <a:ext uri="{FF2B5EF4-FFF2-40B4-BE49-F238E27FC236}">
                <a16:creationId xmlns:a16="http://schemas.microsoft.com/office/drawing/2014/main" id="{BA30FC40-52D7-0F24-8F52-A9D6C729C30B}"/>
              </a:ext>
            </a:extLst>
          </p:cNvPr>
          <p:cNvSpPr/>
          <p:nvPr/>
        </p:nvSpPr>
        <p:spPr>
          <a:xfrm>
            <a:off x="9611325" y="3828786"/>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27" name="Text 19">
            <a:extLst>
              <a:ext uri="{FF2B5EF4-FFF2-40B4-BE49-F238E27FC236}">
                <a16:creationId xmlns:a16="http://schemas.microsoft.com/office/drawing/2014/main" id="{3485BC5C-1525-460E-DE71-2C570DB91E4C}"/>
              </a:ext>
            </a:extLst>
          </p:cNvPr>
          <p:cNvSpPr/>
          <p:nvPr/>
        </p:nvSpPr>
        <p:spPr>
          <a:xfrm>
            <a:off x="9607198" y="3850555"/>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2</a:t>
            </a:r>
            <a:endParaRPr lang="en-US" sz="2350" dirty="0"/>
          </a:p>
        </p:txBody>
      </p:sp>
      <p:sp>
        <p:nvSpPr>
          <p:cNvPr id="29" name="Text 20">
            <a:extLst>
              <a:ext uri="{FF2B5EF4-FFF2-40B4-BE49-F238E27FC236}">
                <a16:creationId xmlns:a16="http://schemas.microsoft.com/office/drawing/2014/main" id="{8465EEB1-4C59-29A6-CBE4-E5DEE5027909}"/>
              </a:ext>
            </a:extLst>
          </p:cNvPr>
          <p:cNvSpPr/>
          <p:nvPr/>
        </p:nvSpPr>
        <p:spPr>
          <a:xfrm>
            <a:off x="7953480" y="1886749"/>
            <a:ext cx="3609618"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28 (19/12/2024):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err="1">
                <a:solidFill>
                  <a:srgbClr val="D7D4CC"/>
                </a:solidFill>
                <a:latin typeface="Comfortaa Bold" pitchFamily="34" charset="0"/>
                <a:ea typeface="Comfortaa Bold" pitchFamily="34" charset="-122"/>
                <a:cs typeface="Comfortaa Bold" pitchFamily="34" charset="-120"/>
              </a:rPr>
              <a:t>Bàners</a:t>
            </a:r>
            <a:r>
              <a:rPr lang="en-US" sz="1950" b="1" dirty="0">
                <a:solidFill>
                  <a:srgbClr val="D7D4CC"/>
                </a:solidFill>
                <a:latin typeface="Comfortaa Bold" pitchFamily="34" charset="0"/>
                <a:ea typeface="Comfortaa Bold" pitchFamily="34" charset="-122"/>
                <a:cs typeface="Comfortaa Bold" pitchFamily="34" charset="-120"/>
              </a:rPr>
              <a:t> </a:t>
            </a:r>
            <a:r>
              <a:rPr lang="en-US" sz="1950" b="1" dirty="0" err="1">
                <a:solidFill>
                  <a:srgbClr val="D7D4CC"/>
                </a:solidFill>
                <a:latin typeface="Comfortaa Bold" pitchFamily="34" charset="0"/>
                <a:ea typeface="Comfortaa Bold" pitchFamily="34" charset="-122"/>
                <a:cs typeface="Comfortaa Bold" pitchFamily="34" charset="-120"/>
              </a:rPr>
              <a:t>i</a:t>
            </a:r>
            <a:r>
              <a:rPr lang="en-US" sz="1950" b="1" dirty="0">
                <a:solidFill>
                  <a:srgbClr val="D7D4CC"/>
                </a:solidFill>
                <a:latin typeface="Comfortaa Bold" pitchFamily="34" charset="0"/>
                <a:ea typeface="Comfortaa Bold" pitchFamily="34" charset="-122"/>
                <a:cs typeface="Comfortaa Bold" pitchFamily="34" charset="-120"/>
              </a:rPr>
              <a:t> </a:t>
            </a:r>
            <a:r>
              <a:rPr lang="en-US" sz="1950" b="1" dirty="0" err="1">
                <a:solidFill>
                  <a:srgbClr val="D7D4CC"/>
                </a:solidFill>
                <a:latin typeface="Comfortaa Bold" pitchFamily="34" charset="0"/>
                <a:ea typeface="Comfortaa Bold" pitchFamily="34" charset="-122"/>
                <a:cs typeface="Comfortaa Bold" pitchFamily="34" charset="-120"/>
              </a:rPr>
              <a:t>integració</a:t>
            </a:r>
            <a:endParaRPr lang="en-US" sz="1950" dirty="0"/>
          </a:p>
        </p:txBody>
      </p:sp>
      <p:sp>
        <p:nvSpPr>
          <p:cNvPr id="30" name="Text 21">
            <a:extLst>
              <a:ext uri="{FF2B5EF4-FFF2-40B4-BE49-F238E27FC236}">
                <a16:creationId xmlns:a16="http://schemas.microsoft.com/office/drawing/2014/main" id="{9BA49806-3856-36FC-AF0B-31B9F69A76EE}"/>
              </a:ext>
            </a:extLst>
          </p:cNvPr>
          <p:cNvSpPr/>
          <p:nvPr/>
        </p:nvSpPr>
        <p:spPr>
          <a:xfrm>
            <a:off x="7496161" y="2565887"/>
            <a:ext cx="4524256" cy="724853"/>
          </a:xfrm>
          <a:prstGeom prst="rect">
            <a:avLst/>
          </a:prstGeom>
          <a:noFill/>
          <a:ln/>
        </p:spPr>
        <p:txBody>
          <a:bodyPr wrap="square" lIns="0" tIns="0" rIns="0" bIns="0" rtlCol="0" anchor="t"/>
          <a:lstStyle/>
          <a:p>
            <a:pPr marL="0" indent="0" algn="l">
              <a:lnSpc>
                <a:spcPts val="2850"/>
              </a:lnSpc>
              <a:buNone/>
            </a:pPr>
            <a:r>
              <a:rPr lang="en-US" sz="1750" dirty="0" err="1">
                <a:solidFill>
                  <a:srgbClr val="D7D4CC"/>
                </a:solidFill>
                <a:latin typeface="Raleway Medium" pitchFamily="34" charset="0"/>
                <a:ea typeface="Raleway Medium" pitchFamily="34" charset="-122"/>
                <a:cs typeface="Raleway Medium" pitchFamily="34" charset="-120"/>
              </a:rPr>
              <a:t>Adaptació</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d'imatges</a:t>
            </a:r>
            <a:r>
              <a:rPr lang="en-US" sz="1750" dirty="0">
                <a:solidFill>
                  <a:srgbClr val="D7D4CC"/>
                </a:solidFill>
                <a:latin typeface="Raleway Medium" pitchFamily="34" charset="0"/>
                <a:ea typeface="Raleway Medium" pitchFamily="34" charset="-122"/>
                <a:cs typeface="Raleway Medium" pitchFamily="34" charset="-120"/>
              </a:rPr>
              <a:t> a </a:t>
            </a:r>
            <a:r>
              <a:rPr lang="en-US" sz="1750" dirty="0" err="1">
                <a:solidFill>
                  <a:srgbClr val="D7D4CC"/>
                </a:solidFill>
                <a:latin typeface="Raleway Medium" pitchFamily="34" charset="0"/>
                <a:ea typeface="Raleway Medium" pitchFamily="34" charset="-122"/>
                <a:cs typeface="Raleway Medium" pitchFamily="34" charset="-120"/>
              </a:rPr>
              <a:t>diferents</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dispositius</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Pràctica</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d'inserció</a:t>
            </a:r>
            <a:r>
              <a:rPr lang="en-US" sz="1750" dirty="0">
                <a:solidFill>
                  <a:srgbClr val="D7D4CC"/>
                </a:solidFill>
                <a:latin typeface="Raleway Medium" pitchFamily="34" charset="0"/>
                <a:ea typeface="Raleway Medium" pitchFamily="34" charset="-122"/>
                <a:cs typeface="Raleway Medium" pitchFamily="34" charset="-120"/>
              </a:rPr>
              <a:t> de </a:t>
            </a:r>
            <a:r>
              <a:rPr lang="en-US" sz="1750" dirty="0" err="1">
                <a:solidFill>
                  <a:srgbClr val="D7D4CC"/>
                </a:solidFill>
                <a:latin typeface="Raleway Medium" pitchFamily="34" charset="0"/>
                <a:ea typeface="Raleway Medium" pitchFamily="34" charset="-122"/>
                <a:cs typeface="Raleway Medium" pitchFamily="34" charset="-120"/>
              </a:rPr>
              <a:t>bàners</a:t>
            </a:r>
            <a:r>
              <a:rPr lang="en-US" sz="1750" dirty="0">
                <a:solidFill>
                  <a:srgbClr val="D7D4CC"/>
                </a:solidFill>
                <a:latin typeface="Raleway Medium" pitchFamily="34" charset="0"/>
                <a:ea typeface="Raleway Medium" pitchFamily="34" charset="-122"/>
                <a:cs typeface="Raleway Medium" pitchFamily="34" charset="-120"/>
              </a:rPr>
              <a:t>.</a:t>
            </a:r>
            <a:endParaRPr lang="en-US" sz="1750" dirty="0"/>
          </a:p>
        </p:txBody>
      </p:sp>
    </p:spTree>
    <p:extLst>
      <p:ext uri="{BB962C8B-B14F-4D97-AF65-F5344CB8AC3E}">
        <p14:creationId xmlns:p14="http://schemas.microsoft.com/office/powerpoint/2010/main" val="2650470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CF652-8498-4B52-8921-1D517779E1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0E0EE2-4AD9-0367-A754-9B4119AB8957}"/>
              </a:ext>
            </a:extLst>
          </p:cNvPr>
          <p:cNvSpPr/>
          <p:nvPr/>
        </p:nvSpPr>
        <p:spPr>
          <a:xfrm>
            <a:off x="881063" y="711994"/>
            <a:ext cx="4475798" cy="559356"/>
          </a:xfrm>
          <a:prstGeom prst="rect">
            <a:avLst/>
          </a:prstGeom>
          <a:noFill/>
          <a:ln/>
        </p:spPr>
        <p:txBody>
          <a:bodyPr wrap="none" lIns="0" tIns="0" rIns="0" bIns="0" rtlCol="0" anchor="t"/>
          <a:lstStyle/>
          <a:p>
            <a:pPr marL="0" indent="0" algn="l">
              <a:lnSpc>
                <a:spcPts val="4400"/>
              </a:lnSpc>
              <a:buNone/>
            </a:pPr>
            <a:r>
              <a:rPr lang="en-US" sz="3500" b="1" dirty="0">
                <a:solidFill>
                  <a:srgbClr val="FFE14D"/>
                </a:solidFill>
                <a:latin typeface="Comfortaa Bold" pitchFamily="34" charset="0"/>
                <a:ea typeface="Comfortaa Bold" pitchFamily="34" charset="-122"/>
                <a:cs typeface="Comfortaa Bold" pitchFamily="34" charset="-120"/>
              </a:rPr>
              <a:t>Bloc 6 - </a:t>
            </a:r>
            <a:r>
              <a:rPr lang="en-US" sz="3500" b="1" dirty="0" err="1">
                <a:solidFill>
                  <a:srgbClr val="FFE14D"/>
                </a:solidFill>
                <a:latin typeface="Comfortaa Bold" pitchFamily="34" charset="0"/>
                <a:ea typeface="Comfortaa Bold" pitchFamily="34" charset="-122"/>
                <a:cs typeface="Comfortaa Bold" pitchFamily="34" charset="-120"/>
              </a:rPr>
              <a:t>Interactivitat</a:t>
            </a:r>
            <a:endParaRPr lang="en-US" sz="3500" dirty="0"/>
          </a:p>
        </p:txBody>
      </p:sp>
      <p:sp>
        <p:nvSpPr>
          <p:cNvPr id="3" name="Shape 1">
            <a:extLst>
              <a:ext uri="{FF2B5EF4-FFF2-40B4-BE49-F238E27FC236}">
                <a16:creationId xmlns:a16="http://schemas.microsoft.com/office/drawing/2014/main" id="{C9218415-6A58-C40F-C7E9-4ADDFF1558C7}"/>
              </a:ext>
            </a:extLst>
          </p:cNvPr>
          <p:cNvSpPr/>
          <p:nvPr/>
        </p:nvSpPr>
        <p:spPr>
          <a:xfrm>
            <a:off x="7303770" y="1674138"/>
            <a:ext cx="22860" cy="4972169"/>
          </a:xfrm>
          <a:prstGeom prst="roundRect">
            <a:avLst>
              <a:gd name="adj" fmla="val 1321608"/>
            </a:avLst>
          </a:prstGeom>
          <a:solidFill>
            <a:srgbClr val="5F5F63"/>
          </a:solidFill>
          <a:ln/>
        </p:spPr>
        <p:txBody>
          <a:bodyPr/>
          <a:lstStyle/>
          <a:p>
            <a:endParaRPr lang="es-ES"/>
          </a:p>
        </p:txBody>
      </p:sp>
      <p:sp>
        <p:nvSpPr>
          <p:cNvPr id="4" name="Shape 2">
            <a:extLst>
              <a:ext uri="{FF2B5EF4-FFF2-40B4-BE49-F238E27FC236}">
                <a16:creationId xmlns:a16="http://schemas.microsoft.com/office/drawing/2014/main" id="{056B44D6-BFE8-4409-C552-4D179B471F82}"/>
              </a:ext>
            </a:extLst>
          </p:cNvPr>
          <p:cNvSpPr/>
          <p:nvPr/>
        </p:nvSpPr>
        <p:spPr>
          <a:xfrm>
            <a:off x="6507361" y="1889284"/>
            <a:ext cx="604123" cy="22860"/>
          </a:xfrm>
          <a:prstGeom prst="roundRect">
            <a:avLst>
              <a:gd name="adj" fmla="val 1321608"/>
            </a:avLst>
          </a:prstGeom>
          <a:solidFill>
            <a:srgbClr val="5F5F63"/>
          </a:solidFill>
          <a:ln/>
        </p:spPr>
        <p:txBody>
          <a:bodyPr/>
          <a:lstStyle/>
          <a:p>
            <a:endParaRPr lang="es-ES"/>
          </a:p>
        </p:txBody>
      </p:sp>
      <p:sp>
        <p:nvSpPr>
          <p:cNvPr id="5" name="Shape 3">
            <a:extLst>
              <a:ext uri="{FF2B5EF4-FFF2-40B4-BE49-F238E27FC236}">
                <a16:creationId xmlns:a16="http://schemas.microsoft.com/office/drawing/2014/main" id="{060F94BB-67F5-9598-1BAD-BEF8904DB871}"/>
              </a:ext>
            </a:extLst>
          </p:cNvPr>
          <p:cNvSpPr/>
          <p:nvPr/>
        </p:nvSpPr>
        <p:spPr>
          <a:xfrm>
            <a:off x="7088624" y="1674138"/>
            <a:ext cx="453152" cy="453152"/>
          </a:xfrm>
          <a:prstGeom prst="roundRect">
            <a:avLst>
              <a:gd name="adj" fmla="val 66671"/>
            </a:avLst>
          </a:prstGeom>
          <a:solidFill>
            <a:srgbClr val="46464A"/>
          </a:solidFill>
          <a:ln/>
        </p:spPr>
        <p:txBody>
          <a:bodyPr/>
          <a:lstStyle/>
          <a:p>
            <a:endParaRPr lang="es-ES"/>
          </a:p>
        </p:txBody>
      </p:sp>
      <p:pic>
        <p:nvPicPr>
          <p:cNvPr id="6" name="Image 0" descr="preencoded.png">
            <a:extLst>
              <a:ext uri="{FF2B5EF4-FFF2-40B4-BE49-F238E27FC236}">
                <a16:creationId xmlns:a16="http://schemas.microsoft.com/office/drawing/2014/main" id="{FCF58695-2788-ECDE-3376-9D2F5EC70BB3}"/>
              </a:ext>
            </a:extLst>
          </p:cNvPr>
          <p:cNvPicPr>
            <a:picLocks noChangeAspect="1"/>
          </p:cNvPicPr>
          <p:nvPr/>
        </p:nvPicPr>
        <p:blipFill>
          <a:blip r:embed="rId3"/>
          <a:stretch>
            <a:fillRect/>
          </a:stretch>
        </p:blipFill>
        <p:spPr>
          <a:xfrm>
            <a:off x="7180957" y="1732895"/>
            <a:ext cx="268486" cy="335637"/>
          </a:xfrm>
          <a:prstGeom prst="rect">
            <a:avLst/>
          </a:prstGeom>
        </p:spPr>
      </p:pic>
      <p:sp>
        <p:nvSpPr>
          <p:cNvPr id="7" name="Text 4">
            <a:extLst>
              <a:ext uri="{FF2B5EF4-FFF2-40B4-BE49-F238E27FC236}">
                <a16:creationId xmlns:a16="http://schemas.microsoft.com/office/drawing/2014/main" id="{46E905E6-4856-9696-7AA5-8438BEB41D28}"/>
              </a:ext>
            </a:extLst>
          </p:cNvPr>
          <p:cNvSpPr/>
          <p:nvPr/>
        </p:nvSpPr>
        <p:spPr>
          <a:xfrm>
            <a:off x="2523411" y="1743313"/>
            <a:ext cx="3784759" cy="279797"/>
          </a:xfrm>
          <a:prstGeom prst="rect">
            <a:avLst/>
          </a:prstGeom>
          <a:noFill/>
          <a:ln/>
        </p:spPr>
        <p:txBody>
          <a:bodyPr wrap="none" lIns="0" tIns="0" rIns="0" bIns="0" rtlCol="0" anchor="t"/>
          <a:lstStyle/>
          <a:p>
            <a:pPr marL="0" indent="0" algn="r">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29-30 (07-09/01/2025): </a:t>
            </a:r>
            <a:r>
              <a:rPr lang="en-US" sz="1750" b="1" dirty="0" err="1">
                <a:solidFill>
                  <a:srgbClr val="D7D4CC"/>
                </a:solidFill>
                <a:latin typeface="Comfortaa Bold" pitchFamily="34" charset="0"/>
                <a:ea typeface="Comfortaa Bold" pitchFamily="34" charset="-122"/>
                <a:cs typeface="Comfortaa Bold" pitchFamily="34" charset="-120"/>
              </a:rPr>
              <a:t>Interactivitat</a:t>
            </a:r>
            <a:r>
              <a:rPr lang="en-US" sz="1750" b="1" dirty="0">
                <a:solidFill>
                  <a:srgbClr val="D7D4CC"/>
                </a:solidFill>
                <a:latin typeface="Comfortaa Bold" pitchFamily="34" charset="0"/>
                <a:ea typeface="Comfortaa Bold" pitchFamily="34" charset="-122"/>
                <a:cs typeface="Comfortaa Bold" pitchFamily="34" charset="-120"/>
              </a:rPr>
              <a:t> Web</a:t>
            </a:r>
            <a:endParaRPr lang="en-US" sz="1750" dirty="0"/>
          </a:p>
        </p:txBody>
      </p:sp>
      <p:sp>
        <p:nvSpPr>
          <p:cNvPr id="8" name="Text 5">
            <a:extLst>
              <a:ext uri="{FF2B5EF4-FFF2-40B4-BE49-F238E27FC236}">
                <a16:creationId xmlns:a16="http://schemas.microsoft.com/office/drawing/2014/main" id="{6BDA42AF-AF4F-367C-9B74-5A0549C66873}"/>
              </a:ext>
            </a:extLst>
          </p:cNvPr>
          <p:cNvSpPr/>
          <p:nvPr/>
        </p:nvSpPr>
        <p:spPr>
          <a:xfrm>
            <a:off x="881063" y="2143839"/>
            <a:ext cx="5427107" cy="644604"/>
          </a:xfrm>
          <a:prstGeom prst="rect">
            <a:avLst/>
          </a:prstGeom>
          <a:noFill/>
          <a:ln/>
        </p:spPr>
        <p:txBody>
          <a:bodyPr wrap="square" lIns="0" tIns="0" rIns="0" bIns="0" rtlCol="0" anchor="t"/>
          <a:lstStyle/>
          <a:p>
            <a:pPr marL="0" indent="0" algn="r">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Elements </a:t>
            </a:r>
            <a:r>
              <a:rPr lang="en-US" sz="1550" dirty="0" err="1">
                <a:solidFill>
                  <a:srgbClr val="D7D4CC"/>
                </a:solidFill>
                <a:latin typeface="Raleway Medium" pitchFamily="34" charset="0"/>
                <a:ea typeface="Raleway Medium" pitchFamily="34" charset="-122"/>
                <a:cs typeface="Raleway Medium" pitchFamily="34" charset="-120"/>
              </a:rPr>
              <a:t>interactius</a:t>
            </a:r>
            <a:r>
              <a:rPr lang="en-US" sz="1550" dirty="0">
                <a:solidFill>
                  <a:srgbClr val="D7D4CC"/>
                </a:solidFill>
                <a:latin typeface="Raleway Medium" pitchFamily="34" charset="0"/>
                <a:ea typeface="Raleway Medium" pitchFamily="34" charset="-122"/>
                <a:cs typeface="Raleway Medium" pitchFamily="34" charset="-120"/>
              </a:rPr>
              <a:t> (slides, toggles, </a:t>
            </a:r>
            <a:br>
              <a:rPr lang="en-US" sz="1550" dirty="0">
                <a:solidFill>
                  <a:srgbClr val="D7D4CC"/>
                </a:solidFill>
                <a:latin typeface="Raleway Medium" pitchFamily="34" charset="0"/>
                <a:ea typeface="Raleway Medium" pitchFamily="34" charset="-122"/>
                <a:cs typeface="Raleway Medium" pitchFamily="34" charset="-120"/>
              </a:rPr>
            </a:br>
            <a:r>
              <a:rPr lang="en-US" sz="1550" dirty="0" err="1">
                <a:solidFill>
                  <a:srgbClr val="D7D4CC"/>
                </a:solidFill>
                <a:latin typeface="Raleway Medium" pitchFamily="34" charset="0"/>
                <a:ea typeface="Raleway Medium" pitchFamily="34" charset="-122"/>
                <a:cs typeface="Raleway Medium" pitchFamily="34" charset="-120"/>
              </a:rPr>
              <a:t>carrusels</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etc</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i</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concepte</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d’esdeveniment</a:t>
            </a:r>
            <a:endParaRPr lang="en-US" sz="1550" dirty="0"/>
          </a:p>
        </p:txBody>
      </p:sp>
      <p:sp>
        <p:nvSpPr>
          <p:cNvPr id="9" name="Shape 6">
            <a:extLst>
              <a:ext uri="{FF2B5EF4-FFF2-40B4-BE49-F238E27FC236}">
                <a16:creationId xmlns:a16="http://schemas.microsoft.com/office/drawing/2014/main" id="{4D88767A-57D8-8021-10AC-26B70666A91F}"/>
              </a:ext>
            </a:extLst>
          </p:cNvPr>
          <p:cNvSpPr/>
          <p:nvPr/>
        </p:nvSpPr>
        <p:spPr>
          <a:xfrm>
            <a:off x="7518916" y="3097649"/>
            <a:ext cx="604123" cy="22860"/>
          </a:xfrm>
          <a:prstGeom prst="roundRect">
            <a:avLst>
              <a:gd name="adj" fmla="val 1321608"/>
            </a:avLst>
          </a:prstGeom>
          <a:solidFill>
            <a:srgbClr val="5F5F63"/>
          </a:solidFill>
          <a:ln/>
        </p:spPr>
        <p:txBody>
          <a:bodyPr/>
          <a:lstStyle/>
          <a:p>
            <a:endParaRPr lang="es-ES"/>
          </a:p>
        </p:txBody>
      </p:sp>
      <p:sp>
        <p:nvSpPr>
          <p:cNvPr id="10" name="Shape 7">
            <a:extLst>
              <a:ext uri="{FF2B5EF4-FFF2-40B4-BE49-F238E27FC236}">
                <a16:creationId xmlns:a16="http://schemas.microsoft.com/office/drawing/2014/main" id="{4ED7087D-20E4-38B0-F80F-D36B81CE078E}"/>
              </a:ext>
            </a:extLst>
          </p:cNvPr>
          <p:cNvSpPr/>
          <p:nvPr/>
        </p:nvSpPr>
        <p:spPr>
          <a:xfrm>
            <a:off x="7088624" y="2882503"/>
            <a:ext cx="453152" cy="453152"/>
          </a:xfrm>
          <a:prstGeom prst="roundRect">
            <a:avLst>
              <a:gd name="adj" fmla="val 66671"/>
            </a:avLst>
          </a:prstGeom>
          <a:solidFill>
            <a:srgbClr val="46464A"/>
          </a:solidFill>
          <a:ln/>
        </p:spPr>
        <p:txBody>
          <a:bodyPr/>
          <a:lstStyle/>
          <a:p>
            <a:endParaRPr lang="es-ES"/>
          </a:p>
        </p:txBody>
      </p:sp>
      <p:pic>
        <p:nvPicPr>
          <p:cNvPr id="11" name="Image 1" descr="preencoded.png">
            <a:extLst>
              <a:ext uri="{FF2B5EF4-FFF2-40B4-BE49-F238E27FC236}">
                <a16:creationId xmlns:a16="http://schemas.microsoft.com/office/drawing/2014/main" id="{C96C3DAD-950D-2771-ED8D-38F23B98D3DE}"/>
              </a:ext>
            </a:extLst>
          </p:cNvPr>
          <p:cNvPicPr>
            <a:picLocks noChangeAspect="1"/>
          </p:cNvPicPr>
          <p:nvPr/>
        </p:nvPicPr>
        <p:blipFill>
          <a:blip r:embed="rId4"/>
          <a:stretch>
            <a:fillRect/>
          </a:stretch>
        </p:blipFill>
        <p:spPr>
          <a:xfrm>
            <a:off x="7180957" y="2941260"/>
            <a:ext cx="268486" cy="335637"/>
          </a:xfrm>
          <a:prstGeom prst="rect">
            <a:avLst/>
          </a:prstGeom>
        </p:spPr>
      </p:pic>
      <p:sp>
        <p:nvSpPr>
          <p:cNvPr id="12" name="Text 8">
            <a:extLst>
              <a:ext uri="{FF2B5EF4-FFF2-40B4-BE49-F238E27FC236}">
                <a16:creationId xmlns:a16="http://schemas.microsoft.com/office/drawing/2014/main" id="{A5AEF9AC-86F3-2285-413A-7487DA8D8465}"/>
              </a:ext>
            </a:extLst>
          </p:cNvPr>
          <p:cNvSpPr/>
          <p:nvPr/>
        </p:nvSpPr>
        <p:spPr>
          <a:xfrm>
            <a:off x="8322231" y="2951678"/>
            <a:ext cx="4091464" cy="279797"/>
          </a:xfrm>
          <a:prstGeom prst="rect">
            <a:avLst/>
          </a:prstGeom>
          <a:noFill/>
          <a:ln/>
        </p:spPr>
        <p:txBody>
          <a:bodyPr wrap="none" lIns="0" tIns="0" rIns="0" bIns="0" rtlCol="0" anchor="t"/>
          <a:lstStyle/>
          <a:p>
            <a:pPr marL="0" indent="0" algn="l">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31-32 (14-16/01/2025) </a:t>
            </a:r>
            <a:r>
              <a:rPr lang="en-US" sz="1750" b="1" dirty="0" err="1">
                <a:solidFill>
                  <a:srgbClr val="D7D4CC"/>
                </a:solidFill>
                <a:latin typeface="Comfortaa Bold" pitchFamily="34" charset="0"/>
                <a:ea typeface="Comfortaa Bold" pitchFamily="34" charset="-122"/>
                <a:cs typeface="Comfortaa Bold" pitchFamily="34" charset="-120"/>
              </a:rPr>
              <a:t>Canvids</a:t>
            </a:r>
            <a:r>
              <a:rPr lang="en-US" sz="1750" b="1" dirty="0">
                <a:solidFill>
                  <a:srgbClr val="D7D4CC"/>
                </a:solidFill>
                <a:latin typeface="Comfortaa Bold" pitchFamily="34" charset="0"/>
                <a:ea typeface="Comfortaa Bold" pitchFamily="34" charset="-122"/>
                <a:cs typeface="Comfortaa Bold" pitchFamily="34" charset="-120"/>
              </a:rPr>
              <a:t> </a:t>
            </a:r>
            <a:r>
              <a:rPr lang="en-US" sz="1750" b="1" dirty="0" err="1">
                <a:solidFill>
                  <a:srgbClr val="D7D4CC"/>
                </a:solidFill>
                <a:latin typeface="Comfortaa Bold" pitchFamily="34" charset="0"/>
                <a:ea typeface="Comfortaa Bold" pitchFamily="34" charset="-122"/>
                <a:cs typeface="Comfortaa Bold" pitchFamily="34" charset="-120"/>
              </a:rPr>
              <a:t>dinàmics</a:t>
            </a:r>
            <a:endParaRPr lang="en-US" sz="1750" dirty="0"/>
          </a:p>
        </p:txBody>
      </p:sp>
      <p:sp>
        <p:nvSpPr>
          <p:cNvPr id="13" name="Text 9">
            <a:extLst>
              <a:ext uri="{FF2B5EF4-FFF2-40B4-BE49-F238E27FC236}">
                <a16:creationId xmlns:a16="http://schemas.microsoft.com/office/drawing/2014/main" id="{78EEA179-25BD-2779-3EA7-399C8F47566A}"/>
              </a:ext>
            </a:extLst>
          </p:cNvPr>
          <p:cNvSpPr/>
          <p:nvPr/>
        </p:nvSpPr>
        <p:spPr>
          <a:xfrm>
            <a:off x="8322231" y="3352205"/>
            <a:ext cx="5427107" cy="644604"/>
          </a:xfrm>
          <a:prstGeom prst="rect">
            <a:avLst/>
          </a:prstGeom>
          <a:noFill/>
          <a:ln/>
        </p:spPr>
        <p:txBody>
          <a:bodyPr wrap="square" lIns="0" tIns="0" rIns="0" bIns="0" rtlCol="0" anchor="t"/>
          <a:lstStyle/>
          <a:p>
            <a:pPr marL="0" indent="0" algn="l">
              <a:lnSpc>
                <a:spcPts val="2500"/>
              </a:lnSpc>
              <a:buNone/>
            </a:pPr>
            <a:r>
              <a:rPr lang="en-US" sz="1550" dirty="0" err="1">
                <a:solidFill>
                  <a:srgbClr val="D7D4CC"/>
                </a:solidFill>
                <a:latin typeface="Raleway Medium" pitchFamily="34" charset="0"/>
                <a:ea typeface="Raleway Medium" pitchFamily="34" charset="-122"/>
                <a:cs typeface="Raleway Medium" pitchFamily="34" charset="-120"/>
              </a:rPr>
              <a:t>Comportaments</a:t>
            </a:r>
            <a:r>
              <a:rPr lang="en-US" sz="1550" dirty="0">
                <a:solidFill>
                  <a:srgbClr val="D7D4CC"/>
                </a:solidFill>
                <a:latin typeface="Raleway Medium" pitchFamily="34" charset="0"/>
                <a:ea typeface="Raleway Medium" pitchFamily="34" charset="-122"/>
                <a:cs typeface="Raleway Medium" pitchFamily="34" charset="-120"/>
              </a:rPr>
              <a:t> per </a:t>
            </a:r>
            <a:r>
              <a:rPr lang="en-US" sz="1550" dirty="0" err="1">
                <a:solidFill>
                  <a:srgbClr val="D7D4CC"/>
                </a:solidFill>
                <a:latin typeface="Raleway Medium" pitchFamily="34" charset="0"/>
                <a:ea typeface="Raleway Medium" pitchFamily="34" charset="-122"/>
                <a:cs typeface="Raleway Medium" pitchFamily="34" charset="-120"/>
              </a:rPr>
              <a:t>defecte</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propagació</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d’esdeveniments</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i</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canvids</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dinámics</a:t>
            </a:r>
            <a:r>
              <a:rPr lang="en-US" sz="1550" dirty="0">
                <a:solidFill>
                  <a:srgbClr val="D7D4CC"/>
                </a:solidFill>
                <a:latin typeface="Raleway Medium" pitchFamily="34" charset="0"/>
                <a:ea typeface="Raleway Medium" pitchFamily="34" charset="-122"/>
                <a:cs typeface="Raleway Medium" pitchFamily="34" charset="-120"/>
              </a:rPr>
              <a:t> d’un element</a:t>
            </a:r>
          </a:p>
        </p:txBody>
      </p:sp>
      <p:sp>
        <p:nvSpPr>
          <p:cNvPr id="14" name="Shape 10">
            <a:extLst>
              <a:ext uri="{FF2B5EF4-FFF2-40B4-BE49-F238E27FC236}">
                <a16:creationId xmlns:a16="http://schemas.microsoft.com/office/drawing/2014/main" id="{B97C7A8E-D20A-4057-2356-9F50286228FA}"/>
              </a:ext>
            </a:extLst>
          </p:cNvPr>
          <p:cNvSpPr/>
          <p:nvPr/>
        </p:nvSpPr>
        <p:spPr>
          <a:xfrm>
            <a:off x="6507361" y="4139208"/>
            <a:ext cx="604123" cy="22860"/>
          </a:xfrm>
          <a:prstGeom prst="roundRect">
            <a:avLst>
              <a:gd name="adj" fmla="val 1321608"/>
            </a:avLst>
          </a:prstGeom>
          <a:solidFill>
            <a:srgbClr val="5F5F63"/>
          </a:solidFill>
          <a:ln/>
        </p:spPr>
        <p:txBody>
          <a:bodyPr/>
          <a:lstStyle/>
          <a:p>
            <a:endParaRPr lang="es-ES"/>
          </a:p>
        </p:txBody>
      </p:sp>
      <p:sp>
        <p:nvSpPr>
          <p:cNvPr id="15" name="Shape 11">
            <a:extLst>
              <a:ext uri="{FF2B5EF4-FFF2-40B4-BE49-F238E27FC236}">
                <a16:creationId xmlns:a16="http://schemas.microsoft.com/office/drawing/2014/main" id="{A29EC7FA-7131-BEC7-FB4A-961327A121C2}"/>
              </a:ext>
            </a:extLst>
          </p:cNvPr>
          <p:cNvSpPr/>
          <p:nvPr/>
        </p:nvSpPr>
        <p:spPr>
          <a:xfrm>
            <a:off x="7088624" y="3924062"/>
            <a:ext cx="453152" cy="453152"/>
          </a:xfrm>
          <a:prstGeom prst="roundRect">
            <a:avLst>
              <a:gd name="adj" fmla="val 66671"/>
            </a:avLst>
          </a:prstGeom>
          <a:solidFill>
            <a:srgbClr val="46464A"/>
          </a:solidFill>
          <a:ln/>
        </p:spPr>
        <p:txBody>
          <a:bodyPr/>
          <a:lstStyle/>
          <a:p>
            <a:endParaRPr lang="es-ES"/>
          </a:p>
        </p:txBody>
      </p:sp>
      <p:pic>
        <p:nvPicPr>
          <p:cNvPr id="16" name="Image 2" descr="preencoded.png">
            <a:extLst>
              <a:ext uri="{FF2B5EF4-FFF2-40B4-BE49-F238E27FC236}">
                <a16:creationId xmlns:a16="http://schemas.microsoft.com/office/drawing/2014/main" id="{FB13CECD-3099-E805-036A-4CBDA8CAB59B}"/>
              </a:ext>
            </a:extLst>
          </p:cNvPr>
          <p:cNvPicPr>
            <a:picLocks noChangeAspect="1"/>
          </p:cNvPicPr>
          <p:nvPr/>
        </p:nvPicPr>
        <p:blipFill>
          <a:blip r:embed="rId5"/>
          <a:stretch>
            <a:fillRect/>
          </a:stretch>
        </p:blipFill>
        <p:spPr>
          <a:xfrm>
            <a:off x="7180957" y="3982819"/>
            <a:ext cx="268486" cy="335637"/>
          </a:xfrm>
          <a:prstGeom prst="rect">
            <a:avLst/>
          </a:prstGeom>
        </p:spPr>
      </p:pic>
      <p:sp>
        <p:nvSpPr>
          <p:cNvPr id="17" name="Text 12">
            <a:extLst>
              <a:ext uri="{FF2B5EF4-FFF2-40B4-BE49-F238E27FC236}">
                <a16:creationId xmlns:a16="http://schemas.microsoft.com/office/drawing/2014/main" id="{86440E9B-BDC1-62B4-1A64-FB62C6C1D332}"/>
              </a:ext>
            </a:extLst>
          </p:cNvPr>
          <p:cNvSpPr/>
          <p:nvPr/>
        </p:nvSpPr>
        <p:spPr>
          <a:xfrm>
            <a:off x="1719620" y="3993237"/>
            <a:ext cx="4588550" cy="279797"/>
          </a:xfrm>
          <a:prstGeom prst="rect">
            <a:avLst/>
          </a:prstGeom>
          <a:noFill/>
          <a:ln/>
        </p:spPr>
        <p:txBody>
          <a:bodyPr wrap="none" lIns="0" tIns="0" rIns="0" bIns="0" rtlCol="0" anchor="t"/>
          <a:lstStyle/>
          <a:p>
            <a:pPr marL="0" indent="0" algn="r">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33-34 (21-23/01/2025): Fluxos </a:t>
            </a:r>
            <a:r>
              <a:rPr lang="en-US" sz="1750" b="1" dirty="0" err="1">
                <a:solidFill>
                  <a:srgbClr val="D7D4CC"/>
                </a:solidFill>
                <a:latin typeface="Comfortaa Bold" pitchFamily="34" charset="0"/>
                <a:ea typeface="Comfortaa Bold" pitchFamily="34" charset="-122"/>
                <a:cs typeface="Comfortaa Bold" pitchFamily="34" charset="-120"/>
              </a:rPr>
              <a:t>d’interacció</a:t>
            </a:r>
            <a:endParaRPr lang="en-US" sz="1750" dirty="0"/>
          </a:p>
        </p:txBody>
      </p:sp>
      <p:sp>
        <p:nvSpPr>
          <p:cNvPr id="18" name="Text 13">
            <a:extLst>
              <a:ext uri="{FF2B5EF4-FFF2-40B4-BE49-F238E27FC236}">
                <a16:creationId xmlns:a16="http://schemas.microsoft.com/office/drawing/2014/main" id="{A4D67C16-04AB-67C8-E712-5AD1DEA34B81}"/>
              </a:ext>
            </a:extLst>
          </p:cNvPr>
          <p:cNvSpPr/>
          <p:nvPr/>
        </p:nvSpPr>
        <p:spPr>
          <a:xfrm>
            <a:off x="881063" y="4393763"/>
            <a:ext cx="5427107" cy="644604"/>
          </a:xfrm>
          <a:prstGeom prst="rect">
            <a:avLst/>
          </a:prstGeom>
          <a:noFill/>
          <a:ln/>
        </p:spPr>
        <p:txBody>
          <a:bodyPr wrap="square" lIns="0" tIns="0" rIns="0" bIns="0" rtlCol="0" anchor="t"/>
          <a:lstStyle/>
          <a:p>
            <a:pPr marL="0" indent="0" algn="r">
              <a:lnSpc>
                <a:spcPts val="2500"/>
              </a:lnSpc>
              <a:buNone/>
            </a:pPr>
            <a:r>
              <a:rPr lang="en-US" sz="1550" dirty="0" err="1">
                <a:solidFill>
                  <a:srgbClr val="D7D4CC"/>
                </a:solidFill>
                <a:latin typeface="Raleway Medium" pitchFamily="34" charset="0"/>
                <a:ea typeface="Raleway Medium" pitchFamily="34" charset="-122"/>
                <a:cs typeface="Raleway Medium" pitchFamily="34" charset="-120"/>
              </a:rPr>
              <a:t>Planificació</a:t>
            </a:r>
            <a:r>
              <a:rPr lang="en-US" sz="1550" dirty="0">
                <a:solidFill>
                  <a:srgbClr val="D7D4CC"/>
                </a:solidFill>
                <a:latin typeface="Raleway Medium" pitchFamily="34" charset="0"/>
                <a:ea typeface="Raleway Medium" pitchFamily="34" charset="-122"/>
                <a:cs typeface="Raleway Medium" pitchFamily="34" charset="-120"/>
              </a:rPr>
              <a:t> de </a:t>
            </a:r>
            <a:r>
              <a:rPr lang="en-US" sz="1550" dirty="0" err="1">
                <a:solidFill>
                  <a:srgbClr val="D7D4CC"/>
                </a:solidFill>
                <a:latin typeface="Raleway Medium" pitchFamily="34" charset="0"/>
                <a:ea typeface="Raleway Medium" pitchFamily="34" charset="-122"/>
                <a:cs typeface="Raleway Medium" pitchFamily="34" charset="-120"/>
              </a:rPr>
              <a:t>fluxos</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i</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prtotipatge</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interactiu</a:t>
            </a:r>
            <a:endParaRPr lang="en-US" sz="1550" dirty="0"/>
          </a:p>
        </p:txBody>
      </p:sp>
      <p:sp>
        <p:nvSpPr>
          <p:cNvPr id="19" name="Shape 14">
            <a:extLst>
              <a:ext uri="{FF2B5EF4-FFF2-40B4-BE49-F238E27FC236}">
                <a16:creationId xmlns:a16="http://schemas.microsoft.com/office/drawing/2014/main" id="{A8A74352-3CC4-986B-E3A1-6512B5331950}"/>
              </a:ext>
            </a:extLst>
          </p:cNvPr>
          <p:cNvSpPr/>
          <p:nvPr/>
        </p:nvSpPr>
        <p:spPr>
          <a:xfrm>
            <a:off x="7518916" y="5180886"/>
            <a:ext cx="604123" cy="22860"/>
          </a:xfrm>
          <a:prstGeom prst="roundRect">
            <a:avLst>
              <a:gd name="adj" fmla="val 1321608"/>
            </a:avLst>
          </a:prstGeom>
          <a:solidFill>
            <a:srgbClr val="5F5F63"/>
          </a:solidFill>
          <a:ln/>
        </p:spPr>
        <p:txBody>
          <a:bodyPr/>
          <a:lstStyle/>
          <a:p>
            <a:endParaRPr lang="es-ES"/>
          </a:p>
        </p:txBody>
      </p:sp>
      <p:sp>
        <p:nvSpPr>
          <p:cNvPr id="20" name="Shape 15">
            <a:extLst>
              <a:ext uri="{FF2B5EF4-FFF2-40B4-BE49-F238E27FC236}">
                <a16:creationId xmlns:a16="http://schemas.microsoft.com/office/drawing/2014/main" id="{49B83ACD-6DA7-FAD7-0399-94BFEEEEAF01}"/>
              </a:ext>
            </a:extLst>
          </p:cNvPr>
          <p:cNvSpPr/>
          <p:nvPr/>
        </p:nvSpPr>
        <p:spPr>
          <a:xfrm>
            <a:off x="7088624" y="4965740"/>
            <a:ext cx="453152" cy="453152"/>
          </a:xfrm>
          <a:prstGeom prst="roundRect">
            <a:avLst>
              <a:gd name="adj" fmla="val 66671"/>
            </a:avLst>
          </a:prstGeom>
          <a:solidFill>
            <a:srgbClr val="46464A"/>
          </a:solidFill>
          <a:ln/>
        </p:spPr>
        <p:txBody>
          <a:bodyPr/>
          <a:lstStyle/>
          <a:p>
            <a:endParaRPr lang="es-ES"/>
          </a:p>
        </p:txBody>
      </p:sp>
      <p:pic>
        <p:nvPicPr>
          <p:cNvPr id="21" name="Image 3" descr="preencoded.png">
            <a:extLst>
              <a:ext uri="{FF2B5EF4-FFF2-40B4-BE49-F238E27FC236}">
                <a16:creationId xmlns:a16="http://schemas.microsoft.com/office/drawing/2014/main" id="{4A4A074D-FE2A-5C0D-ECDB-F6EEA3C120D4}"/>
              </a:ext>
            </a:extLst>
          </p:cNvPr>
          <p:cNvPicPr>
            <a:picLocks noChangeAspect="1"/>
          </p:cNvPicPr>
          <p:nvPr/>
        </p:nvPicPr>
        <p:blipFill>
          <a:blip r:embed="rId6"/>
          <a:stretch>
            <a:fillRect/>
          </a:stretch>
        </p:blipFill>
        <p:spPr>
          <a:xfrm>
            <a:off x="7180957" y="5024497"/>
            <a:ext cx="268486" cy="335637"/>
          </a:xfrm>
          <a:prstGeom prst="rect">
            <a:avLst/>
          </a:prstGeom>
        </p:spPr>
      </p:pic>
      <p:sp>
        <p:nvSpPr>
          <p:cNvPr id="22" name="Text 16">
            <a:extLst>
              <a:ext uri="{FF2B5EF4-FFF2-40B4-BE49-F238E27FC236}">
                <a16:creationId xmlns:a16="http://schemas.microsoft.com/office/drawing/2014/main" id="{B503E61B-C350-63C5-A843-8AFE363597B2}"/>
              </a:ext>
            </a:extLst>
          </p:cNvPr>
          <p:cNvSpPr/>
          <p:nvPr/>
        </p:nvSpPr>
        <p:spPr>
          <a:xfrm>
            <a:off x="8322231" y="5034915"/>
            <a:ext cx="4718090" cy="279797"/>
          </a:xfrm>
          <a:prstGeom prst="rect">
            <a:avLst/>
          </a:prstGeom>
          <a:noFill/>
          <a:ln/>
        </p:spPr>
        <p:txBody>
          <a:bodyPr wrap="none" lIns="0" tIns="0" rIns="0" bIns="0" rtlCol="0" anchor="t"/>
          <a:lstStyle/>
          <a:p>
            <a:pPr marL="0" indent="0" algn="l">
              <a:lnSpc>
                <a:spcPts val="2200"/>
              </a:lnSpc>
              <a:buNone/>
            </a:pPr>
            <a:r>
              <a:rPr lang="en-US" sz="1750" b="1" dirty="0" err="1">
                <a:solidFill>
                  <a:srgbClr val="D7D4CC"/>
                </a:solidFill>
                <a:latin typeface="Comfortaa Bold" pitchFamily="34" charset="0"/>
                <a:ea typeface="Comfortaa Bold" pitchFamily="34" charset="-122"/>
                <a:cs typeface="Comfortaa Bold" pitchFamily="34" charset="-120"/>
              </a:rPr>
              <a:t>Sessió</a:t>
            </a:r>
            <a:r>
              <a:rPr lang="en-US" sz="1750" b="1" dirty="0">
                <a:solidFill>
                  <a:srgbClr val="D7D4CC"/>
                </a:solidFill>
                <a:latin typeface="Comfortaa Bold" pitchFamily="34" charset="0"/>
                <a:ea typeface="Comfortaa Bold" pitchFamily="34" charset="-122"/>
                <a:cs typeface="Comfortaa Bold" pitchFamily="34" charset="-120"/>
              </a:rPr>
              <a:t> 35-36 (28-30/01/2025): </a:t>
            </a:r>
            <a:r>
              <a:rPr lang="en-US" sz="1750" b="1" dirty="0" err="1">
                <a:solidFill>
                  <a:srgbClr val="D7D4CC"/>
                </a:solidFill>
                <a:latin typeface="Comfortaa Bold" pitchFamily="34" charset="0"/>
                <a:ea typeface="Comfortaa Bold" pitchFamily="34" charset="-122"/>
                <a:cs typeface="Comfortaa Bold" pitchFamily="34" charset="-120"/>
              </a:rPr>
              <a:t>Formularis</a:t>
            </a:r>
            <a:r>
              <a:rPr lang="en-US" sz="1750" b="1" dirty="0">
                <a:solidFill>
                  <a:srgbClr val="D7D4CC"/>
                </a:solidFill>
                <a:latin typeface="Comfortaa Bold" pitchFamily="34" charset="0"/>
                <a:ea typeface="Comfortaa Bold" pitchFamily="34" charset="-122"/>
                <a:cs typeface="Comfortaa Bold" pitchFamily="34" charset="-120"/>
              </a:rPr>
              <a:t> </a:t>
            </a:r>
            <a:r>
              <a:rPr lang="en-US" sz="1750" b="1" dirty="0" err="1">
                <a:solidFill>
                  <a:srgbClr val="D7D4CC"/>
                </a:solidFill>
                <a:latin typeface="Comfortaa Bold" pitchFamily="34" charset="0"/>
                <a:ea typeface="Comfortaa Bold" pitchFamily="34" charset="-122"/>
                <a:cs typeface="Comfortaa Bold" pitchFamily="34" charset="-120"/>
              </a:rPr>
              <a:t>i</a:t>
            </a:r>
            <a:r>
              <a:rPr lang="en-US" sz="1750" b="1" dirty="0">
                <a:solidFill>
                  <a:srgbClr val="D7D4CC"/>
                </a:solidFill>
                <a:latin typeface="Comfortaa Bold" pitchFamily="34" charset="0"/>
                <a:ea typeface="Comfortaa Bold" pitchFamily="34" charset="-122"/>
                <a:cs typeface="Comfortaa Bold" pitchFamily="34" charset="-120"/>
              </a:rPr>
              <a:t> </a:t>
            </a:r>
            <a:r>
              <a:rPr lang="en-US" sz="1750" b="1" dirty="0" err="1">
                <a:solidFill>
                  <a:srgbClr val="D7D4CC"/>
                </a:solidFill>
                <a:latin typeface="Comfortaa Bold" pitchFamily="34" charset="0"/>
                <a:ea typeface="Comfortaa Bold" pitchFamily="34" charset="-122"/>
                <a:cs typeface="Comfortaa Bold" pitchFamily="34" charset="-120"/>
              </a:rPr>
              <a:t>accessibilitat</a:t>
            </a:r>
            <a:endParaRPr lang="en-US" sz="1750" dirty="0"/>
          </a:p>
        </p:txBody>
      </p:sp>
      <p:sp>
        <p:nvSpPr>
          <p:cNvPr id="23" name="Text 17">
            <a:extLst>
              <a:ext uri="{FF2B5EF4-FFF2-40B4-BE49-F238E27FC236}">
                <a16:creationId xmlns:a16="http://schemas.microsoft.com/office/drawing/2014/main" id="{71254074-DE0A-2769-4596-54D66B19763D}"/>
              </a:ext>
            </a:extLst>
          </p:cNvPr>
          <p:cNvSpPr/>
          <p:nvPr/>
        </p:nvSpPr>
        <p:spPr>
          <a:xfrm>
            <a:off x="8322231" y="5435441"/>
            <a:ext cx="5427107" cy="644604"/>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Disseny i validació de formularis, implementació de criteris d'accessibilitat</a:t>
            </a:r>
            <a:endParaRPr lang="en-US" sz="1550" dirty="0"/>
          </a:p>
        </p:txBody>
      </p:sp>
      <p:sp>
        <p:nvSpPr>
          <p:cNvPr id="24" name="Text 18">
            <a:extLst>
              <a:ext uri="{FF2B5EF4-FFF2-40B4-BE49-F238E27FC236}">
                <a16:creationId xmlns:a16="http://schemas.microsoft.com/office/drawing/2014/main" id="{4078CD53-D7D2-07FE-C365-FF9F687756B2}"/>
              </a:ext>
            </a:extLst>
          </p:cNvPr>
          <p:cNvSpPr/>
          <p:nvPr/>
        </p:nvSpPr>
        <p:spPr>
          <a:xfrm>
            <a:off x="881063" y="6872883"/>
            <a:ext cx="12868275" cy="644604"/>
          </a:xfrm>
          <a:prstGeom prst="rect">
            <a:avLst/>
          </a:prstGeom>
          <a:noFill/>
          <a:ln/>
        </p:spPr>
        <p:txBody>
          <a:bodyPr wrap="square" lIns="0" tIns="0" rIns="0" bIns="0" rtlCol="0" anchor="t"/>
          <a:lstStyle/>
          <a:p>
            <a:pPr marL="0" indent="0" algn="l">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El Bloc 6 finalitza amb l'entrega dels fitxers HTML i la justificació de la </a:t>
            </a:r>
            <a:r>
              <a:rPr lang="en-US" sz="1550" dirty="0" err="1">
                <a:solidFill>
                  <a:srgbClr val="D7D4CC"/>
                </a:solidFill>
                <a:latin typeface="Raleway Medium" pitchFamily="34" charset="0"/>
                <a:ea typeface="Raleway Medium" pitchFamily="34" charset="-122"/>
                <a:cs typeface="Raleway Medium" pitchFamily="34" charset="-120"/>
              </a:rPr>
              <a:t>implementació</a:t>
            </a:r>
            <a:r>
              <a:rPr lang="en-US" sz="1550" dirty="0">
                <a:solidFill>
                  <a:srgbClr val="D7D4CC"/>
                </a:solidFill>
                <a:latin typeface="Raleway Medium" pitchFamily="34" charset="0"/>
                <a:ea typeface="Raleway Medium" pitchFamily="34" charset="-122"/>
                <a:cs typeface="Raleway Medium" pitchFamily="34" charset="-120"/>
              </a:rPr>
              <a:t> a </a:t>
            </a:r>
            <a:r>
              <a:rPr lang="en-US" sz="1550" dirty="0" err="1">
                <a:solidFill>
                  <a:srgbClr val="D7D4CC"/>
                </a:solidFill>
                <a:latin typeface="Raleway Medium" pitchFamily="34" charset="0"/>
                <a:ea typeface="Raleway Medium" pitchFamily="34" charset="-122"/>
                <a:cs typeface="Raleway Medium" pitchFamily="34" charset="-120"/>
              </a:rPr>
              <a:t>més</a:t>
            </a:r>
            <a:r>
              <a:rPr lang="en-US" sz="1550" dirty="0">
                <a:solidFill>
                  <a:srgbClr val="D7D4CC"/>
                </a:solidFill>
                <a:latin typeface="Raleway Medium" pitchFamily="34" charset="0"/>
                <a:ea typeface="Raleway Medium" pitchFamily="34" charset="-122"/>
                <a:cs typeface="Raleway Medium" pitchFamily="34" charset="-120"/>
              </a:rPr>
              <a:t> del </a:t>
            </a:r>
            <a:r>
              <a:rPr lang="en-US" sz="1550" dirty="0" err="1">
                <a:solidFill>
                  <a:srgbClr val="D7D4CC"/>
                </a:solidFill>
                <a:latin typeface="Raleway Medium" pitchFamily="34" charset="0"/>
                <a:ea typeface="Raleway Medium" pitchFamily="34" charset="-122"/>
                <a:cs typeface="Raleway Medium" pitchFamily="34" charset="-120"/>
              </a:rPr>
              <a:t>projecte</a:t>
            </a:r>
            <a:r>
              <a:rPr lang="en-US" sz="1550" dirty="0">
                <a:solidFill>
                  <a:srgbClr val="D7D4CC"/>
                </a:solidFill>
                <a:latin typeface="Raleway Medium" pitchFamily="34" charset="0"/>
                <a:ea typeface="Raleway Medium" pitchFamily="34" charset="-122"/>
                <a:cs typeface="Raleway Medium" pitchFamily="34" charset="-120"/>
              </a:rPr>
              <a:t> </a:t>
            </a:r>
            <a:r>
              <a:rPr lang="en-US" sz="1550" dirty="0" err="1">
                <a:solidFill>
                  <a:srgbClr val="D7D4CC"/>
                </a:solidFill>
                <a:latin typeface="Raleway Medium" pitchFamily="34" charset="0"/>
                <a:ea typeface="Raleway Medium" pitchFamily="34" charset="-122"/>
                <a:cs typeface="Raleway Medium" pitchFamily="34" charset="-120"/>
              </a:rPr>
              <a:t>en</a:t>
            </a:r>
            <a:r>
              <a:rPr lang="en-US" sz="1550" dirty="0">
                <a:solidFill>
                  <a:srgbClr val="D7D4CC"/>
                </a:solidFill>
                <a:latin typeface="Raleway Medium" pitchFamily="34" charset="0"/>
                <a:ea typeface="Raleway Medium" pitchFamily="34" charset="-122"/>
                <a:cs typeface="Raleway Medium" pitchFamily="34" charset="-120"/>
              </a:rPr>
              <a:t> Figma, </a:t>
            </a:r>
            <a:r>
              <a:rPr lang="en-US" sz="1550" dirty="0" err="1">
                <a:solidFill>
                  <a:srgbClr val="D7D4CC"/>
                </a:solidFill>
                <a:latin typeface="Raleway Medium" pitchFamily="34" charset="0"/>
                <a:ea typeface="Raleway Medium" pitchFamily="34" charset="-122"/>
                <a:cs typeface="Raleway Medium" pitchFamily="34" charset="-120"/>
              </a:rPr>
              <a:t>el</a:t>
            </a:r>
            <a:r>
              <a:rPr lang="en-US" sz="1550" dirty="0">
                <a:solidFill>
                  <a:srgbClr val="D7D4CC"/>
                </a:solidFill>
                <a:latin typeface="Raleway Medium" pitchFamily="34" charset="0"/>
                <a:ea typeface="Raleway Medium" pitchFamily="34" charset="-122"/>
                <a:cs typeface="Raleway Medium" pitchFamily="34" charset="-120"/>
              </a:rPr>
              <a:t> 30/01/2025.</a:t>
            </a:r>
            <a:endParaRPr lang="en-US" sz="1550" dirty="0"/>
          </a:p>
        </p:txBody>
      </p:sp>
    </p:spTree>
    <p:extLst>
      <p:ext uri="{BB962C8B-B14F-4D97-AF65-F5344CB8AC3E}">
        <p14:creationId xmlns:p14="http://schemas.microsoft.com/office/powerpoint/2010/main" val="671386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0F45A-2237-0FB3-8C30-3A3E3E8A05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B1B84C-A4DA-98B1-BCBC-D5A65CDA2B4C}"/>
              </a:ext>
            </a:extLst>
          </p:cNvPr>
          <p:cNvSpPr/>
          <p:nvPr/>
        </p:nvSpPr>
        <p:spPr>
          <a:xfrm>
            <a:off x="881063" y="820698"/>
            <a:ext cx="5035272" cy="629364"/>
          </a:xfrm>
          <a:prstGeom prst="rect">
            <a:avLst/>
          </a:prstGeom>
          <a:noFill/>
          <a:ln/>
        </p:spPr>
        <p:txBody>
          <a:bodyPr wrap="none" lIns="0" tIns="0" rIns="0" bIns="0" rtlCol="0" anchor="t"/>
          <a:lstStyle/>
          <a:p>
            <a:pPr marL="0" indent="0" algn="l">
              <a:lnSpc>
                <a:spcPts val="4950"/>
              </a:lnSpc>
              <a:buNone/>
            </a:pPr>
            <a:r>
              <a:rPr lang="en-US" sz="3950" b="1" dirty="0">
                <a:solidFill>
                  <a:srgbClr val="FFE14D"/>
                </a:solidFill>
                <a:latin typeface="Comfortaa Bold" pitchFamily="34" charset="0"/>
                <a:ea typeface="Comfortaa Bold" pitchFamily="34" charset="-122"/>
                <a:cs typeface="Comfortaa Bold" pitchFamily="34" charset="-120"/>
              </a:rPr>
              <a:t>Bloc 7 – Propietat </a:t>
            </a:r>
            <a:r>
              <a:rPr lang="en-US" sz="3950" b="1" dirty="0" err="1">
                <a:solidFill>
                  <a:srgbClr val="FFE14D"/>
                </a:solidFill>
                <a:latin typeface="Comfortaa Bold" pitchFamily="34" charset="0"/>
                <a:ea typeface="Comfortaa Bold" pitchFamily="34" charset="-122"/>
                <a:cs typeface="Comfortaa Bold" pitchFamily="34" charset="-120"/>
              </a:rPr>
              <a:t>intel·lectual</a:t>
            </a:r>
            <a:endParaRPr lang="en-US" sz="3950" dirty="0"/>
          </a:p>
        </p:txBody>
      </p:sp>
      <p:sp>
        <p:nvSpPr>
          <p:cNvPr id="3" name="Shape 1">
            <a:extLst>
              <a:ext uri="{FF2B5EF4-FFF2-40B4-BE49-F238E27FC236}">
                <a16:creationId xmlns:a16="http://schemas.microsoft.com/office/drawing/2014/main" id="{9830F99B-B265-BE39-C25D-48017148003C}"/>
              </a:ext>
            </a:extLst>
          </p:cNvPr>
          <p:cNvSpPr/>
          <p:nvPr/>
        </p:nvSpPr>
        <p:spPr>
          <a:xfrm>
            <a:off x="881063" y="3984903"/>
            <a:ext cx="12868275" cy="30480"/>
          </a:xfrm>
          <a:prstGeom prst="roundRect">
            <a:avLst>
              <a:gd name="adj" fmla="val 1115106"/>
            </a:avLst>
          </a:prstGeom>
          <a:solidFill>
            <a:srgbClr val="5F5F63"/>
          </a:solidFill>
          <a:ln/>
        </p:spPr>
        <p:txBody>
          <a:bodyPr/>
          <a:lstStyle/>
          <a:p>
            <a:endParaRPr lang="es-ES"/>
          </a:p>
        </p:txBody>
      </p:sp>
      <p:sp>
        <p:nvSpPr>
          <p:cNvPr id="4" name="Shape 2">
            <a:extLst>
              <a:ext uri="{FF2B5EF4-FFF2-40B4-BE49-F238E27FC236}">
                <a16:creationId xmlns:a16="http://schemas.microsoft.com/office/drawing/2014/main" id="{5FABAAFB-5041-D43E-D437-BB199AEF04DA}"/>
              </a:ext>
            </a:extLst>
          </p:cNvPr>
          <p:cNvSpPr/>
          <p:nvPr/>
        </p:nvSpPr>
        <p:spPr>
          <a:xfrm>
            <a:off x="4301523" y="3305175"/>
            <a:ext cx="30480" cy="679728"/>
          </a:xfrm>
          <a:prstGeom prst="roundRect">
            <a:avLst>
              <a:gd name="adj" fmla="val 1115106"/>
            </a:avLst>
          </a:prstGeom>
          <a:solidFill>
            <a:srgbClr val="5F5F63"/>
          </a:solidFill>
          <a:ln/>
        </p:spPr>
        <p:txBody>
          <a:bodyPr/>
          <a:lstStyle/>
          <a:p>
            <a:endParaRPr lang="es-ES"/>
          </a:p>
        </p:txBody>
      </p:sp>
      <p:sp>
        <p:nvSpPr>
          <p:cNvPr id="5" name="Shape 3">
            <a:extLst>
              <a:ext uri="{FF2B5EF4-FFF2-40B4-BE49-F238E27FC236}">
                <a16:creationId xmlns:a16="http://schemas.microsoft.com/office/drawing/2014/main" id="{2DA6F263-F7BF-89A5-8341-CF03B784FB28}"/>
              </a:ext>
            </a:extLst>
          </p:cNvPr>
          <p:cNvSpPr/>
          <p:nvPr/>
        </p:nvSpPr>
        <p:spPr>
          <a:xfrm>
            <a:off x="4061850" y="3729990"/>
            <a:ext cx="509826" cy="509826"/>
          </a:xfrm>
          <a:prstGeom prst="roundRect">
            <a:avLst>
              <a:gd name="adj" fmla="val 66667"/>
            </a:avLst>
          </a:prstGeom>
          <a:solidFill>
            <a:srgbClr val="46464A"/>
          </a:solidFill>
          <a:ln/>
        </p:spPr>
        <p:txBody>
          <a:bodyPr/>
          <a:lstStyle/>
          <a:p>
            <a:endParaRPr lang="es-ES"/>
          </a:p>
        </p:txBody>
      </p:sp>
      <p:sp>
        <p:nvSpPr>
          <p:cNvPr id="6" name="Text 4">
            <a:extLst>
              <a:ext uri="{FF2B5EF4-FFF2-40B4-BE49-F238E27FC236}">
                <a16:creationId xmlns:a16="http://schemas.microsoft.com/office/drawing/2014/main" id="{6D090E14-B3AB-1A26-36E8-17674338903C}"/>
              </a:ext>
            </a:extLst>
          </p:cNvPr>
          <p:cNvSpPr/>
          <p:nvPr/>
        </p:nvSpPr>
        <p:spPr>
          <a:xfrm>
            <a:off x="4165732" y="3796129"/>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1</a:t>
            </a:r>
            <a:endParaRPr lang="en-US" sz="2350" dirty="0"/>
          </a:p>
        </p:txBody>
      </p:sp>
      <p:sp>
        <p:nvSpPr>
          <p:cNvPr id="7" name="Text 5">
            <a:extLst>
              <a:ext uri="{FF2B5EF4-FFF2-40B4-BE49-F238E27FC236}">
                <a16:creationId xmlns:a16="http://schemas.microsoft.com/office/drawing/2014/main" id="{07C5D206-1649-0904-D3C5-CA4176ABA2C4}"/>
              </a:ext>
            </a:extLst>
          </p:cNvPr>
          <p:cNvSpPr/>
          <p:nvPr/>
        </p:nvSpPr>
        <p:spPr>
          <a:xfrm>
            <a:off x="2898935" y="1903214"/>
            <a:ext cx="3380065"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37 (04/02/2025):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a:solidFill>
                  <a:srgbClr val="D7D4CC"/>
                </a:solidFill>
                <a:latin typeface="Comfortaa Bold" pitchFamily="34" charset="0"/>
                <a:ea typeface="Comfortaa Bold" pitchFamily="34" charset="-122"/>
                <a:cs typeface="Comfortaa Bold" pitchFamily="34" charset="-120"/>
              </a:rPr>
              <a:t>Propietat </a:t>
            </a:r>
            <a:r>
              <a:rPr lang="en-US" sz="1950" b="1" dirty="0" err="1">
                <a:solidFill>
                  <a:srgbClr val="D7D4CC"/>
                </a:solidFill>
                <a:latin typeface="Comfortaa Bold" pitchFamily="34" charset="0"/>
                <a:ea typeface="Comfortaa Bold" pitchFamily="34" charset="-122"/>
                <a:cs typeface="Comfortaa Bold" pitchFamily="34" charset="-120"/>
              </a:rPr>
              <a:t>intel·lectual</a:t>
            </a:r>
            <a:endParaRPr lang="en-US" sz="1950" dirty="0"/>
          </a:p>
        </p:txBody>
      </p:sp>
      <p:sp>
        <p:nvSpPr>
          <p:cNvPr id="8" name="Text 6">
            <a:extLst>
              <a:ext uri="{FF2B5EF4-FFF2-40B4-BE49-F238E27FC236}">
                <a16:creationId xmlns:a16="http://schemas.microsoft.com/office/drawing/2014/main" id="{BDD55DC3-403B-85E6-C17A-D7BDA3469635}"/>
              </a:ext>
            </a:extLst>
          </p:cNvPr>
          <p:cNvSpPr/>
          <p:nvPr/>
        </p:nvSpPr>
        <p:spPr>
          <a:xfrm>
            <a:off x="2326839" y="2593232"/>
            <a:ext cx="4524256" cy="724853"/>
          </a:xfrm>
          <a:prstGeom prst="rect">
            <a:avLst/>
          </a:prstGeom>
          <a:noFill/>
          <a:ln/>
        </p:spPr>
        <p:txBody>
          <a:bodyPr wrap="square" lIns="0" tIns="0" rIns="0" bIns="0" rtlCol="0" anchor="t"/>
          <a:lstStyle/>
          <a:p>
            <a:pPr marL="0" indent="0" algn="ctr">
              <a:lnSpc>
                <a:spcPts val="2850"/>
              </a:lnSpc>
              <a:buNone/>
            </a:pPr>
            <a:r>
              <a:rPr lang="en-US" sz="1750" dirty="0" err="1">
                <a:solidFill>
                  <a:srgbClr val="D7D4CC"/>
                </a:solidFill>
                <a:latin typeface="Raleway Medium" pitchFamily="34" charset="0"/>
              </a:rPr>
              <a:t>Importància</a:t>
            </a:r>
            <a:r>
              <a:rPr lang="en-US" sz="1750" dirty="0">
                <a:solidFill>
                  <a:srgbClr val="D7D4CC"/>
                </a:solidFill>
                <a:latin typeface="Raleway Medium" pitchFamily="34" charset="0"/>
              </a:rPr>
              <a:t> de la </a:t>
            </a:r>
            <a:r>
              <a:rPr lang="en-US" sz="1750" dirty="0" err="1">
                <a:solidFill>
                  <a:srgbClr val="D7D4CC"/>
                </a:solidFill>
                <a:latin typeface="Raleway Medium" pitchFamily="34" charset="0"/>
              </a:rPr>
              <a:t>propietat</a:t>
            </a:r>
            <a:r>
              <a:rPr lang="en-US" sz="1750" dirty="0">
                <a:solidFill>
                  <a:srgbClr val="D7D4CC"/>
                </a:solidFill>
                <a:latin typeface="Raleway Medium" pitchFamily="34" charset="0"/>
              </a:rPr>
              <a:t> </a:t>
            </a:r>
            <a:r>
              <a:rPr lang="en-US" sz="1750" dirty="0" err="1">
                <a:solidFill>
                  <a:srgbClr val="D7D4CC"/>
                </a:solidFill>
                <a:latin typeface="Raleway Medium" pitchFamily="34" charset="0"/>
              </a:rPr>
              <a:t>intel·lectual</a:t>
            </a:r>
            <a:r>
              <a:rPr lang="en-US" sz="1750" dirty="0">
                <a:solidFill>
                  <a:srgbClr val="D7D4CC"/>
                </a:solidFill>
                <a:latin typeface="Raleway Medium" pitchFamily="34" charset="0"/>
              </a:rPr>
              <a:t> </a:t>
            </a:r>
            <a:r>
              <a:rPr lang="en-US" sz="1750" dirty="0" err="1">
                <a:solidFill>
                  <a:srgbClr val="D7D4CC"/>
                </a:solidFill>
                <a:latin typeface="Raleway Medium" pitchFamily="34" charset="0"/>
              </a:rPr>
              <a:t>i</a:t>
            </a:r>
            <a:r>
              <a:rPr lang="en-US" sz="1750" dirty="0">
                <a:solidFill>
                  <a:srgbClr val="D7D4CC"/>
                </a:solidFill>
                <a:latin typeface="Raleway Medium" pitchFamily="34" charset="0"/>
              </a:rPr>
              <a:t> </a:t>
            </a:r>
            <a:r>
              <a:rPr lang="en-US" sz="1750" dirty="0" err="1">
                <a:solidFill>
                  <a:srgbClr val="D7D4CC"/>
                </a:solidFill>
                <a:latin typeface="Raleway Medium" pitchFamily="34" charset="0"/>
              </a:rPr>
              <a:t>drets</a:t>
            </a:r>
            <a:r>
              <a:rPr lang="en-US" sz="1750" dirty="0">
                <a:solidFill>
                  <a:srgbClr val="D7D4CC"/>
                </a:solidFill>
                <a:latin typeface="Raleway Medium" pitchFamily="34" charset="0"/>
              </a:rPr>
              <a:t> </a:t>
            </a:r>
            <a:r>
              <a:rPr lang="en-US" sz="1750" dirty="0" err="1">
                <a:solidFill>
                  <a:srgbClr val="D7D4CC"/>
                </a:solidFill>
                <a:latin typeface="Raleway Medium" pitchFamily="34" charset="0"/>
              </a:rPr>
              <a:t>d’autor</a:t>
            </a:r>
            <a:r>
              <a:rPr lang="en-US" sz="1750" dirty="0">
                <a:solidFill>
                  <a:srgbClr val="D7D4CC"/>
                </a:solidFill>
                <a:latin typeface="Raleway Medium" pitchFamily="34" charset="0"/>
              </a:rPr>
              <a:t>.</a:t>
            </a:r>
            <a:endParaRPr lang="en-US" sz="1750" dirty="0"/>
          </a:p>
        </p:txBody>
      </p:sp>
      <p:sp>
        <p:nvSpPr>
          <p:cNvPr id="11" name="Text 9">
            <a:extLst>
              <a:ext uri="{FF2B5EF4-FFF2-40B4-BE49-F238E27FC236}">
                <a16:creationId xmlns:a16="http://schemas.microsoft.com/office/drawing/2014/main" id="{136B6F72-FF47-C862-5BA4-C67EA0AA038A}"/>
              </a:ext>
            </a:extLst>
          </p:cNvPr>
          <p:cNvSpPr/>
          <p:nvPr/>
        </p:nvSpPr>
        <p:spPr>
          <a:xfrm>
            <a:off x="3998317" y="3796129"/>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16" name="Text 14">
            <a:extLst>
              <a:ext uri="{FF2B5EF4-FFF2-40B4-BE49-F238E27FC236}">
                <a16:creationId xmlns:a16="http://schemas.microsoft.com/office/drawing/2014/main" id="{F17A8CE8-8467-4586-C0A1-3A01E5AEC85F}"/>
              </a:ext>
            </a:extLst>
          </p:cNvPr>
          <p:cNvSpPr/>
          <p:nvPr/>
        </p:nvSpPr>
        <p:spPr>
          <a:xfrm>
            <a:off x="6552443" y="3796129"/>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24" name="Text 22">
            <a:extLst>
              <a:ext uri="{FF2B5EF4-FFF2-40B4-BE49-F238E27FC236}">
                <a16:creationId xmlns:a16="http://schemas.microsoft.com/office/drawing/2014/main" id="{AB06CDE7-F807-A66E-E021-FFBC3A8761B0}"/>
              </a:ext>
            </a:extLst>
          </p:cNvPr>
          <p:cNvSpPr/>
          <p:nvPr/>
        </p:nvSpPr>
        <p:spPr>
          <a:xfrm>
            <a:off x="881063" y="6321504"/>
            <a:ext cx="12868275" cy="1087279"/>
          </a:xfrm>
          <a:prstGeom prst="rect">
            <a:avLst/>
          </a:prstGeom>
          <a:noFill/>
          <a:ln/>
        </p:spPr>
        <p:txBody>
          <a:bodyPr wrap="square" lIns="0" tIns="0" rIns="0" bIns="0" rtlCol="0" anchor="t"/>
          <a:lstStyle/>
          <a:p>
            <a:pPr marL="0" indent="0" algn="l">
              <a:lnSpc>
                <a:spcPts val="2850"/>
              </a:lnSpc>
              <a:buNone/>
            </a:pPr>
            <a:r>
              <a:rPr lang="en-US" sz="1750" dirty="0">
                <a:solidFill>
                  <a:srgbClr val="D7D4CC"/>
                </a:solidFill>
                <a:latin typeface="Raleway Medium" pitchFamily="34" charset="0"/>
                <a:ea typeface="Raleway Medium" pitchFamily="34" charset="-122"/>
                <a:cs typeface="Raleway Medium" pitchFamily="34" charset="-120"/>
              </a:rPr>
              <a:t>Aquest bloc </a:t>
            </a:r>
            <a:r>
              <a:rPr lang="en-US" sz="1750" dirty="0" err="1">
                <a:solidFill>
                  <a:srgbClr val="D7D4CC"/>
                </a:solidFill>
                <a:latin typeface="Raleway Medium" pitchFamily="34" charset="0"/>
                <a:ea typeface="Raleway Medium" pitchFamily="34" charset="-122"/>
                <a:cs typeface="Raleway Medium" pitchFamily="34" charset="-120"/>
              </a:rPr>
              <a:t>conclou</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amb</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l'entrega</a:t>
            </a:r>
            <a:r>
              <a:rPr lang="en-US" sz="1750" dirty="0">
                <a:solidFill>
                  <a:srgbClr val="D7D4CC"/>
                </a:solidFill>
                <a:latin typeface="Raleway Medium" pitchFamily="34" charset="0"/>
                <a:ea typeface="Raleway Medium" pitchFamily="34" charset="-122"/>
                <a:cs typeface="Raleway Medium" pitchFamily="34" charset="-120"/>
              </a:rPr>
              <a:t> d'un document PDF </a:t>
            </a:r>
            <a:r>
              <a:rPr lang="en-US" sz="1750" dirty="0" err="1">
                <a:solidFill>
                  <a:srgbClr val="D7D4CC"/>
                </a:solidFill>
                <a:latin typeface="Raleway Medium" pitchFamily="34" charset="0"/>
                <a:ea typeface="Raleway Medium" pitchFamily="34" charset="-122"/>
                <a:cs typeface="Raleway Medium" pitchFamily="34" charset="-120"/>
              </a:rPr>
              <a:t>sobre</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el</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contingut</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multimèdia</a:t>
            </a:r>
            <a:r>
              <a:rPr lang="en-US" sz="1750" dirty="0">
                <a:solidFill>
                  <a:srgbClr val="D7D4CC"/>
                </a:solidFill>
                <a:latin typeface="Raleway Medium" pitchFamily="34" charset="0"/>
                <a:ea typeface="Raleway Medium" pitchFamily="34" charset="-122"/>
                <a:cs typeface="Raleway Medium" pitchFamily="34" charset="-120"/>
              </a:rPr>
              <a:t> del </a:t>
            </a:r>
            <a:r>
              <a:rPr lang="en-US" sz="1750" dirty="0" err="1">
                <a:solidFill>
                  <a:srgbClr val="D7D4CC"/>
                </a:solidFill>
                <a:latin typeface="Raleway Medium" pitchFamily="34" charset="0"/>
                <a:ea typeface="Raleway Medium" pitchFamily="34" charset="-122"/>
                <a:cs typeface="Raleway Medium" pitchFamily="34" charset="-120"/>
              </a:rPr>
              <a:t>projecte</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i</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el</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repositori</a:t>
            </a:r>
            <a:r>
              <a:rPr lang="en-US" sz="1750" dirty="0">
                <a:solidFill>
                  <a:srgbClr val="D7D4CC"/>
                </a:solidFill>
                <a:latin typeface="Raleway Medium" pitchFamily="34" charset="0"/>
                <a:ea typeface="Raleway Medium" pitchFamily="34" charset="-122"/>
                <a:cs typeface="Raleway Medium" pitchFamily="34" charset="-120"/>
              </a:rPr>
              <a:t> Git </a:t>
            </a:r>
            <a:r>
              <a:rPr lang="en-US" sz="1750" dirty="0" err="1">
                <a:solidFill>
                  <a:srgbClr val="D7D4CC"/>
                </a:solidFill>
                <a:latin typeface="Raleway Medium" pitchFamily="34" charset="0"/>
                <a:ea typeface="Raleway Medium" pitchFamily="34" charset="-122"/>
                <a:cs typeface="Raleway Medium" pitchFamily="34" charset="-120"/>
              </a:rPr>
              <a:t>amb</a:t>
            </a:r>
            <a:r>
              <a:rPr lang="en-US" sz="1750" dirty="0">
                <a:solidFill>
                  <a:srgbClr val="D7D4CC"/>
                </a:solidFill>
                <a:latin typeface="Raleway Medium" pitchFamily="34" charset="0"/>
                <a:ea typeface="Raleway Medium" pitchFamily="34" charset="-122"/>
                <a:cs typeface="Raleway Medium" pitchFamily="34" charset="-120"/>
              </a:rPr>
              <a:t> tots </a:t>
            </a:r>
            <a:r>
              <a:rPr lang="en-US" sz="1750" dirty="0" err="1">
                <a:solidFill>
                  <a:srgbClr val="D7D4CC"/>
                </a:solidFill>
                <a:latin typeface="Raleway Medium" pitchFamily="34" charset="0"/>
                <a:ea typeface="Raleway Medium" pitchFamily="34" charset="-122"/>
                <a:cs typeface="Raleway Medium" pitchFamily="34" charset="-120"/>
              </a:rPr>
              <a:t>els</a:t>
            </a:r>
            <a:r>
              <a:rPr lang="en-US" sz="1750" dirty="0">
                <a:solidFill>
                  <a:srgbClr val="D7D4CC"/>
                </a:solidFill>
                <a:latin typeface="Raleway Medium" pitchFamily="34" charset="0"/>
                <a:ea typeface="Raleway Medium" pitchFamily="34" charset="-122"/>
                <a:cs typeface="Raleway Medium" pitchFamily="34" charset="-120"/>
              </a:rPr>
              <a:t> elements, </a:t>
            </a:r>
            <a:r>
              <a:rPr lang="en-US" sz="1750" dirty="0" err="1">
                <a:solidFill>
                  <a:srgbClr val="D7D4CC"/>
                </a:solidFill>
                <a:latin typeface="Raleway Medium" pitchFamily="34" charset="0"/>
                <a:ea typeface="Raleway Medium" pitchFamily="34" charset="-122"/>
                <a:cs typeface="Raleway Medium" pitchFamily="34" charset="-120"/>
              </a:rPr>
              <a:t>el</a:t>
            </a:r>
            <a:r>
              <a:rPr lang="en-US" sz="1750" dirty="0">
                <a:solidFill>
                  <a:srgbClr val="D7D4CC"/>
                </a:solidFill>
                <a:latin typeface="Raleway Medium" pitchFamily="34" charset="0"/>
                <a:ea typeface="Raleway Medium" pitchFamily="34" charset="-122"/>
                <a:cs typeface="Raleway Medium" pitchFamily="34" charset="-120"/>
              </a:rPr>
              <a:t> día 06/02/2025.</a:t>
            </a:r>
          </a:p>
          <a:p>
            <a:pPr marL="0" indent="0" algn="l">
              <a:lnSpc>
                <a:spcPts val="2850"/>
              </a:lnSpc>
              <a:buNone/>
            </a:pPr>
            <a:endParaRPr lang="en-US" sz="1750" dirty="0"/>
          </a:p>
        </p:txBody>
      </p:sp>
      <p:sp>
        <p:nvSpPr>
          <p:cNvPr id="28" name="Shape 12">
            <a:extLst>
              <a:ext uri="{FF2B5EF4-FFF2-40B4-BE49-F238E27FC236}">
                <a16:creationId xmlns:a16="http://schemas.microsoft.com/office/drawing/2014/main" id="{BCF61A71-05C6-48FF-BD9D-00029513BC6D}"/>
              </a:ext>
            </a:extLst>
          </p:cNvPr>
          <p:cNvSpPr/>
          <p:nvPr/>
        </p:nvSpPr>
        <p:spPr>
          <a:xfrm>
            <a:off x="9747117" y="3326947"/>
            <a:ext cx="30480" cy="679728"/>
          </a:xfrm>
          <a:prstGeom prst="roundRect">
            <a:avLst>
              <a:gd name="adj" fmla="val 1115106"/>
            </a:avLst>
          </a:prstGeom>
          <a:solidFill>
            <a:srgbClr val="5F5F63"/>
          </a:solidFill>
          <a:ln/>
        </p:spPr>
        <p:txBody>
          <a:bodyPr/>
          <a:lstStyle/>
          <a:p>
            <a:endParaRPr lang="es-ES"/>
          </a:p>
        </p:txBody>
      </p:sp>
      <p:sp>
        <p:nvSpPr>
          <p:cNvPr id="25" name="Shape 13">
            <a:extLst>
              <a:ext uri="{FF2B5EF4-FFF2-40B4-BE49-F238E27FC236}">
                <a16:creationId xmlns:a16="http://schemas.microsoft.com/office/drawing/2014/main" id="{ACB1E5A9-FBF8-0D10-7150-684AE2B4EDC4}"/>
              </a:ext>
            </a:extLst>
          </p:cNvPr>
          <p:cNvSpPr/>
          <p:nvPr/>
        </p:nvSpPr>
        <p:spPr>
          <a:xfrm>
            <a:off x="9507443" y="3762647"/>
            <a:ext cx="509826" cy="509826"/>
          </a:xfrm>
          <a:prstGeom prst="roundRect">
            <a:avLst>
              <a:gd name="adj" fmla="val 66667"/>
            </a:avLst>
          </a:prstGeom>
          <a:solidFill>
            <a:srgbClr val="46464A"/>
          </a:solidFill>
          <a:ln/>
        </p:spPr>
        <p:txBody>
          <a:bodyPr/>
          <a:lstStyle/>
          <a:p>
            <a:endParaRPr lang="es-ES" dirty="0"/>
          </a:p>
        </p:txBody>
      </p:sp>
      <p:sp>
        <p:nvSpPr>
          <p:cNvPr id="26" name="Text 14">
            <a:extLst>
              <a:ext uri="{FF2B5EF4-FFF2-40B4-BE49-F238E27FC236}">
                <a16:creationId xmlns:a16="http://schemas.microsoft.com/office/drawing/2014/main" id="{49BF2EA2-0BD5-37CD-BFF3-86ED98FD04D8}"/>
              </a:ext>
            </a:extLst>
          </p:cNvPr>
          <p:cNvSpPr/>
          <p:nvPr/>
        </p:nvSpPr>
        <p:spPr>
          <a:xfrm>
            <a:off x="9611325" y="3828786"/>
            <a:ext cx="302062" cy="377547"/>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27" name="Text 19">
            <a:extLst>
              <a:ext uri="{FF2B5EF4-FFF2-40B4-BE49-F238E27FC236}">
                <a16:creationId xmlns:a16="http://schemas.microsoft.com/office/drawing/2014/main" id="{27562879-2A0D-4E7D-2D67-D276046E18F1}"/>
              </a:ext>
            </a:extLst>
          </p:cNvPr>
          <p:cNvSpPr/>
          <p:nvPr/>
        </p:nvSpPr>
        <p:spPr>
          <a:xfrm>
            <a:off x="9607198" y="3850555"/>
            <a:ext cx="302062" cy="377547"/>
          </a:xfrm>
          <a:prstGeom prst="rect">
            <a:avLst/>
          </a:prstGeom>
          <a:noFill/>
          <a:ln/>
        </p:spPr>
        <p:txBody>
          <a:bodyPr wrap="none" lIns="0" tIns="0" rIns="0" bIns="0" rtlCol="0" anchor="t"/>
          <a:lstStyle/>
          <a:p>
            <a:pPr marL="0" indent="0" algn="ctr">
              <a:lnSpc>
                <a:spcPts val="2350"/>
              </a:lnSpc>
              <a:buNone/>
            </a:pPr>
            <a:r>
              <a:rPr lang="en-US" sz="2350" b="1" dirty="0">
                <a:solidFill>
                  <a:srgbClr val="D7D4CC"/>
                </a:solidFill>
                <a:latin typeface="Comfortaa Bold" pitchFamily="34" charset="0"/>
                <a:ea typeface="Comfortaa Bold" pitchFamily="34" charset="-122"/>
                <a:cs typeface="Comfortaa Bold" pitchFamily="34" charset="-120"/>
              </a:rPr>
              <a:t>2</a:t>
            </a:r>
            <a:endParaRPr lang="en-US" sz="2350" dirty="0"/>
          </a:p>
        </p:txBody>
      </p:sp>
      <p:sp>
        <p:nvSpPr>
          <p:cNvPr id="29" name="Text 20">
            <a:extLst>
              <a:ext uri="{FF2B5EF4-FFF2-40B4-BE49-F238E27FC236}">
                <a16:creationId xmlns:a16="http://schemas.microsoft.com/office/drawing/2014/main" id="{B6C44690-5A3E-9580-C5F3-051817A11BF5}"/>
              </a:ext>
            </a:extLst>
          </p:cNvPr>
          <p:cNvSpPr/>
          <p:nvPr/>
        </p:nvSpPr>
        <p:spPr>
          <a:xfrm>
            <a:off x="7953480" y="1886749"/>
            <a:ext cx="3609618" cy="314682"/>
          </a:xfrm>
          <a:prstGeom prst="rect">
            <a:avLst/>
          </a:prstGeom>
          <a:noFill/>
          <a:ln/>
        </p:spPr>
        <p:txBody>
          <a:bodyPr wrap="none" lIns="0" tIns="0" rIns="0" bIns="0" rtlCol="0" anchor="t"/>
          <a:lstStyle/>
          <a:p>
            <a:pPr marL="0" indent="0" algn="ctr">
              <a:lnSpc>
                <a:spcPts val="2450"/>
              </a:lnSpc>
              <a:buNone/>
            </a:pPr>
            <a:r>
              <a:rPr lang="en-US" sz="1950" b="1" dirty="0" err="1">
                <a:solidFill>
                  <a:srgbClr val="D7D4CC"/>
                </a:solidFill>
                <a:latin typeface="Comfortaa Bold" pitchFamily="34" charset="0"/>
                <a:ea typeface="Comfortaa Bold" pitchFamily="34" charset="-122"/>
                <a:cs typeface="Comfortaa Bold" pitchFamily="34" charset="-120"/>
              </a:rPr>
              <a:t>Sessió</a:t>
            </a:r>
            <a:r>
              <a:rPr lang="en-US" sz="1950" b="1" dirty="0">
                <a:solidFill>
                  <a:srgbClr val="D7D4CC"/>
                </a:solidFill>
                <a:latin typeface="Comfortaa Bold" pitchFamily="34" charset="0"/>
                <a:ea typeface="Comfortaa Bold" pitchFamily="34" charset="-122"/>
                <a:cs typeface="Comfortaa Bold" pitchFamily="34" charset="-120"/>
              </a:rPr>
              <a:t> 38 (06/02/2025): </a:t>
            </a:r>
            <a:br>
              <a:rPr lang="en-US" sz="1950" b="1" dirty="0">
                <a:solidFill>
                  <a:srgbClr val="D7D4CC"/>
                </a:solidFill>
                <a:latin typeface="Comfortaa Bold" pitchFamily="34" charset="0"/>
                <a:ea typeface="Comfortaa Bold" pitchFamily="34" charset="-122"/>
                <a:cs typeface="Comfortaa Bold" pitchFamily="34" charset="-120"/>
              </a:rPr>
            </a:br>
            <a:r>
              <a:rPr lang="en-US" sz="1950" b="1" dirty="0" err="1">
                <a:solidFill>
                  <a:srgbClr val="D7D4CC"/>
                </a:solidFill>
                <a:latin typeface="Comfortaa Bold" pitchFamily="34" charset="0"/>
                <a:ea typeface="Comfortaa Bold" pitchFamily="34" charset="-122"/>
                <a:cs typeface="Comfortaa Bold" pitchFamily="34" charset="-120"/>
              </a:rPr>
              <a:t>Adaptacions</a:t>
            </a:r>
            <a:endParaRPr lang="en-US" sz="1950" dirty="0"/>
          </a:p>
        </p:txBody>
      </p:sp>
      <p:sp>
        <p:nvSpPr>
          <p:cNvPr id="30" name="Text 21">
            <a:extLst>
              <a:ext uri="{FF2B5EF4-FFF2-40B4-BE49-F238E27FC236}">
                <a16:creationId xmlns:a16="http://schemas.microsoft.com/office/drawing/2014/main" id="{1D6EF1B5-5FEA-F336-07FA-506AD983C80A}"/>
              </a:ext>
            </a:extLst>
          </p:cNvPr>
          <p:cNvSpPr/>
          <p:nvPr/>
        </p:nvSpPr>
        <p:spPr>
          <a:xfrm>
            <a:off x="7496161" y="2565887"/>
            <a:ext cx="4524256" cy="724853"/>
          </a:xfrm>
          <a:prstGeom prst="rect">
            <a:avLst/>
          </a:prstGeom>
          <a:noFill/>
          <a:ln/>
        </p:spPr>
        <p:txBody>
          <a:bodyPr wrap="square" lIns="0" tIns="0" rIns="0" bIns="0" rtlCol="0" anchor="t"/>
          <a:lstStyle/>
          <a:p>
            <a:pPr marL="0" indent="0" algn="ctr">
              <a:lnSpc>
                <a:spcPts val="2850"/>
              </a:lnSpc>
              <a:buNone/>
            </a:pPr>
            <a:r>
              <a:rPr lang="en-US" sz="1750" dirty="0" err="1">
                <a:solidFill>
                  <a:srgbClr val="D7D4CC"/>
                </a:solidFill>
                <a:latin typeface="Raleway Medium" pitchFamily="34" charset="0"/>
                <a:ea typeface="Raleway Medium" pitchFamily="34" charset="-122"/>
                <a:cs typeface="Raleway Medium" pitchFamily="34" charset="-120"/>
              </a:rPr>
              <a:t>Animacions</a:t>
            </a:r>
            <a:r>
              <a:rPr lang="en-US" sz="1750" dirty="0">
                <a:solidFill>
                  <a:srgbClr val="D7D4CC"/>
                </a:solidFill>
                <a:latin typeface="Raleway Medium" pitchFamily="34" charset="0"/>
                <a:ea typeface="Raleway Medium" pitchFamily="34" charset="-122"/>
                <a:cs typeface="Raleway Medium" pitchFamily="34" charset="-120"/>
              </a:rPr>
              <a:t> de </a:t>
            </a:r>
            <a:r>
              <a:rPr lang="en-US" sz="1750" dirty="0" err="1">
                <a:solidFill>
                  <a:srgbClr val="D7D4CC"/>
                </a:solidFill>
                <a:latin typeface="Raleway Medium" pitchFamily="34" charset="0"/>
                <a:ea typeface="Raleway Medium" pitchFamily="34" charset="-122"/>
                <a:cs typeface="Raleway Medium" pitchFamily="34" charset="-120"/>
              </a:rPr>
              <a:t>imtages</a:t>
            </a:r>
            <a:r>
              <a:rPr lang="en-US" sz="1750" dirty="0">
                <a:solidFill>
                  <a:srgbClr val="D7D4CC"/>
                </a:solidFill>
                <a:latin typeface="Raleway Medium" pitchFamily="34" charset="0"/>
                <a:ea typeface="Raleway Medium" pitchFamily="34" charset="-122"/>
                <a:cs typeface="Raleway Medium" pitchFamily="34" charset="-120"/>
              </a:rPr>
              <a:t> </a:t>
            </a:r>
            <a:r>
              <a:rPr lang="en-US" sz="1750" dirty="0" err="1">
                <a:solidFill>
                  <a:srgbClr val="D7D4CC"/>
                </a:solidFill>
                <a:latin typeface="Raleway Medium" pitchFamily="34" charset="0"/>
                <a:ea typeface="Raleway Medium" pitchFamily="34" charset="-122"/>
                <a:cs typeface="Raleway Medium" pitchFamily="34" charset="-120"/>
              </a:rPr>
              <a:t>i</a:t>
            </a:r>
            <a:r>
              <a:rPr lang="en-US" sz="1750" dirty="0">
                <a:solidFill>
                  <a:srgbClr val="D7D4CC"/>
                </a:solidFill>
                <a:latin typeface="Raleway Medium" pitchFamily="34" charset="0"/>
                <a:ea typeface="Raleway Medium" pitchFamily="34" charset="-122"/>
                <a:cs typeface="Raleway Medium" pitchFamily="34" charset="-120"/>
              </a:rPr>
              <a:t> text</a:t>
            </a:r>
            <a:endParaRPr lang="en-US" sz="1750" dirty="0"/>
          </a:p>
        </p:txBody>
      </p:sp>
    </p:spTree>
    <p:extLst>
      <p:ext uri="{BB962C8B-B14F-4D97-AF65-F5344CB8AC3E}">
        <p14:creationId xmlns:p14="http://schemas.microsoft.com/office/powerpoint/2010/main" val="3460910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69037" y="882253"/>
            <a:ext cx="5518071" cy="689729"/>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Fase final</a:t>
            </a:r>
            <a:endParaRPr lang="en-US" sz="4300" dirty="0"/>
          </a:p>
        </p:txBody>
      </p:sp>
      <p:sp>
        <p:nvSpPr>
          <p:cNvPr id="3" name="Text 1"/>
          <p:cNvSpPr/>
          <p:nvPr/>
        </p:nvSpPr>
        <p:spPr>
          <a:xfrm>
            <a:off x="869037" y="2192655"/>
            <a:ext cx="3893106" cy="827723"/>
          </a:xfrm>
          <a:prstGeom prst="rect">
            <a:avLst/>
          </a:prstGeom>
          <a:noFill/>
          <a:ln/>
        </p:spPr>
        <p:txBody>
          <a:bodyPr wrap="square" lIns="0" tIns="0" rIns="0" bIns="0" rtlCol="0" anchor="t"/>
          <a:lstStyle/>
          <a:p>
            <a:pPr marL="0" indent="0" algn="l">
              <a:lnSpc>
                <a:spcPts val="3250"/>
              </a:lnSpc>
              <a:buNone/>
            </a:pPr>
            <a:r>
              <a:rPr lang="en-US" sz="2600" b="1" dirty="0">
                <a:solidFill>
                  <a:srgbClr val="FFE14D"/>
                </a:solidFill>
                <a:latin typeface="Comfortaa Bold" pitchFamily="34" charset="0"/>
                <a:ea typeface="Comfortaa Bold" pitchFamily="34" charset="-122"/>
                <a:cs typeface="Comfortaa Bold" pitchFamily="34" charset="-120"/>
              </a:rPr>
              <a:t>Preparació de la memòria</a:t>
            </a:r>
            <a:endParaRPr lang="en-US" sz="2600" dirty="0"/>
          </a:p>
        </p:txBody>
      </p:sp>
      <p:sp>
        <p:nvSpPr>
          <p:cNvPr id="4" name="Text 2"/>
          <p:cNvSpPr/>
          <p:nvPr/>
        </p:nvSpPr>
        <p:spPr>
          <a:xfrm>
            <a:off x="869037" y="3268623"/>
            <a:ext cx="3893106" cy="2383869"/>
          </a:xfrm>
          <a:prstGeom prst="rect">
            <a:avLst/>
          </a:prstGeom>
          <a:noFill/>
          <a:ln/>
        </p:spPr>
        <p:txBody>
          <a:bodyPr wrap="square" lIns="0" tIns="0" rIns="0" bIns="0" rtlCol="0" anchor="t"/>
          <a:lstStyle/>
          <a:p>
            <a:pPr marL="0" indent="0" algn="l">
              <a:lnSpc>
                <a:spcPts val="3100"/>
              </a:lnSpc>
              <a:buNone/>
            </a:pPr>
            <a:r>
              <a:rPr lang="en-US" sz="1950" dirty="0">
                <a:solidFill>
                  <a:srgbClr val="D7D4CC"/>
                </a:solidFill>
                <a:latin typeface="Raleway Medium" pitchFamily="34" charset="0"/>
                <a:ea typeface="Raleway Medium" pitchFamily="34" charset="-122"/>
                <a:cs typeface="Raleway Medium" pitchFamily="34" charset="-120"/>
              </a:rPr>
              <a:t>Durant les primeres setmanes de febrer, els alumnes compilaran tota la documentació generada durant el projecte, integrant les evidències i justificacions de les decisions preses en cada fase.</a:t>
            </a:r>
            <a:endParaRPr lang="en-US" sz="1950" dirty="0"/>
          </a:p>
        </p:txBody>
      </p:sp>
      <p:sp>
        <p:nvSpPr>
          <p:cNvPr id="5" name="Text 3"/>
          <p:cNvSpPr/>
          <p:nvPr/>
        </p:nvSpPr>
        <p:spPr>
          <a:xfrm>
            <a:off x="5375553" y="2192655"/>
            <a:ext cx="3893106" cy="827723"/>
          </a:xfrm>
          <a:prstGeom prst="rect">
            <a:avLst/>
          </a:prstGeom>
          <a:noFill/>
          <a:ln/>
        </p:spPr>
        <p:txBody>
          <a:bodyPr wrap="square" lIns="0" tIns="0" rIns="0" bIns="0" rtlCol="0" anchor="t"/>
          <a:lstStyle/>
          <a:p>
            <a:pPr marL="0" indent="0" algn="l">
              <a:lnSpc>
                <a:spcPts val="3250"/>
              </a:lnSpc>
              <a:buNone/>
            </a:pPr>
            <a:r>
              <a:rPr lang="en-US" sz="2600" b="1" dirty="0">
                <a:solidFill>
                  <a:srgbClr val="FFE14D"/>
                </a:solidFill>
                <a:latin typeface="Comfortaa Bold" pitchFamily="34" charset="0"/>
                <a:ea typeface="Comfortaa Bold" pitchFamily="34" charset="-122"/>
                <a:cs typeface="Comfortaa Bold" pitchFamily="34" charset="-120"/>
              </a:rPr>
              <a:t>Entrega final del projecte</a:t>
            </a:r>
            <a:endParaRPr lang="en-US" sz="2600" dirty="0"/>
          </a:p>
        </p:txBody>
      </p:sp>
      <p:sp>
        <p:nvSpPr>
          <p:cNvPr id="6" name="Text 4"/>
          <p:cNvSpPr/>
          <p:nvPr/>
        </p:nvSpPr>
        <p:spPr>
          <a:xfrm>
            <a:off x="5375553" y="3268623"/>
            <a:ext cx="3893106" cy="2383869"/>
          </a:xfrm>
          <a:prstGeom prst="rect">
            <a:avLst/>
          </a:prstGeom>
          <a:noFill/>
          <a:ln/>
        </p:spPr>
        <p:txBody>
          <a:bodyPr wrap="square" lIns="0" tIns="0" rIns="0" bIns="0" rtlCol="0" anchor="t"/>
          <a:lstStyle/>
          <a:p>
            <a:pPr marL="0" indent="0" algn="l">
              <a:lnSpc>
                <a:spcPts val="3100"/>
              </a:lnSpc>
              <a:buNone/>
            </a:pPr>
            <a:r>
              <a:rPr lang="en-US" sz="1950" dirty="0">
                <a:solidFill>
                  <a:srgbClr val="D7D4CC"/>
                </a:solidFill>
                <a:latin typeface="Raleway Medium" pitchFamily="34" charset="0"/>
                <a:ea typeface="Raleway Medium" pitchFamily="34" charset="-122"/>
                <a:cs typeface="Raleway Medium" pitchFamily="34" charset="-120"/>
              </a:rPr>
              <a:t>El 13/02/2025 es realitzarà l'entrega completa del projecte, incloent el document PDF, les diapositives de l'exposició i l'enllaç al repositori remot amb tots els arxius del projecte.</a:t>
            </a:r>
            <a:endParaRPr lang="en-US" sz="1950" dirty="0"/>
          </a:p>
        </p:txBody>
      </p:sp>
      <p:sp>
        <p:nvSpPr>
          <p:cNvPr id="7" name="Text 5"/>
          <p:cNvSpPr/>
          <p:nvPr/>
        </p:nvSpPr>
        <p:spPr>
          <a:xfrm>
            <a:off x="9882068" y="2192655"/>
            <a:ext cx="3310890" cy="413861"/>
          </a:xfrm>
          <a:prstGeom prst="rect">
            <a:avLst/>
          </a:prstGeom>
          <a:noFill/>
          <a:ln/>
        </p:spPr>
        <p:txBody>
          <a:bodyPr wrap="none" lIns="0" tIns="0" rIns="0" bIns="0" rtlCol="0" anchor="t"/>
          <a:lstStyle/>
          <a:p>
            <a:pPr marL="0" indent="0" algn="l">
              <a:lnSpc>
                <a:spcPts val="3250"/>
              </a:lnSpc>
              <a:buNone/>
            </a:pPr>
            <a:r>
              <a:rPr lang="en-US" sz="2600" b="1" dirty="0">
                <a:solidFill>
                  <a:srgbClr val="FFE14D"/>
                </a:solidFill>
                <a:latin typeface="Comfortaa Bold" pitchFamily="34" charset="0"/>
                <a:ea typeface="Comfortaa Bold" pitchFamily="34" charset="-122"/>
                <a:cs typeface="Comfortaa Bold" pitchFamily="34" charset="-120"/>
              </a:rPr>
              <a:t>Presentacions</a:t>
            </a:r>
            <a:endParaRPr lang="en-US" sz="2600" dirty="0"/>
          </a:p>
        </p:txBody>
      </p:sp>
      <p:sp>
        <p:nvSpPr>
          <p:cNvPr id="8" name="Text 6"/>
          <p:cNvSpPr/>
          <p:nvPr/>
        </p:nvSpPr>
        <p:spPr>
          <a:xfrm>
            <a:off x="9882068" y="2854762"/>
            <a:ext cx="3893106" cy="2781181"/>
          </a:xfrm>
          <a:prstGeom prst="rect">
            <a:avLst/>
          </a:prstGeom>
          <a:noFill/>
          <a:ln/>
        </p:spPr>
        <p:txBody>
          <a:bodyPr wrap="square" lIns="0" tIns="0" rIns="0" bIns="0" rtlCol="0" anchor="t"/>
          <a:lstStyle/>
          <a:p>
            <a:pPr marL="0" indent="0" algn="l">
              <a:lnSpc>
                <a:spcPts val="3100"/>
              </a:lnSpc>
              <a:buNone/>
            </a:pPr>
            <a:r>
              <a:rPr lang="en-US" sz="1950" dirty="0">
                <a:solidFill>
                  <a:srgbClr val="D7D4CC"/>
                </a:solidFill>
                <a:latin typeface="Raleway Medium" pitchFamily="34" charset="0"/>
                <a:ea typeface="Raleway Medium" pitchFamily="34" charset="-122"/>
                <a:cs typeface="Raleway Medium" pitchFamily="34" charset="-120"/>
              </a:rPr>
              <a:t>Els dies 18 i 20 de febrer de 2025 es dedicaran a les presentacions dels treballs realitzats, on els grups exposaran els seus projectes, explicant les decisions de disseny i les solucions implementades.</a:t>
            </a:r>
            <a:endParaRPr lang="en-US" sz="1950" dirty="0"/>
          </a:p>
        </p:txBody>
      </p:sp>
      <p:sp>
        <p:nvSpPr>
          <p:cNvPr id="9" name="Text 7"/>
          <p:cNvSpPr/>
          <p:nvPr/>
        </p:nvSpPr>
        <p:spPr>
          <a:xfrm>
            <a:off x="869037" y="6155293"/>
            <a:ext cx="12892326" cy="1191935"/>
          </a:xfrm>
          <a:prstGeom prst="rect">
            <a:avLst/>
          </a:prstGeom>
          <a:noFill/>
          <a:ln/>
        </p:spPr>
        <p:txBody>
          <a:bodyPr wrap="square" lIns="0" tIns="0" rIns="0" bIns="0" rtlCol="0" anchor="t"/>
          <a:lstStyle/>
          <a:p>
            <a:pPr marL="0" indent="0" algn="l">
              <a:lnSpc>
                <a:spcPts val="3100"/>
              </a:lnSpc>
              <a:buNone/>
            </a:pPr>
            <a:r>
              <a:rPr lang="en-US" sz="1950" dirty="0">
                <a:solidFill>
                  <a:srgbClr val="D7D4CC"/>
                </a:solidFill>
                <a:latin typeface="Raleway Medium" pitchFamily="34" charset="0"/>
                <a:ea typeface="Raleway Medium" pitchFamily="34" charset="-122"/>
                <a:cs typeface="Raleway Medium" pitchFamily="34" charset="-120"/>
              </a:rPr>
              <a:t>Aquesta fase final és crucial per consolidar els aprenentatges i desenvolupar habilitats de comunicació professional. Les presentacions permeten també compartir coneixements entre els diferents grups i rebre feedback valuós del professorat i companys.</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81063" y="761762"/>
            <a:ext cx="7720013" cy="489466"/>
          </a:xfrm>
          <a:prstGeom prst="rect">
            <a:avLst/>
          </a:prstGeom>
          <a:noFill/>
          <a:ln/>
        </p:spPr>
        <p:txBody>
          <a:bodyPr wrap="none" lIns="0" tIns="0" rIns="0" bIns="0" rtlCol="0" anchor="t"/>
          <a:lstStyle/>
          <a:p>
            <a:pPr marL="0" indent="0" algn="l">
              <a:lnSpc>
                <a:spcPts val="3850"/>
              </a:lnSpc>
              <a:buNone/>
            </a:pPr>
            <a:r>
              <a:rPr lang="en-US" sz="3050" b="1" dirty="0">
                <a:solidFill>
                  <a:srgbClr val="FFE14D"/>
                </a:solidFill>
                <a:latin typeface="Comfortaa Bold" pitchFamily="34" charset="0"/>
                <a:ea typeface="Comfortaa Bold" pitchFamily="34" charset="-122"/>
                <a:cs typeface="Comfortaa Bold" pitchFamily="34" charset="-120"/>
              </a:rPr>
              <a:t>Instruccions d'instal·lació del projecte</a:t>
            </a:r>
            <a:endParaRPr lang="en-US" sz="3050" dirty="0"/>
          </a:p>
        </p:txBody>
      </p:sp>
      <p:pic>
        <p:nvPicPr>
          <p:cNvPr id="3" name="Image 0" descr="preencoded.png"/>
          <p:cNvPicPr>
            <a:picLocks noChangeAspect="1"/>
          </p:cNvPicPr>
          <p:nvPr/>
        </p:nvPicPr>
        <p:blipFill>
          <a:blip r:embed="rId3"/>
          <a:stretch>
            <a:fillRect/>
          </a:stretch>
        </p:blipFill>
        <p:spPr>
          <a:xfrm>
            <a:off x="881063" y="1713786"/>
            <a:ext cx="4857393" cy="5409128"/>
          </a:xfrm>
          <a:prstGeom prst="rect">
            <a:avLst/>
          </a:prstGeom>
        </p:spPr>
      </p:pic>
      <p:sp>
        <p:nvSpPr>
          <p:cNvPr id="4" name="Shape 1"/>
          <p:cNvSpPr/>
          <p:nvPr/>
        </p:nvSpPr>
        <p:spPr>
          <a:xfrm>
            <a:off x="7537728" y="1978104"/>
            <a:ext cx="3043476" cy="176213"/>
          </a:xfrm>
          <a:prstGeom prst="roundRect">
            <a:avLst>
              <a:gd name="adj" fmla="val 150020"/>
            </a:avLst>
          </a:prstGeom>
          <a:solidFill>
            <a:srgbClr val="46464A"/>
          </a:solidFill>
          <a:ln/>
        </p:spPr>
        <p:txBody>
          <a:bodyPr/>
          <a:lstStyle/>
          <a:p>
            <a:endParaRPr lang="es-ES"/>
          </a:p>
        </p:txBody>
      </p:sp>
      <p:sp>
        <p:nvSpPr>
          <p:cNvPr id="5" name="Text 2"/>
          <p:cNvSpPr/>
          <p:nvPr/>
        </p:nvSpPr>
        <p:spPr>
          <a:xfrm>
            <a:off x="7713940" y="2330529"/>
            <a:ext cx="1958102" cy="244793"/>
          </a:xfrm>
          <a:prstGeom prst="rect">
            <a:avLst/>
          </a:prstGeom>
          <a:noFill/>
          <a:ln/>
        </p:spPr>
        <p:txBody>
          <a:bodyPr wrap="none" lIns="0" tIns="0" rIns="0" bIns="0" rtlCol="0" anchor="t"/>
          <a:lstStyle/>
          <a:p>
            <a:pPr marL="0" indent="0" algn="l">
              <a:lnSpc>
                <a:spcPts val="1900"/>
              </a:lnSpc>
              <a:buNone/>
            </a:pPr>
            <a:r>
              <a:rPr lang="en-US" sz="1500" b="1" dirty="0">
                <a:solidFill>
                  <a:srgbClr val="D7D4CC"/>
                </a:solidFill>
                <a:latin typeface="Comfortaa Bold" pitchFamily="34" charset="0"/>
                <a:ea typeface="Comfortaa Bold" pitchFamily="34" charset="-122"/>
                <a:cs typeface="Comfortaa Bold" pitchFamily="34" charset="-120"/>
              </a:rPr>
              <a:t>Obtenció del codi</a:t>
            </a:r>
            <a:endParaRPr lang="en-US" sz="1500" dirty="0"/>
          </a:p>
        </p:txBody>
      </p:sp>
      <p:sp>
        <p:nvSpPr>
          <p:cNvPr id="6" name="Text 3"/>
          <p:cNvSpPr/>
          <p:nvPr/>
        </p:nvSpPr>
        <p:spPr>
          <a:xfrm>
            <a:off x="7713940" y="2751534"/>
            <a:ext cx="2691051" cy="1127760"/>
          </a:xfrm>
          <a:prstGeom prst="rect">
            <a:avLst/>
          </a:prstGeom>
          <a:noFill/>
          <a:ln/>
        </p:spPr>
        <p:txBody>
          <a:bodyPr wrap="square" lIns="0" tIns="0" rIns="0" bIns="0" rtlCol="0" anchor="t"/>
          <a:lstStyle/>
          <a:p>
            <a:pPr marL="0" indent="0" algn="l">
              <a:lnSpc>
                <a:spcPts val="2200"/>
              </a:lnSpc>
              <a:buNone/>
            </a:pPr>
            <a:r>
              <a:rPr lang="en-US" sz="1350" dirty="0">
                <a:solidFill>
                  <a:srgbClr val="D7D4CC"/>
                </a:solidFill>
                <a:latin typeface="Raleway Medium" pitchFamily="34" charset="0"/>
                <a:ea typeface="Raleway Medium" pitchFamily="34" charset="-122"/>
                <a:cs typeface="Raleway Medium" pitchFamily="34" charset="-120"/>
              </a:rPr>
              <a:t>Clonar el repositori amb la comanda: git clone https://github.com/frafusju/polideportivo.git</a:t>
            </a:r>
            <a:endParaRPr lang="en-US" sz="1350" dirty="0"/>
          </a:p>
        </p:txBody>
      </p:sp>
      <p:sp>
        <p:nvSpPr>
          <p:cNvPr id="7" name="Shape 4"/>
          <p:cNvSpPr/>
          <p:nvPr/>
        </p:nvSpPr>
        <p:spPr>
          <a:xfrm>
            <a:off x="10713363" y="1713786"/>
            <a:ext cx="3043595" cy="176213"/>
          </a:xfrm>
          <a:prstGeom prst="roundRect">
            <a:avLst>
              <a:gd name="adj" fmla="val 150020"/>
            </a:avLst>
          </a:prstGeom>
          <a:solidFill>
            <a:srgbClr val="46464A"/>
          </a:solidFill>
          <a:ln/>
        </p:spPr>
        <p:txBody>
          <a:bodyPr/>
          <a:lstStyle/>
          <a:p>
            <a:endParaRPr lang="es-ES"/>
          </a:p>
        </p:txBody>
      </p:sp>
      <p:sp>
        <p:nvSpPr>
          <p:cNvPr id="8" name="Text 5"/>
          <p:cNvSpPr/>
          <p:nvPr/>
        </p:nvSpPr>
        <p:spPr>
          <a:xfrm>
            <a:off x="10889575" y="2066211"/>
            <a:ext cx="2691170" cy="489585"/>
          </a:xfrm>
          <a:prstGeom prst="rect">
            <a:avLst/>
          </a:prstGeom>
          <a:noFill/>
          <a:ln/>
        </p:spPr>
        <p:txBody>
          <a:bodyPr wrap="square" lIns="0" tIns="0" rIns="0" bIns="0" rtlCol="0" anchor="t"/>
          <a:lstStyle/>
          <a:p>
            <a:pPr marL="0" indent="0" algn="l">
              <a:lnSpc>
                <a:spcPts val="1900"/>
              </a:lnSpc>
              <a:buNone/>
            </a:pPr>
            <a:r>
              <a:rPr lang="en-US" sz="1500" b="1" dirty="0">
                <a:solidFill>
                  <a:srgbClr val="D7D4CC"/>
                </a:solidFill>
                <a:latin typeface="Comfortaa Bold" pitchFamily="34" charset="0"/>
                <a:ea typeface="Comfortaa Bold" pitchFamily="34" charset="-122"/>
                <a:cs typeface="Comfortaa Bold" pitchFamily="34" charset="-120"/>
              </a:rPr>
              <a:t>Construcció d'imatges Docker</a:t>
            </a:r>
            <a:endParaRPr lang="en-US" sz="1500" dirty="0"/>
          </a:p>
        </p:txBody>
      </p:sp>
      <p:sp>
        <p:nvSpPr>
          <p:cNvPr id="9" name="Text 6"/>
          <p:cNvSpPr/>
          <p:nvPr/>
        </p:nvSpPr>
        <p:spPr>
          <a:xfrm>
            <a:off x="10889575" y="2732008"/>
            <a:ext cx="2691170" cy="845820"/>
          </a:xfrm>
          <a:prstGeom prst="rect">
            <a:avLst/>
          </a:prstGeom>
          <a:noFill/>
          <a:ln/>
        </p:spPr>
        <p:txBody>
          <a:bodyPr wrap="square" lIns="0" tIns="0" rIns="0" bIns="0" rtlCol="0" anchor="t"/>
          <a:lstStyle/>
          <a:p>
            <a:pPr marL="0" indent="0" algn="l">
              <a:lnSpc>
                <a:spcPts val="2200"/>
              </a:lnSpc>
              <a:buNone/>
            </a:pPr>
            <a:r>
              <a:rPr lang="en-US" sz="1350" dirty="0">
                <a:solidFill>
                  <a:srgbClr val="D7D4CC"/>
                </a:solidFill>
                <a:latin typeface="Raleway Medium" pitchFamily="34" charset="0"/>
                <a:ea typeface="Raleway Medium" pitchFamily="34" charset="-122"/>
                <a:cs typeface="Raleway Medium" pitchFamily="34" charset="-120"/>
              </a:rPr>
              <a:t>Executar docker-compose build des del directori arrel del projecte</a:t>
            </a:r>
            <a:endParaRPr lang="en-US" sz="1350" dirty="0"/>
          </a:p>
        </p:txBody>
      </p:sp>
      <p:sp>
        <p:nvSpPr>
          <p:cNvPr id="10" name="Shape 7"/>
          <p:cNvSpPr/>
          <p:nvPr/>
        </p:nvSpPr>
        <p:spPr>
          <a:xfrm>
            <a:off x="7537728" y="4451985"/>
            <a:ext cx="3043476" cy="176213"/>
          </a:xfrm>
          <a:prstGeom prst="roundRect">
            <a:avLst>
              <a:gd name="adj" fmla="val 150020"/>
            </a:avLst>
          </a:prstGeom>
          <a:solidFill>
            <a:srgbClr val="46464A"/>
          </a:solidFill>
          <a:ln/>
        </p:spPr>
        <p:txBody>
          <a:bodyPr/>
          <a:lstStyle/>
          <a:p>
            <a:endParaRPr lang="es-ES"/>
          </a:p>
        </p:txBody>
      </p:sp>
      <p:sp>
        <p:nvSpPr>
          <p:cNvPr id="11" name="Text 8"/>
          <p:cNvSpPr/>
          <p:nvPr/>
        </p:nvSpPr>
        <p:spPr>
          <a:xfrm>
            <a:off x="7713940" y="4804410"/>
            <a:ext cx="2238375" cy="244793"/>
          </a:xfrm>
          <a:prstGeom prst="rect">
            <a:avLst/>
          </a:prstGeom>
          <a:noFill/>
          <a:ln/>
        </p:spPr>
        <p:txBody>
          <a:bodyPr wrap="none" lIns="0" tIns="0" rIns="0" bIns="0" rtlCol="0" anchor="t"/>
          <a:lstStyle/>
          <a:p>
            <a:pPr marL="0" indent="0" algn="l">
              <a:lnSpc>
                <a:spcPts val="1900"/>
              </a:lnSpc>
              <a:buNone/>
            </a:pPr>
            <a:r>
              <a:rPr lang="en-US" sz="1500" b="1" dirty="0">
                <a:solidFill>
                  <a:srgbClr val="D7D4CC"/>
                </a:solidFill>
                <a:latin typeface="Comfortaa Bold" pitchFamily="34" charset="0"/>
                <a:ea typeface="Comfortaa Bold" pitchFamily="34" charset="-122"/>
                <a:cs typeface="Comfortaa Bold" pitchFamily="34" charset="-120"/>
              </a:rPr>
              <a:t>Arrencada de l'entorn</a:t>
            </a:r>
            <a:endParaRPr lang="en-US" sz="1500" dirty="0"/>
          </a:p>
        </p:txBody>
      </p:sp>
      <p:sp>
        <p:nvSpPr>
          <p:cNvPr id="12" name="Text 9"/>
          <p:cNvSpPr/>
          <p:nvPr/>
        </p:nvSpPr>
        <p:spPr>
          <a:xfrm>
            <a:off x="7713940" y="5225415"/>
            <a:ext cx="2691051" cy="563880"/>
          </a:xfrm>
          <a:prstGeom prst="rect">
            <a:avLst/>
          </a:prstGeom>
          <a:noFill/>
          <a:ln/>
        </p:spPr>
        <p:txBody>
          <a:bodyPr wrap="square" lIns="0" tIns="0" rIns="0" bIns="0" rtlCol="0" anchor="t"/>
          <a:lstStyle/>
          <a:p>
            <a:pPr marL="0" indent="0" algn="l">
              <a:lnSpc>
                <a:spcPts val="2200"/>
              </a:lnSpc>
              <a:buNone/>
            </a:pPr>
            <a:r>
              <a:rPr lang="en-US" sz="1350" dirty="0">
                <a:solidFill>
                  <a:srgbClr val="D7D4CC"/>
                </a:solidFill>
                <a:latin typeface="Raleway Medium" pitchFamily="34" charset="0"/>
                <a:ea typeface="Raleway Medium" pitchFamily="34" charset="-122"/>
                <a:cs typeface="Raleway Medium" pitchFamily="34" charset="-120"/>
              </a:rPr>
              <a:t>Posar en marxa els contenidors amb docker-compose up -d</a:t>
            </a:r>
            <a:endParaRPr lang="en-US" sz="1350" dirty="0"/>
          </a:p>
        </p:txBody>
      </p:sp>
      <p:sp>
        <p:nvSpPr>
          <p:cNvPr id="13" name="Shape 10"/>
          <p:cNvSpPr/>
          <p:nvPr/>
        </p:nvSpPr>
        <p:spPr>
          <a:xfrm>
            <a:off x="10713363" y="4187666"/>
            <a:ext cx="3043595" cy="176213"/>
          </a:xfrm>
          <a:prstGeom prst="roundRect">
            <a:avLst>
              <a:gd name="adj" fmla="val 150020"/>
            </a:avLst>
          </a:prstGeom>
          <a:solidFill>
            <a:srgbClr val="46464A"/>
          </a:solidFill>
          <a:ln/>
        </p:spPr>
        <p:txBody>
          <a:bodyPr/>
          <a:lstStyle/>
          <a:p>
            <a:endParaRPr lang="es-ES"/>
          </a:p>
        </p:txBody>
      </p:sp>
      <p:sp>
        <p:nvSpPr>
          <p:cNvPr id="14" name="Text 11"/>
          <p:cNvSpPr/>
          <p:nvPr/>
        </p:nvSpPr>
        <p:spPr>
          <a:xfrm>
            <a:off x="10889575" y="4540091"/>
            <a:ext cx="2334578" cy="244793"/>
          </a:xfrm>
          <a:prstGeom prst="rect">
            <a:avLst/>
          </a:prstGeom>
          <a:noFill/>
          <a:ln/>
        </p:spPr>
        <p:txBody>
          <a:bodyPr wrap="none" lIns="0" tIns="0" rIns="0" bIns="0" rtlCol="0" anchor="t"/>
          <a:lstStyle/>
          <a:p>
            <a:pPr marL="0" indent="0" algn="l">
              <a:lnSpc>
                <a:spcPts val="1900"/>
              </a:lnSpc>
              <a:buNone/>
            </a:pPr>
            <a:r>
              <a:rPr lang="en-US" sz="1500" b="1" dirty="0">
                <a:solidFill>
                  <a:srgbClr val="D7D4CC"/>
                </a:solidFill>
                <a:latin typeface="Comfortaa Bold" pitchFamily="34" charset="0"/>
                <a:ea typeface="Comfortaa Bold" pitchFamily="34" charset="-122"/>
                <a:cs typeface="Comfortaa Bold" pitchFamily="34" charset="-120"/>
              </a:rPr>
              <a:t>Preparació de la BBDD</a:t>
            </a:r>
            <a:endParaRPr lang="en-US" sz="1500" dirty="0"/>
          </a:p>
        </p:txBody>
      </p:sp>
      <p:sp>
        <p:nvSpPr>
          <p:cNvPr id="15" name="Text 12"/>
          <p:cNvSpPr/>
          <p:nvPr/>
        </p:nvSpPr>
        <p:spPr>
          <a:xfrm>
            <a:off x="10889575" y="4961096"/>
            <a:ext cx="2691170" cy="845820"/>
          </a:xfrm>
          <a:prstGeom prst="rect">
            <a:avLst/>
          </a:prstGeom>
          <a:noFill/>
          <a:ln/>
        </p:spPr>
        <p:txBody>
          <a:bodyPr wrap="square" lIns="0" tIns="0" rIns="0" bIns="0" rtlCol="0" anchor="t"/>
          <a:lstStyle/>
          <a:p>
            <a:pPr marL="0" indent="0" algn="l">
              <a:lnSpc>
                <a:spcPts val="2200"/>
              </a:lnSpc>
              <a:buNone/>
            </a:pPr>
            <a:r>
              <a:rPr lang="en-US" sz="1350" dirty="0">
                <a:solidFill>
                  <a:srgbClr val="D7D4CC"/>
                </a:solidFill>
                <a:latin typeface="Raleway Medium" pitchFamily="34" charset="0"/>
                <a:ea typeface="Raleway Medium" pitchFamily="34" charset="-122"/>
                <a:cs typeface="Raleway Medium" pitchFamily="34" charset="-120"/>
              </a:rPr>
              <a:t>Executar les migracions i seeders amb les comandes corresponents</a:t>
            </a:r>
            <a:endParaRPr lang="en-US" sz="1350" dirty="0"/>
          </a:p>
        </p:txBody>
      </p:sp>
      <p:sp>
        <p:nvSpPr>
          <p:cNvPr id="16" name="Text 13"/>
          <p:cNvSpPr/>
          <p:nvPr/>
        </p:nvSpPr>
        <p:spPr>
          <a:xfrm>
            <a:off x="7537728" y="6181368"/>
            <a:ext cx="6219230" cy="1127760"/>
          </a:xfrm>
          <a:prstGeom prst="rect">
            <a:avLst/>
          </a:prstGeom>
          <a:noFill/>
          <a:ln/>
        </p:spPr>
        <p:txBody>
          <a:bodyPr wrap="square" lIns="0" tIns="0" rIns="0" bIns="0" rtlCol="0" anchor="t"/>
          <a:lstStyle/>
          <a:p>
            <a:pPr marL="0" indent="0" algn="l">
              <a:lnSpc>
                <a:spcPts val="2200"/>
              </a:lnSpc>
              <a:buNone/>
            </a:pPr>
            <a:r>
              <a:rPr lang="en-US" sz="1350" dirty="0">
                <a:solidFill>
                  <a:srgbClr val="D7D4CC"/>
                </a:solidFill>
                <a:latin typeface="Raleway Medium" pitchFamily="34" charset="0"/>
                <a:ea typeface="Raleway Medium" pitchFamily="34" charset="-122"/>
                <a:cs typeface="Raleway Medium" pitchFamily="34" charset="-120"/>
              </a:rPr>
              <a:t>Aquestes instruccions permeten configurar l'entorn complet de desenvolupament, incloent el frontend amb Angular, el backend amb Laravel i la base de dades MySQL, tot gestionat mitjançant Docker Compose per facilitar la posada en marxa.</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01648" y="630079"/>
            <a:ext cx="3314581" cy="413504"/>
          </a:xfrm>
          <a:prstGeom prst="rect">
            <a:avLst/>
          </a:prstGeom>
          <a:noFill/>
          <a:ln/>
        </p:spPr>
        <p:txBody>
          <a:bodyPr wrap="none" lIns="0" tIns="0" rIns="0" bIns="0" rtlCol="0" anchor="t"/>
          <a:lstStyle/>
          <a:p>
            <a:pPr marL="0" indent="0" algn="l">
              <a:lnSpc>
                <a:spcPts val="3250"/>
              </a:lnSpc>
              <a:buNone/>
            </a:pPr>
            <a:r>
              <a:rPr lang="en-US" sz="2600" b="1" dirty="0">
                <a:solidFill>
                  <a:srgbClr val="FFE14D"/>
                </a:solidFill>
                <a:latin typeface="Comfortaa Bold" pitchFamily="34" charset="0"/>
                <a:ea typeface="Comfortaa Bold" pitchFamily="34" charset="-122"/>
                <a:cs typeface="Comfortaa Bold" pitchFamily="34" charset="-120"/>
              </a:rPr>
              <a:t>Criteris d'Avaluació</a:t>
            </a:r>
            <a:endParaRPr lang="en-US" sz="2600" dirty="0"/>
          </a:p>
        </p:txBody>
      </p:sp>
      <p:pic>
        <p:nvPicPr>
          <p:cNvPr id="3" name="Image 0" descr="preencoded.png"/>
          <p:cNvPicPr>
            <a:picLocks noChangeAspect="1"/>
          </p:cNvPicPr>
          <p:nvPr/>
        </p:nvPicPr>
        <p:blipFill>
          <a:blip r:embed="rId3"/>
          <a:stretch>
            <a:fillRect/>
          </a:stretch>
        </p:blipFill>
        <p:spPr>
          <a:xfrm>
            <a:off x="801648" y="1341358"/>
            <a:ext cx="7174825" cy="3846552"/>
          </a:xfrm>
          <a:prstGeom prst="rect">
            <a:avLst/>
          </a:prstGeom>
        </p:spPr>
      </p:pic>
      <p:sp>
        <p:nvSpPr>
          <p:cNvPr id="4" name="Shape 1"/>
          <p:cNvSpPr/>
          <p:nvPr/>
        </p:nvSpPr>
        <p:spPr>
          <a:xfrm>
            <a:off x="801648" y="5355312"/>
            <a:ext cx="334923" cy="334923"/>
          </a:xfrm>
          <a:prstGeom prst="roundRect">
            <a:avLst>
              <a:gd name="adj" fmla="val 66685"/>
            </a:avLst>
          </a:prstGeom>
          <a:solidFill>
            <a:srgbClr val="46464A"/>
          </a:solidFill>
          <a:ln/>
        </p:spPr>
        <p:txBody>
          <a:bodyPr/>
          <a:lstStyle/>
          <a:p>
            <a:endParaRPr lang="es-ES"/>
          </a:p>
        </p:txBody>
      </p:sp>
      <p:sp>
        <p:nvSpPr>
          <p:cNvPr id="5" name="Text 2"/>
          <p:cNvSpPr/>
          <p:nvPr/>
        </p:nvSpPr>
        <p:spPr>
          <a:xfrm>
            <a:off x="1285399" y="5406390"/>
            <a:ext cx="2103715" cy="206812"/>
          </a:xfrm>
          <a:prstGeom prst="rect">
            <a:avLst/>
          </a:prstGeom>
          <a:noFill/>
          <a:ln/>
        </p:spPr>
        <p:txBody>
          <a:bodyPr wrap="none" lIns="0" tIns="0" rIns="0" bIns="0" rtlCol="0" anchor="t"/>
          <a:lstStyle/>
          <a:p>
            <a:pPr marL="0" indent="0" algn="l">
              <a:lnSpc>
                <a:spcPts val="1600"/>
              </a:lnSpc>
              <a:buNone/>
            </a:pPr>
            <a:r>
              <a:rPr lang="en-US" sz="1300" b="1" dirty="0">
                <a:solidFill>
                  <a:srgbClr val="D7D4CC"/>
                </a:solidFill>
                <a:latin typeface="Comfortaa Bold" pitchFamily="34" charset="0"/>
                <a:ea typeface="Comfortaa Bold" pitchFamily="34" charset="-122"/>
                <a:cs typeface="Comfortaa Bold" pitchFamily="34" charset="-120"/>
              </a:rPr>
              <a:t>RA1: Planificar interfícies</a:t>
            </a:r>
            <a:endParaRPr lang="en-US" sz="1300" dirty="0"/>
          </a:p>
        </p:txBody>
      </p:sp>
      <p:sp>
        <p:nvSpPr>
          <p:cNvPr id="6" name="Shape 3"/>
          <p:cNvSpPr/>
          <p:nvPr/>
        </p:nvSpPr>
        <p:spPr>
          <a:xfrm>
            <a:off x="7408188" y="5355312"/>
            <a:ext cx="334923" cy="334923"/>
          </a:xfrm>
          <a:prstGeom prst="roundRect">
            <a:avLst>
              <a:gd name="adj" fmla="val 66685"/>
            </a:avLst>
          </a:prstGeom>
          <a:solidFill>
            <a:srgbClr val="46464A"/>
          </a:solidFill>
          <a:ln/>
        </p:spPr>
        <p:txBody>
          <a:bodyPr/>
          <a:lstStyle/>
          <a:p>
            <a:endParaRPr lang="es-ES"/>
          </a:p>
        </p:txBody>
      </p:sp>
      <p:sp>
        <p:nvSpPr>
          <p:cNvPr id="7" name="Text 4"/>
          <p:cNvSpPr/>
          <p:nvPr/>
        </p:nvSpPr>
        <p:spPr>
          <a:xfrm>
            <a:off x="7891939" y="5406390"/>
            <a:ext cx="2463403" cy="206812"/>
          </a:xfrm>
          <a:prstGeom prst="rect">
            <a:avLst/>
          </a:prstGeom>
          <a:noFill/>
          <a:ln/>
        </p:spPr>
        <p:txBody>
          <a:bodyPr wrap="none" lIns="0" tIns="0" rIns="0" bIns="0" rtlCol="0" anchor="t"/>
          <a:lstStyle/>
          <a:p>
            <a:pPr marL="0" indent="0" algn="l">
              <a:lnSpc>
                <a:spcPts val="1600"/>
              </a:lnSpc>
              <a:buNone/>
            </a:pPr>
            <a:r>
              <a:rPr lang="en-US" sz="1300" b="1" dirty="0">
                <a:solidFill>
                  <a:srgbClr val="D7D4CC"/>
                </a:solidFill>
                <a:latin typeface="Comfortaa Bold" pitchFamily="34" charset="0"/>
                <a:ea typeface="Comfortaa Bold" pitchFamily="34" charset="-122"/>
                <a:cs typeface="Comfortaa Bold" pitchFamily="34" charset="-120"/>
              </a:rPr>
              <a:t>RA2: Crear interfícies homo...</a:t>
            </a:r>
            <a:endParaRPr lang="en-US" sz="1300" dirty="0"/>
          </a:p>
        </p:txBody>
      </p:sp>
      <p:sp>
        <p:nvSpPr>
          <p:cNvPr id="8" name="Shape 5"/>
          <p:cNvSpPr/>
          <p:nvPr/>
        </p:nvSpPr>
        <p:spPr>
          <a:xfrm>
            <a:off x="801648" y="5988010"/>
            <a:ext cx="334923" cy="334923"/>
          </a:xfrm>
          <a:prstGeom prst="roundRect">
            <a:avLst>
              <a:gd name="adj" fmla="val 66685"/>
            </a:avLst>
          </a:prstGeom>
          <a:solidFill>
            <a:srgbClr val="46464A"/>
          </a:solidFill>
          <a:ln/>
        </p:spPr>
        <p:txBody>
          <a:bodyPr/>
          <a:lstStyle/>
          <a:p>
            <a:endParaRPr lang="es-ES"/>
          </a:p>
        </p:txBody>
      </p:sp>
      <p:sp>
        <p:nvSpPr>
          <p:cNvPr id="9" name="Text 6"/>
          <p:cNvSpPr/>
          <p:nvPr/>
        </p:nvSpPr>
        <p:spPr>
          <a:xfrm>
            <a:off x="1285399" y="6039088"/>
            <a:ext cx="2514362" cy="206812"/>
          </a:xfrm>
          <a:prstGeom prst="rect">
            <a:avLst/>
          </a:prstGeom>
          <a:noFill/>
          <a:ln/>
        </p:spPr>
        <p:txBody>
          <a:bodyPr wrap="none" lIns="0" tIns="0" rIns="0" bIns="0" rtlCol="0" anchor="t"/>
          <a:lstStyle/>
          <a:p>
            <a:pPr marL="0" indent="0" algn="l">
              <a:lnSpc>
                <a:spcPts val="1600"/>
              </a:lnSpc>
              <a:buNone/>
            </a:pPr>
            <a:r>
              <a:rPr lang="en-US" sz="1300" b="1" dirty="0">
                <a:solidFill>
                  <a:srgbClr val="D7D4CC"/>
                </a:solidFill>
                <a:latin typeface="Comfortaa Bold" pitchFamily="34" charset="0"/>
                <a:ea typeface="Comfortaa Bold" pitchFamily="34" charset="-122"/>
                <a:cs typeface="Comfortaa Bold" pitchFamily="34" charset="-120"/>
              </a:rPr>
              <a:t>RA3: Preparar arxius multim...</a:t>
            </a:r>
            <a:endParaRPr lang="en-US" sz="1300" dirty="0"/>
          </a:p>
        </p:txBody>
      </p:sp>
      <p:sp>
        <p:nvSpPr>
          <p:cNvPr id="10" name="Shape 7"/>
          <p:cNvSpPr/>
          <p:nvPr/>
        </p:nvSpPr>
        <p:spPr>
          <a:xfrm>
            <a:off x="7408188" y="5988010"/>
            <a:ext cx="334923" cy="334923"/>
          </a:xfrm>
          <a:prstGeom prst="roundRect">
            <a:avLst>
              <a:gd name="adj" fmla="val 66685"/>
            </a:avLst>
          </a:prstGeom>
          <a:solidFill>
            <a:srgbClr val="46464A"/>
          </a:solidFill>
          <a:ln/>
        </p:spPr>
        <p:txBody>
          <a:bodyPr/>
          <a:lstStyle/>
          <a:p>
            <a:endParaRPr lang="es-ES"/>
          </a:p>
        </p:txBody>
      </p:sp>
      <p:sp>
        <p:nvSpPr>
          <p:cNvPr id="11" name="Text 8"/>
          <p:cNvSpPr/>
          <p:nvPr/>
        </p:nvSpPr>
        <p:spPr>
          <a:xfrm>
            <a:off x="7891939" y="6039088"/>
            <a:ext cx="2491859" cy="206812"/>
          </a:xfrm>
          <a:prstGeom prst="rect">
            <a:avLst/>
          </a:prstGeom>
          <a:noFill/>
          <a:ln/>
        </p:spPr>
        <p:txBody>
          <a:bodyPr wrap="none" lIns="0" tIns="0" rIns="0" bIns="0" rtlCol="0" anchor="t"/>
          <a:lstStyle/>
          <a:p>
            <a:pPr marL="0" indent="0" algn="l">
              <a:lnSpc>
                <a:spcPts val="1600"/>
              </a:lnSpc>
              <a:buNone/>
            </a:pPr>
            <a:r>
              <a:rPr lang="en-US" sz="1300" b="1" dirty="0">
                <a:solidFill>
                  <a:srgbClr val="D7D4CC"/>
                </a:solidFill>
                <a:latin typeface="Comfortaa Bold" pitchFamily="34" charset="0"/>
                <a:ea typeface="Comfortaa Bold" pitchFamily="34" charset="-122"/>
                <a:cs typeface="Comfortaa Bold" pitchFamily="34" charset="-120"/>
              </a:rPr>
              <a:t>RA4: Integrar contingut mul...</a:t>
            </a:r>
            <a:endParaRPr lang="en-US" sz="1300" dirty="0"/>
          </a:p>
        </p:txBody>
      </p:sp>
      <p:sp>
        <p:nvSpPr>
          <p:cNvPr id="12" name="Shape 9"/>
          <p:cNvSpPr/>
          <p:nvPr/>
        </p:nvSpPr>
        <p:spPr>
          <a:xfrm>
            <a:off x="801648" y="6620708"/>
            <a:ext cx="334923" cy="334923"/>
          </a:xfrm>
          <a:prstGeom prst="roundRect">
            <a:avLst>
              <a:gd name="adj" fmla="val 66685"/>
            </a:avLst>
          </a:prstGeom>
          <a:solidFill>
            <a:srgbClr val="46464A"/>
          </a:solidFill>
          <a:ln/>
        </p:spPr>
        <p:txBody>
          <a:bodyPr/>
          <a:lstStyle/>
          <a:p>
            <a:endParaRPr lang="es-ES"/>
          </a:p>
        </p:txBody>
      </p:sp>
      <p:sp>
        <p:nvSpPr>
          <p:cNvPr id="13" name="Text 10"/>
          <p:cNvSpPr/>
          <p:nvPr/>
        </p:nvSpPr>
        <p:spPr>
          <a:xfrm>
            <a:off x="1285399" y="6671786"/>
            <a:ext cx="2446377" cy="206812"/>
          </a:xfrm>
          <a:prstGeom prst="rect">
            <a:avLst/>
          </a:prstGeom>
          <a:noFill/>
          <a:ln/>
        </p:spPr>
        <p:txBody>
          <a:bodyPr wrap="none" lIns="0" tIns="0" rIns="0" bIns="0" rtlCol="0" anchor="t"/>
          <a:lstStyle/>
          <a:p>
            <a:pPr marL="0" indent="0" algn="l">
              <a:lnSpc>
                <a:spcPts val="1600"/>
              </a:lnSpc>
              <a:buNone/>
            </a:pPr>
            <a:r>
              <a:rPr lang="en-US" sz="1300" b="1" dirty="0">
                <a:solidFill>
                  <a:srgbClr val="D7D4CC"/>
                </a:solidFill>
                <a:latin typeface="Comfortaa Bold" pitchFamily="34" charset="0"/>
                <a:ea typeface="Comfortaa Bold" pitchFamily="34" charset="-122"/>
                <a:cs typeface="Comfortaa Bold" pitchFamily="34" charset="-120"/>
              </a:rPr>
              <a:t>RA5: Desenvolupar interfíci...</a:t>
            </a:r>
            <a:endParaRPr lang="en-US" sz="1300" dirty="0"/>
          </a:p>
        </p:txBody>
      </p:sp>
      <p:sp>
        <p:nvSpPr>
          <p:cNvPr id="14" name="Shape 11"/>
          <p:cNvSpPr/>
          <p:nvPr/>
        </p:nvSpPr>
        <p:spPr>
          <a:xfrm>
            <a:off x="7408188" y="6620708"/>
            <a:ext cx="334923" cy="334923"/>
          </a:xfrm>
          <a:prstGeom prst="roundRect">
            <a:avLst>
              <a:gd name="adj" fmla="val 66685"/>
            </a:avLst>
          </a:prstGeom>
          <a:solidFill>
            <a:srgbClr val="46464A"/>
          </a:solidFill>
          <a:ln/>
        </p:spPr>
        <p:txBody>
          <a:bodyPr/>
          <a:lstStyle/>
          <a:p>
            <a:endParaRPr lang="es-ES"/>
          </a:p>
        </p:txBody>
      </p:sp>
      <p:sp>
        <p:nvSpPr>
          <p:cNvPr id="15" name="Text 12"/>
          <p:cNvSpPr/>
          <p:nvPr/>
        </p:nvSpPr>
        <p:spPr>
          <a:xfrm>
            <a:off x="7891939" y="6671786"/>
            <a:ext cx="2438400" cy="206812"/>
          </a:xfrm>
          <a:prstGeom prst="rect">
            <a:avLst/>
          </a:prstGeom>
          <a:noFill/>
          <a:ln/>
        </p:spPr>
        <p:txBody>
          <a:bodyPr wrap="none" lIns="0" tIns="0" rIns="0" bIns="0" rtlCol="0" anchor="t"/>
          <a:lstStyle/>
          <a:p>
            <a:pPr marL="0" indent="0" algn="l">
              <a:lnSpc>
                <a:spcPts val="1600"/>
              </a:lnSpc>
              <a:buNone/>
            </a:pPr>
            <a:r>
              <a:rPr lang="en-US" sz="1300" b="1" dirty="0">
                <a:solidFill>
                  <a:srgbClr val="D7D4CC"/>
                </a:solidFill>
                <a:latin typeface="Comfortaa Bold" pitchFamily="34" charset="0"/>
                <a:ea typeface="Comfortaa Bold" pitchFamily="34" charset="-122"/>
                <a:cs typeface="Comfortaa Bold" pitchFamily="34" charset="-120"/>
              </a:rPr>
              <a:t>RA6: Desenvolupar interfíci...</a:t>
            </a:r>
            <a:endParaRPr lang="en-US" sz="1300" dirty="0"/>
          </a:p>
        </p:txBody>
      </p:sp>
      <p:sp>
        <p:nvSpPr>
          <p:cNvPr id="16" name="Text 13"/>
          <p:cNvSpPr/>
          <p:nvPr/>
        </p:nvSpPr>
        <p:spPr>
          <a:xfrm>
            <a:off x="801648" y="7123033"/>
            <a:ext cx="13027104" cy="476488"/>
          </a:xfrm>
          <a:prstGeom prst="rect">
            <a:avLst/>
          </a:prstGeom>
          <a:noFill/>
          <a:ln/>
        </p:spPr>
        <p:txBody>
          <a:bodyPr wrap="square" lIns="0" tIns="0" rIns="0" bIns="0" rtlCol="0" anchor="t"/>
          <a:lstStyle/>
          <a:p>
            <a:pPr marL="0" indent="0" algn="l">
              <a:lnSpc>
                <a:spcPts val="1850"/>
              </a:lnSpc>
              <a:buNone/>
            </a:pPr>
            <a:r>
              <a:rPr lang="en-US" sz="1150" dirty="0">
                <a:solidFill>
                  <a:srgbClr val="D7D4CC"/>
                </a:solidFill>
                <a:latin typeface="Raleway Medium" pitchFamily="34" charset="0"/>
                <a:ea typeface="Raleway Medium" pitchFamily="34" charset="-122"/>
                <a:cs typeface="Raleway Medium" pitchFamily="34" charset="-120"/>
              </a:rPr>
              <a:t>L'avaluació del mòdul es basa en sis Resultats d'Aprenentatge (RA) amb diferents pesos en la qualificació final. El mòdul es considerarà superat quan s'hagin assolit tots els RA. Cada bloc del projecte contribueix a l'avaluació de diferents RA, proporcionant múltiples oportunitats per demostrar les competències adquirides.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81063" y="748070"/>
            <a:ext cx="6584275" cy="664369"/>
          </a:xfrm>
          <a:prstGeom prst="rect">
            <a:avLst/>
          </a:prstGeom>
          <a:noFill/>
          <a:ln/>
        </p:spPr>
        <p:txBody>
          <a:bodyPr wrap="none" lIns="0" tIns="0" rIns="0" bIns="0" rtlCol="0" anchor="t"/>
          <a:lstStyle/>
          <a:p>
            <a:pPr marL="0" indent="0" algn="l">
              <a:lnSpc>
                <a:spcPts val="5200"/>
              </a:lnSpc>
              <a:buNone/>
            </a:pPr>
            <a:r>
              <a:rPr lang="en-US" sz="4150" b="1" dirty="0">
                <a:solidFill>
                  <a:srgbClr val="FFE14D"/>
                </a:solidFill>
                <a:latin typeface="Comfortaa Bold" pitchFamily="34" charset="0"/>
                <a:ea typeface="Comfortaa Bold" pitchFamily="34" charset="-122"/>
                <a:cs typeface="Comfortaa Bold" pitchFamily="34" charset="-120"/>
              </a:rPr>
              <a:t>Instruments d'avaluació</a:t>
            </a:r>
            <a:endParaRPr lang="en-US" sz="4150" dirty="0"/>
          </a:p>
        </p:txBody>
      </p:sp>
      <p:sp>
        <p:nvSpPr>
          <p:cNvPr id="3" name="Shape 1"/>
          <p:cNvSpPr/>
          <p:nvPr/>
        </p:nvSpPr>
        <p:spPr>
          <a:xfrm>
            <a:off x="881063" y="1890713"/>
            <a:ext cx="6314599" cy="2867144"/>
          </a:xfrm>
          <a:prstGeom prst="roundRect">
            <a:avLst>
              <a:gd name="adj" fmla="val 12513"/>
            </a:avLst>
          </a:prstGeom>
          <a:solidFill>
            <a:srgbClr val="46464A"/>
          </a:solidFill>
          <a:ln/>
        </p:spPr>
        <p:txBody>
          <a:bodyPr/>
          <a:lstStyle/>
          <a:p>
            <a:endParaRPr lang="es-ES"/>
          </a:p>
        </p:txBody>
      </p:sp>
      <p:sp>
        <p:nvSpPr>
          <p:cNvPr id="4" name="Text 2"/>
          <p:cNvSpPr/>
          <p:nvPr/>
        </p:nvSpPr>
        <p:spPr>
          <a:xfrm>
            <a:off x="1120140" y="2129790"/>
            <a:ext cx="2799517"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Entregues per blocs</a:t>
            </a:r>
            <a:endParaRPr lang="en-US" sz="2050" dirty="0"/>
          </a:p>
        </p:txBody>
      </p:sp>
      <p:sp>
        <p:nvSpPr>
          <p:cNvPr id="5" name="Text 3"/>
          <p:cNvSpPr/>
          <p:nvPr/>
        </p:nvSpPr>
        <p:spPr>
          <a:xfrm>
            <a:off x="1120140" y="2605445"/>
            <a:ext cx="5836444" cy="1913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Cada bloc temàtic finalitza amb una entrega que demostra els coneixements i habilitats adquirides en aquella fase. Aquestes entregues inclouen documentació, codi, i justificació de les decisions preses.</a:t>
            </a:r>
            <a:endParaRPr lang="en-US" sz="1850" dirty="0"/>
          </a:p>
        </p:txBody>
      </p:sp>
      <p:sp>
        <p:nvSpPr>
          <p:cNvPr id="6" name="Shape 4"/>
          <p:cNvSpPr/>
          <p:nvPr/>
        </p:nvSpPr>
        <p:spPr>
          <a:xfrm>
            <a:off x="7434739" y="1890713"/>
            <a:ext cx="6314599" cy="2867144"/>
          </a:xfrm>
          <a:prstGeom prst="roundRect">
            <a:avLst>
              <a:gd name="adj" fmla="val 12513"/>
            </a:avLst>
          </a:prstGeom>
          <a:solidFill>
            <a:srgbClr val="46464A"/>
          </a:solidFill>
          <a:ln/>
        </p:spPr>
        <p:txBody>
          <a:bodyPr/>
          <a:lstStyle/>
          <a:p>
            <a:endParaRPr lang="es-ES"/>
          </a:p>
        </p:txBody>
      </p:sp>
      <p:sp>
        <p:nvSpPr>
          <p:cNvPr id="7" name="Text 5"/>
          <p:cNvSpPr/>
          <p:nvPr/>
        </p:nvSpPr>
        <p:spPr>
          <a:xfrm>
            <a:off x="7673816" y="2129790"/>
            <a:ext cx="4078486"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Desenvolupament progressiu</a:t>
            </a:r>
            <a:endParaRPr lang="en-US" sz="2050" dirty="0"/>
          </a:p>
        </p:txBody>
      </p:sp>
      <p:sp>
        <p:nvSpPr>
          <p:cNvPr id="8" name="Text 6"/>
          <p:cNvSpPr/>
          <p:nvPr/>
        </p:nvSpPr>
        <p:spPr>
          <a:xfrm>
            <a:off x="7673816" y="2605445"/>
            <a:ext cx="5836444" cy="1530668"/>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Es valora l'evolució del projecte al llarg del curs, tenint en compte la participació a classe, la realització d'exercicis i pràctiques, i el progrés en el desenvolupament del front-end.</a:t>
            </a:r>
            <a:endParaRPr lang="en-US" sz="1850" dirty="0"/>
          </a:p>
        </p:txBody>
      </p:sp>
      <p:sp>
        <p:nvSpPr>
          <p:cNvPr id="9" name="Shape 7"/>
          <p:cNvSpPr/>
          <p:nvPr/>
        </p:nvSpPr>
        <p:spPr>
          <a:xfrm>
            <a:off x="881063" y="4996934"/>
            <a:ext cx="6314599" cy="2484477"/>
          </a:xfrm>
          <a:prstGeom prst="roundRect">
            <a:avLst>
              <a:gd name="adj" fmla="val 14440"/>
            </a:avLst>
          </a:prstGeom>
          <a:solidFill>
            <a:srgbClr val="46464A"/>
          </a:solidFill>
          <a:ln/>
        </p:spPr>
        <p:txBody>
          <a:bodyPr/>
          <a:lstStyle/>
          <a:p>
            <a:endParaRPr lang="es-ES"/>
          </a:p>
        </p:txBody>
      </p:sp>
      <p:sp>
        <p:nvSpPr>
          <p:cNvPr id="10" name="Text 8"/>
          <p:cNvSpPr/>
          <p:nvPr/>
        </p:nvSpPr>
        <p:spPr>
          <a:xfrm>
            <a:off x="1120140" y="5236012"/>
            <a:ext cx="2657475"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Qualitat del codi</a:t>
            </a:r>
            <a:endParaRPr lang="en-US" sz="2050" dirty="0"/>
          </a:p>
        </p:txBody>
      </p:sp>
      <p:sp>
        <p:nvSpPr>
          <p:cNvPr id="11" name="Text 9"/>
          <p:cNvSpPr/>
          <p:nvPr/>
        </p:nvSpPr>
        <p:spPr>
          <a:xfrm>
            <a:off x="1120140" y="5711666"/>
            <a:ext cx="5836444" cy="1530668"/>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S'avalua la qualitat, funcionalitat, usabilitat i accessibilitat del front-end desenvolupat, així com la correcta documentació del codi i l'aplicació de bones pràctiques.</a:t>
            </a:r>
            <a:endParaRPr lang="en-US" sz="1850" dirty="0"/>
          </a:p>
        </p:txBody>
      </p:sp>
      <p:sp>
        <p:nvSpPr>
          <p:cNvPr id="12" name="Shape 10"/>
          <p:cNvSpPr/>
          <p:nvPr/>
        </p:nvSpPr>
        <p:spPr>
          <a:xfrm>
            <a:off x="7434739" y="4996934"/>
            <a:ext cx="6314599" cy="2484477"/>
          </a:xfrm>
          <a:prstGeom prst="roundRect">
            <a:avLst>
              <a:gd name="adj" fmla="val 14440"/>
            </a:avLst>
          </a:prstGeom>
          <a:solidFill>
            <a:srgbClr val="46464A"/>
          </a:solidFill>
          <a:ln/>
        </p:spPr>
        <p:txBody>
          <a:bodyPr/>
          <a:lstStyle/>
          <a:p>
            <a:endParaRPr lang="es-ES"/>
          </a:p>
        </p:txBody>
      </p:sp>
      <p:sp>
        <p:nvSpPr>
          <p:cNvPr id="13" name="Text 11"/>
          <p:cNvSpPr/>
          <p:nvPr/>
        </p:nvSpPr>
        <p:spPr>
          <a:xfrm>
            <a:off x="7673816" y="5236012"/>
            <a:ext cx="2657475"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Presentació final</a:t>
            </a:r>
            <a:endParaRPr lang="en-US" sz="2050" dirty="0"/>
          </a:p>
        </p:txBody>
      </p:sp>
      <p:sp>
        <p:nvSpPr>
          <p:cNvPr id="14" name="Text 12"/>
          <p:cNvSpPr/>
          <p:nvPr/>
        </p:nvSpPr>
        <p:spPr>
          <a:xfrm>
            <a:off x="7673816" y="5711666"/>
            <a:ext cx="5836444" cy="1530668"/>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La defensa del projecte permet avaluar la capacitat de comunicació i la comprensió global dels conceptes aplicats en el desenvolupament de la interfície web.</a:t>
            </a:r>
            <a:endParaRPr lang="en-US" sz="1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73750" y="761286"/>
            <a:ext cx="2142768" cy="244316"/>
          </a:xfrm>
          <a:prstGeom prst="rect">
            <a:avLst/>
          </a:prstGeom>
          <a:noFill/>
          <a:ln/>
        </p:spPr>
        <p:txBody>
          <a:bodyPr wrap="none" lIns="0" tIns="0" rIns="0" bIns="0" rtlCol="0" anchor="t"/>
          <a:lstStyle/>
          <a:p>
            <a:pPr marL="0" indent="0" algn="l">
              <a:lnSpc>
                <a:spcPts val="1900"/>
              </a:lnSpc>
              <a:buNone/>
            </a:pPr>
            <a:r>
              <a:rPr lang="en-US" sz="1500" b="1" dirty="0">
                <a:solidFill>
                  <a:srgbClr val="FFE14D"/>
                </a:solidFill>
                <a:latin typeface="Comfortaa Bold" pitchFamily="34" charset="0"/>
                <a:ea typeface="Comfortaa Bold" pitchFamily="34" charset="-122"/>
                <a:cs typeface="Comfortaa Bold" pitchFamily="34" charset="-120"/>
              </a:rPr>
              <a:t>Activitats d'Avaluació</a:t>
            </a:r>
            <a:endParaRPr lang="en-US" sz="1500" dirty="0"/>
          </a:p>
        </p:txBody>
      </p:sp>
      <p:sp>
        <p:nvSpPr>
          <p:cNvPr id="3" name="Text 1"/>
          <p:cNvSpPr/>
          <p:nvPr/>
        </p:nvSpPr>
        <p:spPr>
          <a:xfrm>
            <a:off x="473750" y="1181576"/>
            <a:ext cx="13682901"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Detall de les activitats d'avaluació del projecte de Gestió de Reserves del Poliesportiu, amb la seva relació amb els continguts, criteris d'avaluació (CA) i resultats d'aprenentatge (RA).</a:t>
            </a:r>
            <a:endParaRPr lang="en-US" sz="650" dirty="0"/>
          </a:p>
        </p:txBody>
      </p:sp>
      <p:sp>
        <p:nvSpPr>
          <p:cNvPr id="4" name="Shape 2"/>
          <p:cNvSpPr/>
          <p:nvPr/>
        </p:nvSpPr>
        <p:spPr>
          <a:xfrm>
            <a:off x="473750" y="1421249"/>
            <a:ext cx="13682901" cy="5807393"/>
          </a:xfrm>
          <a:prstGeom prst="roundRect">
            <a:avLst>
              <a:gd name="adj" fmla="val 2273"/>
            </a:avLst>
          </a:prstGeom>
          <a:noFill/>
          <a:ln w="7620">
            <a:solidFill>
              <a:srgbClr val="FFFFFF">
                <a:alpha val="24000"/>
              </a:srgbClr>
            </a:solidFill>
            <a:prstDash val="solid"/>
          </a:ln>
        </p:spPr>
        <p:txBody>
          <a:bodyPr/>
          <a:lstStyle/>
          <a:p>
            <a:endParaRPr lang="es-ES"/>
          </a:p>
        </p:txBody>
      </p:sp>
      <p:sp>
        <p:nvSpPr>
          <p:cNvPr id="5" name="Shape 3"/>
          <p:cNvSpPr/>
          <p:nvPr/>
        </p:nvSpPr>
        <p:spPr>
          <a:xfrm>
            <a:off x="481370" y="1428869"/>
            <a:ext cx="13670280" cy="261461"/>
          </a:xfrm>
          <a:prstGeom prst="rect">
            <a:avLst/>
          </a:prstGeom>
          <a:solidFill>
            <a:srgbClr val="FFFFFF">
              <a:alpha val="4000"/>
            </a:srgbClr>
          </a:solidFill>
          <a:ln/>
        </p:spPr>
        <p:txBody>
          <a:bodyPr/>
          <a:lstStyle/>
          <a:p>
            <a:endParaRPr lang="es-ES"/>
          </a:p>
        </p:txBody>
      </p:sp>
      <p:sp>
        <p:nvSpPr>
          <p:cNvPr id="6" name="Text 4"/>
          <p:cNvSpPr/>
          <p:nvPr/>
        </p:nvSpPr>
        <p:spPr>
          <a:xfrm>
            <a:off x="569357" y="1489234"/>
            <a:ext cx="209859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Activitat</a:t>
            </a:r>
            <a:endParaRPr lang="en-US" sz="650" dirty="0"/>
          </a:p>
        </p:txBody>
      </p:sp>
      <p:sp>
        <p:nvSpPr>
          <p:cNvPr id="7" name="Text 5"/>
          <p:cNvSpPr/>
          <p:nvPr/>
        </p:nvSpPr>
        <p:spPr>
          <a:xfrm>
            <a:off x="2851547" y="1489234"/>
            <a:ext cx="209478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Hores</a:t>
            </a:r>
            <a:endParaRPr lang="en-US" sz="650" dirty="0"/>
          </a:p>
        </p:txBody>
      </p:sp>
      <p:sp>
        <p:nvSpPr>
          <p:cNvPr id="8" name="Text 6"/>
          <p:cNvSpPr/>
          <p:nvPr/>
        </p:nvSpPr>
        <p:spPr>
          <a:xfrm>
            <a:off x="5129927" y="1489234"/>
            <a:ext cx="209478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Continguts</a:t>
            </a:r>
            <a:endParaRPr lang="en-US" sz="650" dirty="0"/>
          </a:p>
        </p:txBody>
      </p:sp>
      <p:sp>
        <p:nvSpPr>
          <p:cNvPr id="9" name="Text 7"/>
          <p:cNvSpPr/>
          <p:nvPr/>
        </p:nvSpPr>
        <p:spPr>
          <a:xfrm>
            <a:off x="7408307" y="1489234"/>
            <a:ext cx="209478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CA</a:t>
            </a:r>
            <a:endParaRPr lang="en-US" sz="650" dirty="0"/>
          </a:p>
        </p:txBody>
      </p:sp>
      <p:sp>
        <p:nvSpPr>
          <p:cNvPr id="10" name="Text 8"/>
          <p:cNvSpPr/>
          <p:nvPr/>
        </p:nvSpPr>
        <p:spPr>
          <a:xfrm>
            <a:off x="9686687" y="1489234"/>
            <a:ext cx="209478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RA</a:t>
            </a:r>
            <a:endParaRPr lang="en-US" sz="650" dirty="0"/>
          </a:p>
        </p:txBody>
      </p:sp>
      <p:sp>
        <p:nvSpPr>
          <p:cNvPr id="11" name="Text 9"/>
          <p:cNvSpPr/>
          <p:nvPr/>
        </p:nvSpPr>
        <p:spPr>
          <a:xfrm>
            <a:off x="11965067" y="1489234"/>
            <a:ext cx="209859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Ins AV</a:t>
            </a:r>
            <a:endParaRPr lang="en-US" sz="650" dirty="0"/>
          </a:p>
        </p:txBody>
      </p:sp>
      <p:sp>
        <p:nvSpPr>
          <p:cNvPr id="12" name="Shape 10"/>
          <p:cNvSpPr/>
          <p:nvPr/>
        </p:nvSpPr>
        <p:spPr>
          <a:xfrm>
            <a:off x="481370" y="1690330"/>
            <a:ext cx="13670280" cy="402193"/>
          </a:xfrm>
          <a:prstGeom prst="rect">
            <a:avLst/>
          </a:prstGeom>
          <a:solidFill>
            <a:srgbClr val="000000">
              <a:alpha val="4000"/>
            </a:srgbClr>
          </a:solidFill>
          <a:ln/>
        </p:spPr>
        <p:txBody>
          <a:bodyPr/>
          <a:lstStyle/>
          <a:p>
            <a:endParaRPr lang="es-ES"/>
          </a:p>
        </p:txBody>
      </p:sp>
      <p:sp>
        <p:nvSpPr>
          <p:cNvPr id="13" name="Text 11"/>
          <p:cNvSpPr/>
          <p:nvPr/>
        </p:nvSpPr>
        <p:spPr>
          <a:xfrm>
            <a:off x="569357" y="1750695"/>
            <a:ext cx="2098596" cy="281464"/>
          </a:xfrm>
          <a:prstGeom prst="rect">
            <a:avLst/>
          </a:prstGeom>
          <a:noFill/>
          <a:ln/>
        </p:spPr>
        <p:txBody>
          <a:bodyPr wrap="squar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Identificació del públic objectiu i primers perfils d'usuari</a:t>
            </a:r>
            <a:endParaRPr lang="en-US" sz="650" dirty="0"/>
          </a:p>
        </p:txBody>
      </p:sp>
      <p:sp>
        <p:nvSpPr>
          <p:cNvPr id="14" name="Text 12"/>
          <p:cNvSpPr/>
          <p:nvPr/>
        </p:nvSpPr>
        <p:spPr>
          <a:xfrm>
            <a:off x="2851547" y="175069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5" name="Text 13"/>
          <p:cNvSpPr/>
          <p:nvPr/>
        </p:nvSpPr>
        <p:spPr>
          <a:xfrm>
            <a:off x="5129927" y="175069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8</a:t>
            </a:r>
            <a:endParaRPr lang="en-US" sz="650" dirty="0"/>
          </a:p>
        </p:txBody>
      </p:sp>
      <p:sp>
        <p:nvSpPr>
          <p:cNvPr id="16" name="Text 14"/>
          <p:cNvSpPr/>
          <p:nvPr/>
        </p:nvSpPr>
        <p:spPr>
          <a:xfrm>
            <a:off x="7408307" y="175069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6.3</a:t>
            </a:r>
            <a:endParaRPr lang="en-US" sz="650" dirty="0"/>
          </a:p>
        </p:txBody>
      </p:sp>
      <p:sp>
        <p:nvSpPr>
          <p:cNvPr id="17" name="Text 15"/>
          <p:cNvSpPr/>
          <p:nvPr/>
        </p:nvSpPr>
        <p:spPr>
          <a:xfrm>
            <a:off x="9686687" y="175069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a:t>
            </a:r>
            <a:endParaRPr lang="en-US" sz="650" dirty="0"/>
          </a:p>
        </p:txBody>
      </p:sp>
      <p:sp>
        <p:nvSpPr>
          <p:cNvPr id="18" name="Text 16"/>
          <p:cNvSpPr/>
          <p:nvPr/>
        </p:nvSpPr>
        <p:spPr>
          <a:xfrm>
            <a:off x="11965067" y="1750695"/>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1</a:t>
            </a:r>
            <a:endParaRPr lang="en-US" sz="650" dirty="0"/>
          </a:p>
        </p:txBody>
      </p:sp>
      <p:sp>
        <p:nvSpPr>
          <p:cNvPr id="19" name="Shape 17"/>
          <p:cNvSpPr/>
          <p:nvPr/>
        </p:nvSpPr>
        <p:spPr>
          <a:xfrm>
            <a:off x="481370" y="2092523"/>
            <a:ext cx="13670280" cy="402193"/>
          </a:xfrm>
          <a:prstGeom prst="rect">
            <a:avLst/>
          </a:prstGeom>
          <a:solidFill>
            <a:srgbClr val="FFFFFF">
              <a:alpha val="4000"/>
            </a:srgbClr>
          </a:solidFill>
          <a:ln/>
        </p:spPr>
        <p:txBody>
          <a:bodyPr/>
          <a:lstStyle/>
          <a:p>
            <a:endParaRPr lang="es-ES"/>
          </a:p>
        </p:txBody>
      </p:sp>
      <p:sp>
        <p:nvSpPr>
          <p:cNvPr id="20" name="Text 18"/>
          <p:cNvSpPr/>
          <p:nvPr/>
        </p:nvSpPr>
        <p:spPr>
          <a:xfrm>
            <a:off x="569357" y="2152888"/>
            <a:ext cx="2098596" cy="281464"/>
          </a:xfrm>
          <a:prstGeom prst="rect">
            <a:avLst/>
          </a:prstGeom>
          <a:noFill/>
          <a:ln/>
        </p:spPr>
        <p:txBody>
          <a:bodyPr wrap="squar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2. Anàlisi d'aplicacions similars (detecció de patrons)</a:t>
            </a:r>
            <a:endParaRPr lang="en-US" sz="650" dirty="0"/>
          </a:p>
        </p:txBody>
      </p:sp>
      <p:sp>
        <p:nvSpPr>
          <p:cNvPr id="21" name="Text 19"/>
          <p:cNvSpPr/>
          <p:nvPr/>
        </p:nvSpPr>
        <p:spPr>
          <a:xfrm>
            <a:off x="2851547" y="215288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22" name="Text 20"/>
          <p:cNvSpPr/>
          <p:nvPr/>
        </p:nvSpPr>
        <p:spPr>
          <a:xfrm>
            <a:off x="5129927" y="215288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8</a:t>
            </a:r>
            <a:endParaRPr lang="en-US" sz="650" dirty="0"/>
          </a:p>
        </p:txBody>
      </p:sp>
      <p:sp>
        <p:nvSpPr>
          <p:cNvPr id="23" name="Text 21"/>
          <p:cNvSpPr/>
          <p:nvPr/>
        </p:nvSpPr>
        <p:spPr>
          <a:xfrm>
            <a:off x="7408307" y="215288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1.3; 1.5; 1.7; 6.1</a:t>
            </a:r>
            <a:endParaRPr lang="en-US" sz="650" dirty="0"/>
          </a:p>
        </p:txBody>
      </p:sp>
      <p:sp>
        <p:nvSpPr>
          <p:cNvPr id="24" name="Text 22"/>
          <p:cNvSpPr/>
          <p:nvPr/>
        </p:nvSpPr>
        <p:spPr>
          <a:xfrm>
            <a:off x="9686687" y="215288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6</a:t>
            </a:r>
            <a:endParaRPr lang="en-US" sz="650" dirty="0"/>
          </a:p>
        </p:txBody>
      </p:sp>
      <p:sp>
        <p:nvSpPr>
          <p:cNvPr id="25" name="Text 23"/>
          <p:cNvSpPr/>
          <p:nvPr/>
        </p:nvSpPr>
        <p:spPr>
          <a:xfrm>
            <a:off x="11965067" y="2152888"/>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1</a:t>
            </a:r>
            <a:endParaRPr lang="en-US" sz="650" dirty="0"/>
          </a:p>
        </p:txBody>
      </p:sp>
      <p:sp>
        <p:nvSpPr>
          <p:cNvPr id="26" name="Shape 24"/>
          <p:cNvSpPr/>
          <p:nvPr/>
        </p:nvSpPr>
        <p:spPr>
          <a:xfrm>
            <a:off x="481370" y="2494717"/>
            <a:ext cx="13670280" cy="261461"/>
          </a:xfrm>
          <a:prstGeom prst="rect">
            <a:avLst/>
          </a:prstGeom>
          <a:solidFill>
            <a:srgbClr val="000000">
              <a:alpha val="4000"/>
            </a:srgbClr>
          </a:solidFill>
          <a:ln/>
        </p:spPr>
        <p:txBody>
          <a:bodyPr/>
          <a:lstStyle/>
          <a:p>
            <a:endParaRPr lang="es-ES"/>
          </a:p>
        </p:txBody>
      </p:sp>
      <p:sp>
        <p:nvSpPr>
          <p:cNvPr id="27" name="Text 25"/>
          <p:cNvSpPr/>
          <p:nvPr/>
        </p:nvSpPr>
        <p:spPr>
          <a:xfrm>
            <a:off x="569357" y="2555081"/>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 Elements i principis clau del disseny d'interfícies</a:t>
            </a:r>
            <a:endParaRPr lang="en-US" sz="650" dirty="0"/>
          </a:p>
        </p:txBody>
      </p:sp>
      <p:sp>
        <p:nvSpPr>
          <p:cNvPr id="28" name="Text 26"/>
          <p:cNvSpPr/>
          <p:nvPr/>
        </p:nvSpPr>
        <p:spPr>
          <a:xfrm>
            <a:off x="2851547" y="255508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29" name="Text 27"/>
          <p:cNvSpPr/>
          <p:nvPr/>
        </p:nvSpPr>
        <p:spPr>
          <a:xfrm>
            <a:off x="5129927" y="255508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7; 8</a:t>
            </a:r>
            <a:endParaRPr lang="en-US" sz="650" dirty="0"/>
          </a:p>
        </p:txBody>
      </p:sp>
      <p:sp>
        <p:nvSpPr>
          <p:cNvPr id="30" name="Text 28"/>
          <p:cNvSpPr/>
          <p:nvPr/>
        </p:nvSpPr>
        <p:spPr>
          <a:xfrm>
            <a:off x="7408307" y="255508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1.1; 1.2; 5.1; 6.1</a:t>
            </a:r>
            <a:endParaRPr lang="en-US" sz="650" dirty="0"/>
          </a:p>
        </p:txBody>
      </p:sp>
      <p:sp>
        <p:nvSpPr>
          <p:cNvPr id="31" name="Text 29"/>
          <p:cNvSpPr/>
          <p:nvPr/>
        </p:nvSpPr>
        <p:spPr>
          <a:xfrm>
            <a:off x="9686687" y="255508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5; 6</a:t>
            </a:r>
            <a:endParaRPr lang="en-US" sz="650" dirty="0"/>
          </a:p>
        </p:txBody>
      </p:sp>
      <p:sp>
        <p:nvSpPr>
          <p:cNvPr id="32" name="Text 30"/>
          <p:cNvSpPr/>
          <p:nvPr/>
        </p:nvSpPr>
        <p:spPr>
          <a:xfrm>
            <a:off x="11965067" y="2555081"/>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1</a:t>
            </a:r>
            <a:endParaRPr lang="en-US" sz="650" dirty="0"/>
          </a:p>
        </p:txBody>
      </p:sp>
      <p:sp>
        <p:nvSpPr>
          <p:cNvPr id="33" name="Shape 31"/>
          <p:cNvSpPr/>
          <p:nvPr/>
        </p:nvSpPr>
        <p:spPr>
          <a:xfrm>
            <a:off x="481370" y="2756178"/>
            <a:ext cx="13670280" cy="402193"/>
          </a:xfrm>
          <a:prstGeom prst="rect">
            <a:avLst/>
          </a:prstGeom>
          <a:solidFill>
            <a:srgbClr val="FFFFFF">
              <a:alpha val="4000"/>
            </a:srgbClr>
          </a:solidFill>
          <a:ln/>
        </p:spPr>
        <p:txBody>
          <a:bodyPr/>
          <a:lstStyle/>
          <a:p>
            <a:endParaRPr lang="es-ES"/>
          </a:p>
        </p:txBody>
      </p:sp>
      <p:sp>
        <p:nvSpPr>
          <p:cNvPr id="34" name="Text 32"/>
          <p:cNvSpPr/>
          <p:nvPr/>
        </p:nvSpPr>
        <p:spPr>
          <a:xfrm>
            <a:off x="569357" y="2816543"/>
            <a:ext cx="2098596" cy="281464"/>
          </a:xfrm>
          <a:prstGeom prst="rect">
            <a:avLst/>
          </a:prstGeom>
          <a:noFill/>
          <a:ln/>
        </p:spPr>
        <p:txBody>
          <a:bodyPr wrap="squar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4. Definició del logotip, anàlisi i selecció paleta de colors</a:t>
            </a:r>
            <a:endParaRPr lang="en-US" sz="650" dirty="0"/>
          </a:p>
        </p:txBody>
      </p:sp>
      <p:sp>
        <p:nvSpPr>
          <p:cNvPr id="35" name="Text 33"/>
          <p:cNvSpPr/>
          <p:nvPr/>
        </p:nvSpPr>
        <p:spPr>
          <a:xfrm>
            <a:off x="2851547" y="281654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36" name="Text 34"/>
          <p:cNvSpPr/>
          <p:nvPr/>
        </p:nvSpPr>
        <p:spPr>
          <a:xfrm>
            <a:off x="5129927" y="281654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a:t>
            </a:r>
            <a:endParaRPr lang="en-US" sz="650" dirty="0"/>
          </a:p>
        </p:txBody>
      </p:sp>
      <p:sp>
        <p:nvSpPr>
          <p:cNvPr id="37" name="Text 35"/>
          <p:cNvSpPr/>
          <p:nvPr/>
        </p:nvSpPr>
        <p:spPr>
          <a:xfrm>
            <a:off x="7408307" y="281654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1.1; 1.2; 1.4</a:t>
            </a:r>
            <a:endParaRPr lang="en-US" sz="650" dirty="0"/>
          </a:p>
        </p:txBody>
      </p:sp>
      <p:sp>
        <p:nvSpPr>
          <p:cNvPr id="38" name="Text 36"/>
          <p:cNvSpPr/>
          <p:nvPr/>
        </p:nvSpPr>
        <p:spPr>
          <a:xfrm>
            <a:off x="9686687" y="281654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a:t>
            </a:r>
            <a:endParaRPr lang="en-US" sz="650" dirty="0"/>
          </a:p>
        </p:txBody>
      </p:sp>
      <p:sp>
        <p:nvSpPr>
          <p:cNvPr id="39" name="Text 37"/>
          <p:cNvSpPr/>
          <p:nvPr/>
        </p:nvSpPr>
        <p:spPr>
          <a:xfrm>
            <a:off x="11965067" y="2816543"/>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2</a:t>
            </a:r>
            <a:endParaRPr lang="en-US" sz="650" dirty="0"/>
          </a:p>
        </p:txBody>
      </p:sp>
      <p:sp>
        <p:nvSpPr>
          <p:cNvPr id="40" name="Shape 38"/>
          <p:cNvSpPr/>
          <p:nvPr/>
        </p:nvSpPr>
        <p:spPr>
          <a:xfrm>
            <a:off x="481370" y="3158371"/>
            <a:ext cx="13670280" cy="402193"/>
          </a:xfrm>
          <a:prstGeom prst="rect">
            <a:avLst/>
          </a:prstGeom>
          <a:solidFill>
            <a:srgbClr val="000000">
              <a:alpha val="4000"/>
            </a:srgbClr>
          </a:solidFill>
          <a:ln/>
        </p:spPr>
        <p:txBody>
          <a:bodyPr/>
          <a:lstStyle/>
          <a:p>
            <a:endParaRPr lang="es-ES"/>
          </a:p>
        </p:txBody>
      </p:sp>
      <p:sp>
        <p:nvSpPr>
          <p:cNvPr id="41" name="Text 39"/>
          <p:cNvSpPr/>
          <p:nvPr/>
        </p:nvSpPr>
        <p:spPr>
          <a:xfrm>
            <a:off x="569357" y="3218736"/>
            <a:ext cx="2098596" cy="281464"/>
          </a:xfrm>
          <a:prstGeom prst="rect">
            <a:avLst/>
          </a:prstGeom>
          <a:noFill/>
          <a:ln/>
        </p:spPr>
        <p:txBody>
          <a:bodyPr wrap="squar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5. Seleccionar tipografia, definir jerarquia tipogràfica</a:t>
            </a:r>
            <a:endParaRPr lang="en-US" sz="650" dirty="0"/>
          </a:p>
        </p:txBody>
      </p:sp>
      <p:sp>
        <p:nvSpPr>
          <p:cNvPr id="42" name="Text 40"/>
          <p:cNvSpPr/>
          <p:nvPr/>
        </p:nvSpPr>
        <p:spPr>
          <a:xfrm>
            <a:off x="2851547" y="321873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43" name="Text 41"/>
          <p:cNvSpPr/>
          <p:nvPr/>
        </p:nvSpPr>
        <p:spPr>
          <a:xfrm>
            <a:off x="5129927" y="321873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a:t>
            </a:r>
            <a:endParaRPr lang="en-US" sz="650" dirty="0"/>
          </a:p>
        </p:txBody>
      </p:sp>
      <p:sp>
        <p:nvSpPr>
          <p:cNvPr id="44" name="Text 42"/>
          <p:cNvSpPr/>
          <p:nvPr/>
        </p:nvSpPr>
        <p:spPr>
          <a:xfrm>
            <a:off x="7408307" y="321873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1.1; 1.2; 1.4; 3.8</a:t>
            </a:r>
            <a:endParaRPr lang="en-US" sz="650" dirty="0"/>
          </a:p>
        </p:txBody>
      </p:sp>
      <p:sp>
        <p:nvSpPr>
          <p:cNvPr id="45" name="Text 43"/>
          <p:cNvSpPr/>
          <p:nvPr/>
        </p:nvSpPr>
        <p:spPr>
          <a:xfrm>
            <a:off x="9686687" y="321873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a:t>
            </a:r>
            <a:endParaRPr lang="en-US" sz="650" dirty="0"/>
          </a:p>
        </p:txBody>
      </p:sp>
      <p:sp>
        <p:nvSpPr>
          <p:cNvPr id="46" name="Text 44"/>
          <p:cNvSpPr/>
          <p:nvPr/>
        </p:nvSpPr>
        <p:spPr>
          <a:xfrm>
            <a:off x="11965067" y="3218736"/>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2</a:t>
            </a:r>
            <a:endParaRPr lang="en-US" sz="650" dirty="0"/>
          </a:p>
        </p:txBody>
      </p:sp>
      <p:sp>
        <p:nvSpPr>
          <p:cNvPr id="47" name="Shape 45"/>
          <p:cNvSpPr/>
          <p:nvPr/>
        </p:nvSpPr>
        <p:spPr>
          <a:xfrm>
            <a:off x="481370" y="3560564"/>
            <a:ext cx="13670280" cy="261461"/>
          </a:xfrm>
          <a:prstGeom prst="rect">
            <a:avLst/>
          </a:prstGeom>
          <a:solidFill>
            <a:srgbClr val="FFFFFF">
              <a:alpha val="4000"/>
            </a:srgbClr>
          </a:solidFill>
          <a:ln/>
        </p:spPr>
        <p:txBody>
          <a:bodyPr/>
          <a:lstStyle/>
          <a:p>
            <a:endParaRPr lang="es-ES"/>
          </a:p>
        </p:txBody>
      </p:sp>
      <p:sp>
        <p:nvSpPr>
          <p:cNvPr id="48" name="Text 46"/>
          <p:cNvSpPr/>
          <p:nvPr/>
        </p:nvSpPr>
        <p:spPr>
          <a:xfrm>
            <a:off x="569357" y="3620929"/>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 Usabilitat i experiència d'usuari (UI/UX)</a:t>
            </a:r>
            <a:endParaRPr lang="en-US" sz="650" dirty="0"/>
          </a:p>
        </p:txBody>
      </p:sp>
      <p:sp>
        <p:nvSpPr>
          <p:cNvPr id="49" name="Text 47"/>
          <p:cNvSpPr/>
          <p:nvPr/>
        </p:nvSpPr>
        <p:spPr>
          <a:xfrm>
            <a:off x="2851547" y="362092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50" name="Text 48"/>
          <p:cNvSpPr/>
          <p:nvPr/>
        </p:nvSpPr>
        <p:spPr>
          <a:xfrm>
            <a:off x="5129927" y="362092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8</a:t>
            </a:r>
            <a:endParaRPr lang="en-US" sz="650" dirty="0"/>
          </a:p>
        </p:txBody>
      </p:sp>
      <p:sp>
        <p:nvSpPr>
          <p:cNvPr id="51" name="Text 49"/>
          <p:cNvSpPr/>
          <p:nvPr/>
        </p:nvSpPr>
        <p:spPr>
          <a:xfrm>
            <a:off x="7408307" y="362092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6.1; 6.2; 6.3; 6.5</a:t>
            </a:r>
            <a:endParaRPr lang="en-US" sz="650" dirty="0"/>
          </a:p>
        </p:txBody>
      </p:sp>
      <p:sp>
        <p:nvSpPr>
          <p:cNvPr id="52" name="Text 50"/>
          <p:cNvSpPr/>
          <p:nvPr/>
        </p:nvSpPr>
        <p:spPr>
          <a:xfrm>
            <a:off x="9686687" y="362092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a:t>
            </a:r>
            <a:endParaRPr lang="en-US" sz="650" dirty="0"/>
          </a:p>
        </p:txBody>
      </p:sp>
      <p:sp>
        <p:nvSpPr>
          <p:cNvPr id="53" name="Text 51"/>
          <p:cNvSpPr/>
          <p:nvPr/>
        </p:nvSpPr>
        <p:spPr>
          <a:xfrm>
            <a:off x="11965067" y="3620929"/>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2</a:t>
            </a:r>
            <a:endParaRPr lang="en-US" sz="650" dirty="0"/>
          </a:p>
        </p:txBody>
      </p:sp>
      <p:sp>
        <p:nvSpPr>
          <p:cNvPr id="54" name="Shape 52"/>
          <p:cNvSpPr/>
          <p:nvPr/>
        </p:nvSpPr>
        <p:spPr>
          <a:xfrm>
            <a:off x="481370" y="3822025"/>
            <a:ext cx="13670280" cy="261461"/>
          </a:xfrm>
          <a:prstGeom prst="rect">
            <a:avLst/>
          </a:prstGeom>
          <a:solidFill>
            <a:srgbClr val="000000">
              <a:alpha val="4000"/>
            </a:srgbClr>
          </a:solidFill>
          <a:ln/>
        </p:spPr>
        <p:txBody>
          <a:bodyPr/>
          <a:lstStyle/>
          <a:p>
            <a:endParaRPr lang="es-ES"/>
          </a:p>
        </p:txBody>
      </p:sp>
      <p:sp>
        <p:nvSpPr>
          <p:cNvPr id="55" name="Text 53"/>
          <p:cNvSpPr/>
          <p:nvPr/>
        </p:nvSpPr>
        <p:spPr>
          <a:xfrm>
            <a:off x="569357" y="3882390"/>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7. Prototipatge</a:t>
            </a:r>
            <a:endParaRPr lang="en-US" sz="650" dirty="0"/>
          </a:p>
        </p:txBody>
      </p:sp>
      <p:sp>
        <p:nvSpPr>
          <p:cNvPr id="56" name="Text 54"/>
          <p:cNvSpPr/>
          <p:nvPr/>
        </p:nvSpPr>
        <p:spPr>
          <a:xfrm>
            <a:off x="2851547" y="388239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57" name="Text 55"/>
          <p:cNvSpPr/>
          <p:nvPr/>
        </p:nvSpPr>
        <p:spPr>
          <a:xfrm>
            <a:off x="5129927" y="388239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a:t>
            </a:r>
            <a:endParaRPr lang="en-US" sz="650" dirty="0"/>
          </a:p>
        </p:txBody>
      </p:sp>
      <p:sp>
        <p:nvSpPr>
          <p:cNvPr id="58" name="Text 56"/>
          <p:cNvSpPr/>
          <p:nvPr/>
        </p:nvSpPr>
        <p:spPr>
          <a:xfrm>
            <a:off x="7408307" y="388239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1.3; 1.5; 1.6</a:t>
            </a:r>
            <a:endParaRPr lang="en-US" sz="650" dirty="0"/>
          </a:p>
        </p:txBody>
      </p:sp>
      <p:sp>
        <p:nvSpPr>
          <p:cNvPr id="59" name="Text 57"/>
          <p:cNvSpPr/>
          <p:nvPr/>
        </p:nvSpPr>
        <p:spPr>
          <a:xfrm>
            <a:off x="9686687" y="388239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a:t>
            </a:r>
            <a:endParaRPr lang="en-US" sz="650" dirty="0"/>
          </a:p>
        </p:txBody>
      </p:sp>
      <p:sp>
        <p:nvSpPr>
          <p:cNvPr id="60" name="Text 58"/>
          <p:cNvSpPr/>
          <p:nvPr/>
        </p:nvSpPr>
        <p:spPr>
          <a:xfrm>
            <a:off x="11965067" y="3882390"/>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2</a:t>
            </a:r>
            <a:endParaRPr lang="en-US" sz="650" dirty="0"/>
          </a:p>
        </p:txBody>
      </p:sp>
      <p:sp>
        <p:nvSpPr>
          <p:cNvPr id="61" name="Shape 59"/>
          <p:cNvSpPr/>
          <p:nvPr/>
        </p:nvSpPr>
        <p:spPr>
          <a:xfrm>
            <a:off x="481370" y="4083487"/>
            <a:ext cx="13670280" cy="261461"/>
          </a:xfrm>
          <a:prstGeom prst="rect">
            <a:avLst/>
          </a:prstGeom>
          <a:solidFill>
            <a:srgbClr val="FFFFFF">
              <a:alpha val="4000"/>
            </a:srgbClr>
          </a:solidFill>
          <a:ln/>
        </p:spPr>
        <p:txBody>
          <a:bodyPr/>
          <a:lstStyle/>
          <a:p>
            <a:endParaRPr lang="es-ES"/>
          </a:p>
        </p:txBody>
      </p:sp>
      <p:sp>
        <p:nvSpPr>
          <p:cNvPr id="62" name="Text 60"/>
          <p:cNvSpPr/>
          <p:nvPr/>
        </p:nvSpPr>
        <p:spPr>
          <a:xfrm>
            <a:off x="569357" y="4143851"/>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8. Disseny formularis</a:t>
            </a:r>
            <a:endParaRPr lang="en-US" sz="650" dirty="0"/>
          </a:p>
        </p:txBody>
      </p:sp>
      <p:sp>
        <p:nvSpPr>
          <p:cNvPr id="63" name="Text 61"/>
          <p:cNvSpPr/>
          <p:nvPr/>
        </p:nvSpPr>
        <p:spPr>
          <a:xfrm>
            <a:off x="2851547" y="414385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64" name="Text 62"/>
          <p:cNvSpPr/>
          <p:nvPr/>
        </p:nvSpPr>
        <p:spPr>
          <a:xfrm>
            <a:off x="5129927" y="414385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 8</a:t>
            </a:r>
            <a:endParaRPr lang="en-US" sz="650" dirty="0"/>
          </a:p>
        </p:txBody>
      </p:sp>
      <p:sp>
        <p:nvSpPr>
          <p:cNvPr id="65" name="Text 63"/>
          <p:cNvSpPr/>
          <p:nvPr/>
        </p:nvSpPr>
        <p:spPr>
          <a:xfrm>
            <a:off x="7408307" y="414385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6.3; 6.4</a:t>
            </a:r>
            <a:endParaRPr lang="en-US" sz="650" dirty="0"/>
          </a:p>
        </p:txBody>
      </p:sp>
      <p:sp>
        <p:nvSpPr>
          <p:cNvPr id="66" name="Text 64"/>
          <p:cNvSpPr/>
          <p:nvPr/>
        </p:nvSpPr>
        <p:spPr>
          <a:xfrm>
            <a:off x="9686687" y="414385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a:t>
            </a:r>
            <a:endParaRPr lang="en-US" sz="650" dirty="0"/>
          </a:p>
        </p:txBody>
      </p:sp>
      <p:sp>
        <p:nvSpPr>
          <p:cNvPr id="67" name="Text 65"/>
          <p:cNvSpPr/>
          <p:nvPr/>
        </p:nvSpPr>
        <p:spPr>
          <a:xfrm>
            <a:off x="11965067" y="4143851"/>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2</a:t>
            </a:r>
            <a:endParaRPr lang="en-US" sz="650" dirty="0"/>
          </a:p>
        </p:txBody>
      </p:sp>
      <p:sp>
        <p:nvSpPr>
          <p:cNvPr id="68" name="Shape 66"/>
          <p:cNvSpPr/>
          <p:nvPr/>
        </p:nvSpPr>
        <p:spPr>
          <a:xfrm>
            <a:off x="481370" y="4344948"/>
            <a:ext cx="13670280" cy="261461"/>
          </a:xfrm>
          <a:prstGeom prst="rect">
            <a:avLst/>
          </a:prstGeom>
          <a:solidFill>
            <a:srgbClr val="000000">
              <a:alpha val="4000"/>
            </a:srgbClr>
          </a:solidFill>
          <a:ln/>
        </p:spPr>
        <p:txBody>
          <a:bodyPr/>
          <a:lstStyle/>
          <a:p>
            <a:endParaRPr lang="es-ES"/>
          </a:p>
        </p:txBody>
      </p:sp>
      <p:sp>
        <p:nvSpPr>
          <p:cNvPr id="69" name="Text 67"/>
          <p:cNvSpPr/>
          <p:nvPr/>
        </p:nvSpPr>
        <p:spPr>
          <a:xfrm>
            <a:off x="569357" y="4405313"/>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9. Diagrama de flux, esquema navegació</a:t>
            </a:r>
            <a:endParaRPr lang="en-US" sz="650" dirty="0"/>
          </a:p>
        </p:txBody>
      </p:sp>
      <p:sp>
        <p:nvSpPr>
          <p:cNvPr id="70" name="Text 68"/>
          <p:cNvSpPr/>
          <p:nvPr/>
        </p:nvSpPr>
        <p:spPr>
          <a:xfrm>
            <a:off x="2851547" y="440531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71" name="Text 69"/>
          <p:cNvSpPr/>
          <p:nvPr/>
        </p:nvSpPr>
        <p:spPr>
          <a:xfrm>
            <a:off x="5129927" y="440531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8</a:t>
            </a:r>
            <a:endParaRPr lang="en-US" sz="650" dirty="0"/>
          </a:p>
        </p:txBody>
      </p:sp>
      <p:sp>
        <p:nvSpPr>
          <p:cNvPr id="72" name="Text 70"/>
          <p:cNvSpPr/>
          <p:nvPr/>
        </p:nvSpPr>
        <p:spPr>
          <a:xfrm>
            <a:off x="7408307" y="440531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1.3; 6.4</a:t>
            </a:r>
            <a:endParaRPr lang="en-US" sz="650" dirty="0"/>
          </a:p>
        </p:txBody>
      </p:sp>
      <p:sp>
        <p:nvSpPr>
          <p:cNvPr id="73" name="Text 71"/>
          <p:cNvSpPr/>
          <p:nvPr/>
        </p:nvSpPr>
        <p:spPr>
          <a:xfrm>
            <a:off x="9686687" y="4405313"/>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6</a:t>
            </a:r>
            <a:endParaRPr lang="en-US" sz="650" dirty="0"/>
          </a:p>
        </p:txBody>
      </p:sp>
      <p:sp>
        <p:nvSpPr>
          <p:cNvPr id="74" name="Text 72"/>
          <p:cNvSpPr/>
          <p:nvPr/>
        </p:nvSpPr>
        <p:spPr>
          <a:xfrm>
            <a:off x="11965067" y="4405313"/>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2</a:t>
            </a:r>
            <a:endParaRPr lang="en-US" sz="650" dirty="0"/>
          </a:p>
        </p:txBody>
      </p:sp>
      <p:sp>
        <p:nvSpPr>
          <p:cNvPr id="75" name="Shape 73"/>
          <p:cNvSpPr/>
          <p:nvPr/>
        </p:nvSpPr>
        <p:spPr>
          <a:xfrm>
            <a:off x="481370" y="4606409"/>
            <a:ext cx="13670280" cy="261461"/>
          </a:xfrm>
          <a:prstGeom prst="rect">
            <a:avLst/>
          </a:prstGeom>
          <a:solidFill>
            <a:srgbClr val="FFFFFF">
              <a:alpha val="4000"/>
            </a:srgbClr>
          </a:solidFill>
          <a:ln/>
        </p:spPr>
        <p:txBody>
          <a:bodyPr/>
          <a:lstStyle/>
          <a:p>
            <a:endParaRPr lang="es-ES"/>
          </a:p>
        </p:txBody>
      </p:sp>
      <p:sp>
        <p:nvSpPr>
          <p:cNvPr id="76" name="Text 74"/>
          <p:cNvSpPr/>
          <p:nvPr/>
        </p:nvSpPr>
        <p:spPr>
          <a:xfrm>
            <a:off x="569357" y="4666774"/>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10. Creació estructura HTML5</a:t>
            </a:r>
            <a:endParaRPr lang="en-US" sz="650" dirty="0"/>
          </a:p>
        </p:txBody>
      </p:sp>
      <p:sp>
        <p:nvSpPr>
          <p:cNvPr id="77" name="Text 75"/>
          <p:cNvSpPr/>
          <p:nvPr/>
        </p:nvSpPr>
        <p:spPr>
          <a:xfrm>
            <a:off x="2851547" y="466677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21</a:t>
            </a:r>
            <a:endParaRPr lang="en-US" sz="650" dirty="0"/>
          </a:p>
        </p:txBody>
      </p:sp>
      <p:sp>
        <p:nvSpPr>
          <p:cNvPr id="78" name="Text 76"/>
          <p:cNvSpPr/>
          <p:nvPr/>
        </p:nvSpPr>
        <p:spPr>
          <a:xfrm>
            <a:off x="5129927" y="466677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2</a:t>
            </a:r>
            <a:endParaRPr lang="en-US" sz="650" dirty="0"/>
          </a:p>
        </p:txBody>
      </p:sp>
      <p:sp>
        <p:nvSpPr>
          <p:cNvPr id="79" name="Text 77"/>
          <p:cNvSpPr/>
          <p:nvPr/>
        </p:nvSpPr>
        <p:spPr>
          <a:xfrm>
            <a:off x="7408307" y="466677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1.3; 1.5; 2.1; 4.5; 6.2; 6.4</a:t>
            </a:r>
            <a:endParaRPr lang="en-US" sz="650" dirty="0"/>
          </a:p>
        </p:txBody>
      </p:sp>
      <p:sp>
        <p:nvSpPr>
          <p:cNvPr id="80" name="Text 78"/>
          <p:cNvSpPr/>
          <p:nvPr/>
        </p:nvSpPr>
        <p:spPr>
          <a:xfrm>
            <a:off x="9686687" y="466677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4; 6</a:t>
            </a:r>
            <a:endParaRPr lang="en-US" sz="650" dirty="0"/>
          </a:p>
        </p:txBody>
      </p:sp>
      <p:sp>
        <p:nvSpPr>
          <p:cNvPr id="81" name="Text 79"/>
          <p:cNvSpPr/>
          <p:nvPr/>
        </p:nvSpPr>
        <p:spPr>
          <a:xfrm>
            <a:off x="11965067" y="4666774"/>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3</a:t>
            </a:r>
            <a:endParaRPr lang="en-US" sz="650" dirty="0"/>
          </a:p>
        </p:txBody>
      </p:sp>
      <p:sp>
        <p:nvSpPr>
          <p:cNvPr id="82" name="Shape 80"/>
          <p:cNvSpPr/>
          <p:nvPr/>
        </p:nvSpPr>
        <p:spPr>
          <a:xfrm>
            <a:off x="481370" y="4867870"/>
            <a:ext cx="13670280" cy="261461"/>
          </a:xfrm>
          <a:prstGeom prst="rect">
            <a:avLst/>
          </a:prstGeom>
          <a:solidFill>
            <a:srgbClr val="000000">
              <a:alpha val="4000"/>
            </a:srgbClr>
          </a:solidFill>
          <a:ln/>
        </p:spPr>
        <p:txBody>
          <a:bodyPr/>
          <a:lstStyle/>
          <a:p>
            <a:endParaRPr lang="es-ES"/>
          </a:p>
        </p:txBody>
      </p:sp>
      <p:sp>
        <p:nvSpPr>
          <p:cNvPr id="83" name="Text 81"/>
          <p:cNvSpPr/>
          <p:nvPr/>
        </p:nvSpPr>
        <p:spPr>
          <a:xfrm>
            <a:off x="569357" y="4928235"/>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11. Accessibilitat</a:t>
            </a:r>
            <a:endParaRPr lang="en-US" sz="650" dirty="0"/>
          </a:p>
        </p:txBody>
      </p:sp>
      <p:sp>
        <p:nvSpPr>
          <p:cNvPr id="84" name="Text 82"/>
          <p:cNvSpPr/>
          <p:nvPr/>
        </p:nvSpPr>
        <p:spPr>
          <a:xfrm>
            <a:off x="2851547" y="492823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85" name="Text 83"/>
          <p:cNvSpPr/>
          <p:nvPr/>
        </p:nvSpPr>
        <p:spPr>
          <a:xfrm>
            <a:off x="5129927" y="492823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7</a:t>
            </a:r>
            <a:endParaRPr lang="en-US" sz="650" dirty="0"/>
          </a:p>
        </p:txBody>
      </p:sp>
      <p:sp>
        <p:nvSpPr>
          <p:cNvPr id="86" name="Text 84"/>
          <p:cNvSpPr/>
          <p:nvPr/>
        </p:nvSpPr>
        <p:spPr>
          <a:xfrm>
            <a:off x="7408307" y="492823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5.1; 5.3; 5.4; 5.5; 5.6</a:t>
            </a:r>
            <a:endParaRPr lang="en-US" sz="650" dirty="0"/>
          </a:p>
        </p:txBody>
      </p:sp>
      <p:sp>
        <p:nvSpPr>
          <p:cNvPr id="87" name="Text 85"/>
          <p:cNvSpPr/>
          <p:nvPr/>
        </p:nvSpPr>
        <p:spPr>
          <a:xfrm>
            <a:off x="9686687" y="4928235"/>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5</a:t>
            </a:r>
            <a:endParaRPr lang="en-US" sz="650" dirty="0"/>
          </a:p>
        </p:txBody>
      </p:sp>
      <p:sp>
        <p:nvSpPr>
          <p:cNvPr id="88" name="Text 86"/>
          <p:cNvSpPr/>
          <p:nvPr/>
        </p:nvSpPr>
        <p:spPr>
          <a:xfrm>
            <a:off x="11965067" y="4928235"/>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3</a:t>
            </a:r>
            <a:endParaRPr lang="en-US" sz="650" dirty="0"/>
          </a:p>
        </p:txBody>
      </p:sp>
      <p:sp>
        <p:nvSpPr>
          <p:cNvPr id="89" name="Shape 87"/>
          <p:cNvSpPr/>
          <p:nvPr/>
        </p:nvSpPr>
        <p:spPr>
          <a:xfrm>
            <a:off x="481370" y="5129332"/>
            <a:ext cx="13670280" cy="261461"/>
          </a:xfrm>
          <a:prstGeom prst="rect">
            <a:avLst/>
          </a:prstGeom>
          <a:solidFill>
            <a:srgbClr val="FFFFFF">
              <a:alpha val="4000"/>
            </a:srgbClr>
          </a:solidFill>
          <a:ln/>
        </p:spPr>
        <p:txBody>
          <a:bodyPr/>
          <a:lstStyle/>
          <a:p>
            <a:endParaRPr lang="es-ES"/>
          </a:p>
        </p:txBody>
      </p:sp>
      <p:sp>
        <p:nvSpPr>
          <p:cNvPr id="90" name="Text 88"/>
          <p:cNvSpPr/>
          <p:nvPr/>
        </p:nvSpPr>
        <p:spPr>
          <a:xfrm>
            <a:off x="569357" y="5189696"/>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12. Introducció a CSS</a:t>
            </a:r>
            <a:endParaRPr lang="en-US" sz="650" dirty="0"/>
          </a:p>
        </p:txBody>
      </p:sp>
      <p:sp>
        <p:nvSpPr>
          <p:cNvPr id="91" name="Text 89"/>
          <p:cNvSpPr/>
          <p:nvPr/>
        </p:nvSpPr>
        <p:spPr>
          <a:xfrm>
            <a:off x="2851547" y="518969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27</a:t>
            </a:r>
            <a:endParaRPr lang="en-US" sz="650" dirty="0"/>
          </a:p>
        </p:txBody>
      </p:sp>
      <p:sp>
        <p:nvSpPr>
          <p:cNvPr id="92" name="Text 90"/>
          <p:cNvSpPr/>
          <p:nvPr/>
        </p:nvSpPr>
        <p:spPr>
          <a:xfrm>
            <a:off x="5129927" y="518969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2; 7; 8</a:t>
            </a:r>
            <a:endParaRPr lang="en-US" sz="650" dirty="0"/>
          </a:p>
        </p:txBody>
      </p:sp>
      <p:sp>
        <p:nvSpPr>
          <p:cNvPr id="93" name="Text 91"/>
          <p:cNvSpPr/>
          <p:nvPr/>
        </p:nvSpPr>
        <p:spPr>
          <a:xfrm>
            <a:off x="7408307" y="518969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1.2-1.5; 2.2-2.8; 3.8; 5.1; 5.3; 5.6; 6.2-6.4; 6.6</a:t>
            </a:r>
            <a:endParaRPr lang="en-US" sz="650" dirty="0"/>
          </a:p>
        </p:txBody>
      </p:sp>
      <p:sp>
        <p:nvSpPr>
          <p:cNvPr id="94" name="Text 92"/>
          <p:cNvSpPr/>
          <p:nvPr/>
        </p:nvSpPr>
        <p:spPr>
          <a:xfrm>
            <a:off x="9686687" y="5189696"/>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2; 3; 5; 6</a:t>
            </a:r>
            <a:endParaRPr lang="en-US" sz="650" dirty="0"/>
          </a:p>
        </p:txBody>
      </p:sp>
      <p:sp>
        <p:nvSpPr>
          <p:cNvPr id="95" name="Text 93"/>
          <p:cNvSpPr/>
          <p:nvPr/>
        </p:nvSpPr>
        <p:spPr>
          <a:xfrm>
            <a:off x="11965067" y="5189696"/>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4</a:t>
            </a:r>
            <a:endParaRPr lang="en-US" sz="650" dirty="0"/>
          </a:p>
        </p:txBody>
      </p:sp>
      <p:sp>
        <p:nvSpPr>
          <p:cNvPr id="96" name="Shape 94"/>
          <p:cNvSpPr/>
          <p:nvPr/>
        </p:nvSpPr>
        <p:spPr>
          <a:xfrm>
            <a:off x="481370" y="5390793"/>
            <a:ext cx="13670280" cy="261461"/>
          </a:xfrm>
          <a:prstGeom prst="rect">
            <a:avLst/>
          </a:prstGeom>
          <a:solidFill>
            <a:srgbClr val="000000">
              <a:alpha val="4000"/>
            </a:srgbClr>
          </a:solidFill>
          <a:ln/>
        </p:spPr>
        <p:txBody>
          <a:bodyPr/>
          <a:lstStyle/>
          <a:p>
            <a:endParaRPr lang="es-ES"/>
          </a:p>
        </p:txBody>
      </p:sp>
      <p:sp>
        <p:nvSpPr>
          <p:cNvPr id="97" name="Text 95"/>
          <p:cNvSpPr/>
          <p:nvPr/>
        </p:nvSpPr>
        <p:spPr>
          <a:xfrm>
            <a:off x="569357" y="5451158"/>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13. Tipus, formats i optimització d'imatges</a:t>
            </a:r>
            <a:endParaRPr lang="en-US" sz="650" dirty="0"/>
          </a:p>
        </p:txBody>
      </p:sp>
      <p:sp>
        <p:nvSpPr>
          <p:cNvPr id="98" name="Text 96"/>
          <p:cNvSpPr/>
          <p:nvPr/>
        </p:nvSpPr>
        <p:spPr>
          <a:xfrm>
            <a:off x="2851547" y="545115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99" name="Text 97"/>
          <p:cNvSpPr/>
          <p:nvPr/>
        </p:nvSpPr>
        <p:spPr>
          <a:xfrm>
            <a:off x="5129927" y="545115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4; 7</a:t>
            </a:r>
            <a:endParaRPr lang="en-US" sz="650" dirty="0"/>
          </a:p>
        </p:txBody>
      </p:sp>
      <p:sp>
        <p:nvSpPr>
          <p:cNvPr id="100" name="Text 98"/>
          <p:cNvSpPr/>
          <p:nvPr/>
        </p:nvSpPr>
        <p:spPr>
          <a:xfrm>
            <a:off x="7408307" y="545115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3.1; 3.2; 3.4; 3.7; 5.3</a:t>
            </a:r>
            <a:endParaRPr lang="en-US" sz="650" dirty="0"/>
          </a:p>
        </p:txBody>
      </p:sp>
      <p:sp>
        <p:nvSpPr>
          <p:cNvPr id="101" name="Text 99"/>
          <p:cNvSpPr/>
          <p:nvPr/>
        </p:nvSpPr>
        <p:spPr>
          <a:xfrm>
            <a:off x="9686687" y="5451158"/>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02" name="Text 100"/>
          <p:cNvSpPr/>
          <p:nvPr/>
        </p:nvSpPr>
        <p:spPr>
          <a:xfrm>
            <a:off x="11965067" y="5451158"/>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final</a:t>
            </a:r>
            <a:endParaRPr lang="en-US" sz="650" dirty="0"/>
          </a:p>
        </p:txBody>
      </p:sp>
      <p:sp>
        <p:nvSpPr>
          <p:cNvPr id="103" name="Shape 101"/>
          <p:cNvSpPr/>
          <p:nvPr/>
        </p:nvSpPr>
        <p:spPr>
          <a:xfrm>
            <a:off x="481370" y="5652254"/>
            <a:ext cx="13670280" cy="261461"/>
          </a:xfrm>
          <a:prstGeom prst="rect">
            <a:avLst/>
          </a:prstGeom>
          <a:solidFill>
            <a:srgbClr val="FFFFFF">
              <a:alpha val="4000"/>
            </a:srgbClr>
          </a:solidFill>
          <a:ln/>
        </p:spPr>
        <p:txBody>
          <a:bodyPr/>
          <a:lstStyle/>
          <a:p>
            <a:endParaRPr lang="es-ES"/>
          </a:p>
        </p:txBody>
      </p:sp>
      <p:sp>
        <p:nvSpPr>
          <p:cNvPr id="104" name="Text 102"/>
          <p:cNvSpPr/>
          <p:nvPr/>
        </p:nvSpPr>
        <p:spPr>
          <a:xfrm>
            <a:off x="569357" y="5712619"/>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14. Imatges responsives i bàners</a:t>
            </a:r>
            <a:endParaRPr lang="en-US" sz="650" dirty="0"/>
          </a:p>
        </p:txBody>
      </p:sp>
      <p:sp>
        <p:nvSpPr>
          <p:cNvPr id="105" name="Text 103"/>
          <p:cNvSpPr/>
          <p:nvPr/>
        </p:nvSpPr>
        <p:spPr>
          <a:xfrm>
            <a:off x="2851547" y="571261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06" name="Text 104"/>
          <p:cNvSpPr/>
          <p:nvPr/>
        </p:nvSpPr>
        <p:spPr>
          <a:xfrm>
            <a:off x="5129927" y="571261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4</a:t>
            </a:r>
            <a:endParaRPr lang="en-US" sz="650" dirty="0"/>
          </a:p>
        </p:txBody>
      </p:sp>
      <p:sp>
        <p:nvSpPr>
          <p:cNvPr id="107" name="Text 105"/>
          <p:cNvSpPr/>
          <p:nvPr/>
        </p:nvSpPr>
        <p:spPr>
          <a:xfrm>
            <a:off x="7408307" y="571261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4.5; 6.3</a:t>
            </a:r>
            <a:endParaRPr lang="en-US" sz="650" dirty="0"/>
          </a:p>
        </p:txBody>
      </p:sp>
      <p:sp>
        <p:nvSpPr>
          <p:cNvPr id="108" name="Text 106"/>
          <p:cNvSpPr/>
          <p:nvPr/>
        </p:nvSpPr>
        <p:spPr>
          <a:xfrm>
            <a:off x="9686687" y="5712619"/>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4; 6</a:t>
            </a:r>
            <a:endParaRPr lang="en-US" sz="650" dirty="0"/>
          </a:p>
        </p:txBody>
      </p:sp>
      <p:sp>
        <p:nvSpPr>
          <p:cNvPr id="109" name="Text 107"/>
          <p:cNvSpPr/>
          <p:nvPr/>
        </p:nvSpPr>
        <p:spPr>
          <a:xfrm>
            <a:off x="11965067" y="5712619"/>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final</a:t>
            </a:r>
            <a:endParaRPr lang="en-US" sz="650" dirty="0"/>
          </a:p>
        </p:txBody>
      </p:sp>
      <p:sp>
        <p:nvSpPr>
          <p:cNvPr id="110" name="Shape 108"/>
          <p:cNvSpPr/>
          <p:nvPr/>
        </p:nvSpPr>
        <p:spPr>
          <a:xfrm>
            <a:off x="481370" y="5913715"/>
            <a:ext cx="13670280" cy="261461"/>
          </a:xfrm>
          <a:prstGeom prst="rect">
            <a:avLst/>
          </a:prstGeom>
          <a:solidFill>
            <a:srgbClr val="000000">
              <a:alpha val="4000"/>
            </a:srgbClr>
          </a:solidFill>
          <a:ln/>
        </p:spPr>
        <p:txBody>
          <a:bodyPr/>
          <a:lstStyle/>
          <a:p>
            <a:endParaRPr lang="es-ES"/>
          </a:p>
        </p:txBody>
      </p:sp>
      <p:sp>
        <p:nvSpPr>
          <p:cNvPr id="111" name="Text 109"/>
          <p:cNvSpPr/>
          <p:nvPr/>
        </p:nvSpPr>
        <p:spPr>
          <a:xfrm>
            <a:off x="569357" y="5974080"/>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15. Elements interactius i formularis</a:t>
            </a:r>
            <a:endParaRPr lang="en-US" sz="650" dirty="0"/>
          </a:p>
        </p:txBody>
      </p:sp>
      <p:sp>
        <p:nvSpPr>
          <p:cNvPr id="112" name="Text 110"/>
          <p:cNvSpPr/>
          <p:nvPr/>
        </p:nvSpPr>
        <p:spPr>
          <a:xfrm>
            <a:off x="2851547" y="597408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24</a:t>
            </a:r>
            <a:endParaRPr lang="en-US" sz="650" dirty="0"/>
          </a:p>
        </p:txBody>
      </p:sp>
      <p:sp>
        <p:nvSpPr>
          <p:cNvPr id="113" name="Text 111"/>
          <p:cNvSpPr/>
          <p:nvPr/>
        </p:nvSpPr>
        <p:spPr>
          <a:xfrm>
            <a:off x="5129927" y="597408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 6; 7; 8</a:t>
            </a:r>
            <a:endParaRPr lang="en-US" sz="650" dirty="0"/>
          </a:p>
        </p:txBody>
      </p:sp>
      <p:sp>
        <p:nvSpPr>
          <p:cNvPr id="114" name="Text 112"/>
          <p:cNvSpPr/>
          <p:nvPr/>
        </p:nvSpPr>
        <p:spPr>
          <a:xfrm>
            <a:off x="7408307" y="597408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1.5; 4.1; 4.3; 4.6; 5.1; 5.3; 6.3; 6.4; 6.6</a:t>
            </a:r>
            <a:endParaRPr lang="en-US" sz="650" dirty="0"/>
          </a:p>
        </p:txBody>
      </p:sp>
      <p:sp>
        <p:nvSpPr>
          <p:cNvPr id="115" name="Text 113"/>
          <p:cNvSpPr/>
          <p:nvPr/>
        </p:nvSpPr>
        <p:spPr>
          <a:xfrm>
            <a:off x="9686687" y="5974080"/>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 4; 5; 6</a:t>
            </a:r>
            <a:endParaRPr lang="en-US" sz="650" dirty="0"/>
          </a:p>
        </p:txBody>
      </p:sp>
      <p:sp>
        <p:nvSpPr>
          <p:cNvPr id="116" name="Text 114"/>
          <p:cNvSpPr/>
          <p:nvPr/>
        </p:nvSpPr>
        <p:spPr>
          <a:xfrm>
            <a:off x="11965067" y="5974080"/>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6</a:t>
            </a:r>
            <a:endParaRPr lang="en-US" sz="650" dirty="0"/>
          </a:p>
        </p:txBody>
      </p:sp>
      <p:sp>
        <p:nvSpPr>
          <p:cNvPr id="117" name="Shape 115"/>
          <p:cNvSpPr/>
          <p:nvPr/>
        </p:nvSpPr>
        <p:spPr>
          <a:xfrm>
            <a:off x="481370" y="6175177"/>
            <a:ext cx="13670280" cy="261461"/>
          </a:xfrm>
          <a:prstGeom prst="rect">
            <a:avLst/>
          </a:prstGeom>
          <a:solidFill>
            <a:srgbClr val="FFFFFF">
              <a:alpha val="4000"/>
            </a:srgbClr>
          </a:solidFill>
          <a:ln/>
        </p:spPr>
        <p:txBody>
          <a:bodyPr/>
          <a:lstStyle/>
          <a:p>
            <a:endParaRPr lang="es-ES"/>
          </a:p>
        </p:txBody>
      </p:sp>
      <p:sp>
        <p:nvSpPr>
          <p:cNvPr id="118" name="Text 116"/>
          <p:cNvSpPr/>
          <p:nvPr/>
        </p:nvSpPr>
        <p:spPr>
          <a:xfrm>
            <a:off x="569357" y="6235541"/>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16. Propietat intel·lectual i llicències</a:t>
            </a:r>
            <a:endParaRPr lang="en-US" sz="650" dirty="0"/>
          </a:p>
        </p:txBody>
      </p:sp>
      <p:sp>
        <p:nvSpPr>
          <p:cNvPr id="119" name="Text 117"/>
          <p:cNvSpPr/>
          <p:nvPr/>
        </p:nvSpPr>
        <p:spPr>
          <a:xfrm>
            <a:off x="2851547" y="623554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20" name="Text 118"/>
          <p:cNvSpPr/>
          <p:nvPr/>
        </p:nvSpPr>
        <p:spPr>
          <a:xfrm>
            <a:off x="5129927" y="623554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4; 5</a:t>
            </a:r>
            <a:endParaRPr lang="en-US" sz="650" dirty="0"/>
          </a:p>
        </p:txBody>
      </p:sp>
      <p:sp>
        <p:nvSpPr>
          <p:cNvPr id="121" name="Text 119"/>
          <p:cNvSpPr/>
          <p:nvPr/>
        </p:nvSpPr>
        <p:spPr>
          <a:xfrm>
            <a:off x="7408307" y="623554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3.1</a:t>
            </a:r>
            <a:endParaRPr lang="en-US" sz="650" dirty="0"/>
          </a:p>
        </p:txBody>
      </p:sp>
      <p:sp>
        <p:nvSpPr>
          <p:cNvPr id="122" name="Text 120"/>
          <p:cNvSpPr/>
          <p:nvPr/>
        </p:nvSpPr>
        <p:spPr>
          <a:xfrm>
            <a:off x="9686687" y="6235541"/>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23" name="Text 121"/>
          <p:cNvSpPr/>
          <p:nvPr/>
        </p:nvSpPr>
        <p:spPr>
          <a:xfrm>
            <a:off x="11965067" y="6235541"/>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7</a:t>
            </a:r>
            <a:endParaRPr lang="en-US" sz="650" dirty="0"/>
          </a:p>
        </p:txBody>
      </p:sp>
      <p:sp>
        <p:nvSpPr>
          <p:cNvPr id="124" name="Shape 122"/>
          <p:cNvSpPr/>
          <p:nvPr/>
        </p:nvSpPr>
        <p:spPr>
          <a:xfrm>
            <a:off x="481370" y="6436638"/>
            <a:ext cx="13670280" cy="261461"/>
          </a:xfrm>
          <a:prstGeom prst="rect">
            <a:avLst/>
          </a:prstGeom>
          <a:solidFill>
            <a:srgbClr val="000000">
              <a:alpha val="4000"/>
            </a:srgbClr>
          </a:solidFill>
          <a:ln/>
        </p:spPr>
        <p:txBody>
          <a:bodyPr/>
          <a:lstStyle/>
          <a:p>
            <a:endParaRPr lang="es-ES"/>
          </a:p>
        </p:txBody>
      </p:sp>
      <p:sp>
        <p:nvSpPr>
          <p:cNvPr id="125" name="Text 123"/>
          <p:cNvSpPr/>
          <p:nvPr/>
        </p:nvSpPr>
        <p:spPr>
          <a:xfrm>
            <a:off x="569357" y="6497002"/>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17. Animacions, efectes i integració multimèdia</a:t>
            </a:r>
            <a:endParaRPr lang="en-US" sz="650" dirty="0"/>
          </a:p>
        </p:txBody>
      </p:sp>
      <p:sp>
        <p:nvSpPr>
          <p:cNvPr id="126" name="Text 124"/>
          <p:cNvSpPr/>
          <p:nvPr/>
        </p:nvSpPr>
        <p:spPr>
          <a:xfrm>
            <a:off x="2851547" y="6497002"/>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27" name="Text 125"/>
          <p:cNvSpPr/>
          <p:nvPr/>
        </p:nvSpPr>
        <p:spPr>
          <a:xfrm>
            <a:off x="5129927" y="6497002"/>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4</a:t>
            </a:r>
            <a:endParaRPr lang="en-US" sz="650" dirty="0"/>
          </a:p>
        </p:txBody>
      </p:sp>
      <p:sp>
        <p:nvSpPr>
          <p:cNvPr id="128" name="Text 126"/>
          <p:cNvSpPr/>
          <p:nvPr/>
        </p:nvSpPr>
        <p:spPr>
          <a:xfrm>
            <a:off x="7408307" y="6497002"/>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3.5; 3.6; 3.7</a:t>
            </a:r>
            <a:endParaRPr lang="en-US" sz="650" dirty="0"/>
          </a:p>
        </p:txBody>
      </p:sp>
      <p:sp>
        <p:nvSpPr>
          <p:cNvPr id="129" name="Text 127"/>
          <p:cNvSpPr/>
          <p:nvPr/>
        </p:nvSpPr>
        <p:spPr>
          <a:xfrm>
            <a:off x="9686687" y="6497002"/>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3</a:t>
            </a:r>
            <a:endParaRPr lang="en-US" sz="650" dirty="0"/>
          </a:p>
        </p:txBody>
      </p:sp>
      <p:sp>
        <p:nvSpPr>
          <p:cNvPr id="130" name="Text 128"/>
          <p:cNvSpPr/>
          <p:nvPr/>
        </p:nvSpPr>
        <p:spPr>
          <a:xfrm>
            <a:off x="11965067" y="6497002"/>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bloc 7</a:t>
            </a:r>
            <a:endParaRPr lang="en-US" sz="650" dirty="0"/>
          </a:p>
        </p:txBody>
      </p:sp>
      <p:sp>
        <p:nvSpPr>
          <p:cNvPr id="131" name="Shape 129"/>
          <p:cNvSpPr/>
          <p:nvPr/>
        </p:nvSpPr>
        <p:spPr>
          <a:xfrm>
            <a:off x="481370" y="6698099"/>
            <a:ext cx="13670280" cy="261461"/>
          </a:xfrm>
          <a:prstGeom prst="rect">
            <a:avLst/>
          </a:prstGeom>
          <a:solidFill>
            <a:srgbClr val="FFFFFF">
              <a:alpha val="4000"/>
            </a:srgbClr>
          </a:solidFill>
          <a:ln/>
        </p:spPr>
        <p:txBody>
          <a:bodyPr/>
          <a:lstStyle/>
          <a:p>
            <a:endParaRPr lang="es-ES"/>
          </a:p>
        </p:txBody>
      </p:sp>
      <p:sp>
        <p:nvSpPr>
          <p:cNvPr id="132" name="Text 130"/>
          <p:cNvSpPr/>
          <p:nvPr/>
        </p:nvSpPr>
        <p:spPr>
          <a:xfrm>
            <a:off x="569357" y="6758464"/>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18. Memòria i presentacions</a:t>
            </a:r>
            <a:endParaRPr lang="en-US" sz="650" dirty="0"/>
          </a:p>
        </p:txBody>
      </p:sp>
      <p:sp>
        <p:nvSpPr>
          <p:cNvPr id="133" name="Text 131"/>
          <p:cNvSpPr/>
          <p:nvPr/>
        </p:nvSpPr>
        <p:spPr>
          <a:xfrm>
            <a:off x="2851547" y="675846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6</a:t>
            </a:r>
            <a:endParaRPr lang="en-US" sz="650" dirty="0"/>
          </a:p>
        </p:txBody>
      </p:sp>
      <p:sp>
        <p:nvSpPr>
          <p:cNvPr id="134" name="Text 132"/>
          <p:cNvSpPr/>
          <p:nvPr/>
        </p:nvSpPr>
        <p:spPr>
          <a:xfrm>
            <a:off x="5129927" y="675846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x</a:t>
            </a:r>
            <a:endParaRPr lang="en-US" sz="650" dirty="0"/>
          </a:p>
        </p:txBody>
      </p:sp>
      <p:sp>
        <p:nvSpPr>
          <p:cNvPr id="135" name="Text 133"/>
          <p:cNvSpPr/>
          <p:nvPr/>
        </p:nvSpPr>
        <p:spPr>
          <a:xfrm>
            <a:off x="7408307" y="675846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X</a:t>
            </a:r>
            <a:endParaRPr lang="en-US" sz="650" dirty="0"/>
          </a:p>
        </p:txBody>
      </p:sp>
      <p:sp>
        <p:nvSpPr>
          <p:cNvPr id="136" name="Text 134"/>
          <p:cNvSpPr/>
          <p:nvPr/>
        </p:nvSpPr>
        <p:spPr>
          <a:xfrm>
            <a:off x="9686687" y="6758464"/>
            <a:ext cx="209478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X</a:t>
            </a:r>
            <a:endParaRPr lang="en-US" sz="650" dirty="0"/>
          </a:p>
        </p:txBody>
      </p:sp>
      <p:sp>
        <p:nvSpPr>
          <p:cNvPr id="137" name="Text 135"/>
          <p:cNvSpPr/>
          <p:nvPr/>
        </p:nvSpPr>
        <p:spPr>
          <a:xfrm>
            <a:off x="11965067" y="6758464"/>
            <a:ext cx="2098596"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Entrega final</a:t>
            </a:r>
            <a:endParaRPr lang="en-US" sz="650" dirty="0"/>
          </a:p>
        </p:txBody>
      </p:sp>
      <p:sp>
        <p:nvSpPr>
          <p:cNvPr id="138" name="Shape 136"/>
          <p:cNvSpPr/>
          <p:nvPr/>
        </p:nvSpPr>
        <p:spPr>
          <a:xfrm>
            <a:off x="481370" y="6959560"/>
            <a:ext cx="13670280" cy="261461"/>
          </a:xfrm>
          <a:prstGeom prst="rect">
            <a:avLst/>
          </a:prstGeom>
          <a:solidFill>
            <a:srgbClr val="000000">
              <a:alpha val="4000"/>
            </a:srgbClr>
          </a:solidFill>
          <a:ln/>
        </p:spPr>
        <p:txBody>
          <a:bodyPr/>
          <a:lstStyle/>
          <a:p>
            <a:endParaRPr lang="es-ES"/>
          </a:p>
        </p:txBody>
      </p:sp>
      <p:sp>
        <p:nvSpPr>
          <p:cNvPr id="139" name="Text 137"/>
          <p:cNvSpPr/>
          <p:nvPr/>
        </p:nvSpPr>
        <p:spPr>
          <a:xfrm>
            <a:off x="569357" y="7019925"/>
            <a:ext cx="209859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Total</a:t>
            </a:r>
            <a:endParaRPr lang="en-US" sz="650" dirty="0"/>
          </a:p>
        </p:txBody>
      </p:sp>
      <p:sp>
        <p:nvSpPr>
          <p:cNvPr id="140" name="Text 138"/>
          <p:cNvSpPr/>
          <p:nvPr/>
        </p:nvSpPr>
        <p:spPr>
          <a:xfrm>
            <a:off x="2851547" y="7019925"/>
            <a:ext cx="2094786" cy="140732"/>
          </a:xfrm>
          <a:prstGeom prst="rect">
            <a:avLst/>
          </a:prstGeom>
          <a:noFill/>
          <a:ln/>
        </p:spPr>
        <p:txBody>
          <a:bodyPr wrap="none" lIns="0" tIns="0" rIns="0" bIns="0" rtlCol="0" anchor="t"/>
          <a:lstStyle/>
          <a:p>
            <a:pPr marL="0" indent="0" algn="l">
              <a:lnSpc>
                <a:spcPts val="1100"/>
              </a:lnSpc>
              <a:buNone/>
            </a:pPr>
            <a:r>
              <a:rPr lang="en-US" sz="650" b="1" dirty="0">
                <a:solidFill>
                  <a:srgbClr val="D7D4CC"/>
                </a:solidFill>
                <a:latin typeface="Raleway Medium" pitchFamily="34" charset="0"/>
                <a:ea typeface="Raleway Medium" pitchFamily="34" charset="-122"/>
                <a:cs typeface="Raleway Medium" pitchFamily="34" charset="-120"/>
              </a:rPr>
              <a:t>120</a:t>
            </a:r>
            <a:endParaRPr lang="en-US" sz="650" dirty="0"/>
          </a:p>
        </p:txBody>
      </p:sp>
      <p:sp>
        <p:nvSpPr>
          <p:cNvPr id="141" name="Text 139"/>
          <p:cNvSpPr/>
          <p:nvPr/>
        </p:nvSpPr>
        <p:spPr>
          <a:xfrm>
            <a:off x="5129927" y="7019925"/>
            <a:ext cx="2094786" cy="140732"/>
          </a:xfrm>
          <a:prstGeom prst="rect">
            <a:avLst/>
          </a:prstGeom>
          <a:noFill/>
          <a:ln/>
        </p:spPr>
        <p:txBody>
          <a:bodyPr wrap="none" lIns="0" tIns="0" rIns="0" bIns="0" rtlCol="0" anchor="t"/>
          <a:lstStyle/>
          <a:p>
            <a:pPr marL="0" indent="0" algn="l">
              <a:lnSpc>
                <a:spcPts val="1100"/>
              </a:lnSpc>
              <a:buNone/>
            </a:pPr>
            <a:endParaRPr lang="en-US" sz="650" dirty="0"/>
          </a:p>
        </p:txBody>
      </p:sp>
      <p:sp>
        <p:nvSpPr>
          <p:cNvPr id="142" name="Text 140"/>
          <p:cNvSpPr/>
          <p:nvPr/>
        </p:nvSpPr>
        <p:spPr>
          <a:xfrm>
            <a:off x="7408307" y="7019925"/>
            <a:ext cx="2094786" cy="140732"/>
          </a:xfrm>
          <a:prstGeom prst="rect">
            <a:avLst/>
          </a:prstGeom>
          <a:noFill/>
          <a:ln/>
        </p:spPr>
        <p:txBody>
          <a:bodyPr wrap="none" lIns="0" tIns="0" rIns="0" bIns="0" rtlCol="0" anchor="t"/>
          <a:lstStyle/>
          <a:p>
            <a:pPr marL="0" indent="0" algn="l">
              <a:lnSpc>
                <a:spcPts val="1100"/>
              </a:lnSpc>
              <a:buNone/>
            </a:pPr>
            <a:endParaRPr lang="en-US" sz="650" dirty="0"/>
          </a:p>
        </p:txBody>
      </p:sp>
      <p:sp>
        <p:nvSpPr>
          <p:cNvPr id="143" name="Text 141"/>
          <p:cNvSpPr/>
          <p:nvPr/>
        </p:nvSpPr>
        <p:spPr>
          <a:xfrm>
            <a:off x="9686687" y="7019925"/>
            <a:ext cx="2094786" cy="140732"/>
          </a:xfrm>
          <a:prstGeom prst="rect">
            <a:avLst/>
          </a:prstGeom>
          <a:noFill/>
          <a:ln/>
        </p:spPr>
        <p:txBody>
          <a:bodyPr wrap="none" lIns="0" tIns="0" rIns="0" bIns="0" rtlCol="0" anchor="t"/>
          <a:lstStyle/>
          <a:p>
            <a:pPr marL="0" indent="0" algn="l">
              <a:lnSpc>
                <a:spcPts val="1100"/>
              </a:lnSpc>
              <a:buNone/>
            </a:pPr>
            <a:endParaRPr lang="en-US" sz="650" dirty="0"/>
          </a:p>
        </p:txBody>
      </p:sp>
      <p:sp>
        <p:nvSpPr>
          <p:cNvPr id="144" name="Text 142"/>
          <p:cNvSpPr/>
          <p:nvPr/>
        </p:nvSpPr>
        <p:spPr>
          <a:xfrm>
            <a:off x="11965067" y="7019925"/>
            <a:ext cx="2098596" cy="140732"/>
          </a:xfrm>
          <a:prstGeom prst="rect">
            <a:avLst/>
          </a:prstGeom>
          <a:noFill/>
          <a:ln/>
        </p:spPr>
        <p:txBody>
          <a:bodyPr wrap="none" lIns="0" tIns="0" rIns="0" bIns="0" rtlCol="0" anchor="t"/>
          <a:lstStyle/>
          <a:p>
            <a:pPr marL="0" indent="0" algn="l">
              <a:lnSpc>
                <a:spcPts val="1100"/>
              </a:lnSpc>
              <a:buNone/>
            </a:pPr>
            <a:endParaRPr lang="en-US" sz="650" dirty="0"/>
          </a:p>
        </p:txBody>
      </p:sp>
      <p:sp>
        <p:nvSpPr>
          <p:cNvPr id="145" name="Text 143"/>
          <p:cNvSpPr/>
          <p:nvPr/>
        </p:nvSpPr>
        <p:spPr>
          <a:xfrm>
            <a:off x="473750" y="7327582"/>
            <a:ext cx="13682901" cy="140732"/>
          </a:xfrm>
          <a:prstGeom prst="rect">
            <a:avLst/>
          </a:prstGeom>
          <a:noFill/>
          <a:ln/>
        </p:spPr>
        <p:txBody>
          <a:bodyPr wrap="none" lIns="0" tIns="0" rIns="0" bIns="0" rtlCol="0" anchor="t"/>
          <a:lstStyle/>
          <a:p>
            <a:pPr marL="0" indent="0" algn="l">
              <a:lnSpc>
                <a:spcPts val="1100"/>
              </a:lnSpc>
              <a:buNone/>
            </a:pPr>
            <a:r>
              <a:rPr lang="en-US" sz="650" dirty="0">
                <a:solidFill>
                  <a:srgbClr val="D7D4CC"/>
                </a:solidFill>
                <a:latin typeface="Raleway Medium" pitchFamily="34" charset="0"/>
                <a:ea typeface="Raleway Medium" pitchFamily="34" charset="-122"/>
                <a:cs typeface="Raleway Medium" pitchFamily="34" charset="-120"/>
              </a:rPr>
              <a:t>Cada activitat contribueix a l'adquisició de competències específiques vinculades als diferents resultats d'aprenentatge del mòdul.</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18912" y="643414"/>
            <a:ext cx="4059198" cy="422434"/>
          </a:xfrm>
          <a:prstGeom prst="rect">
            <a:avLst/>
          </a:prstGeom>
          <a:noFill/>
          <a:ln/>
        </p:spPr>
        <p:txBody>
          <a:bodyPr wrap="none" lIns="0" tIns="0" rIns="0" bIns="0" rtlCol="0" anchor="t"/>
          <a:lstStyle/>
          <a:p>
            <a:pPr marL="0" indent="0" algn="l">
              <a:lnSpc>
                <a:spcPts val="3300"/>
              </a:lnSpc>
              <a:buNone/>
            </a:pPr>
            <a:r>
              <a:rPr lang="en-US" sz="2650" b="1" dirty="0">
                <a:solidFill>
                  <a:srgbClr val="FFE14D"/>
                </a:solidFill>
                <a:latin typeface="Comfortaa Bold" pitchFamily="34" charset="0"/>
                <a:ea typeface="Comfortaa Bold" pitchFamily="34" charset="-122"/>
                <a:cs typeface="Comfortaa Bold" pitchFamily="34" charset="-120"/>
              </a:rPr>
              <a:t>Criteris de qualificació</a:t>
            </a:r>
            <a:endParaRPr lang="en-US" sz="2650" dirty="0"/>
          </a:p>
        </p:txBody>
      </p:sp>
      <p:sp>
        <p:nvSpPr>
          <p:cNvPr id="3" name="Text 1"/>
          <p:cNvSpPr/>
          <p:nvPr/>
        </p:nvSpPr>
        <p:spPr>
          <a:xfrm>
            <a:off x="818912" y="1369933"/>
            <a:ext cx="12992576"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La distribució de la qualificació per blocs i resultats d'aprenentatge permet avaluar les competències de manera integral al llarg del projecte.</a:t>
            </a:r>
            <a:endParaRPr lang="en-US" sz="1150" dirty="0"/>
          </a:p>
        </p:txBody>
      </p:sp>
      <p:sp>
        <p:nvSpPr>
          <p:cNvPr id="4" name="Shape 2"/>
          <p:cNvSpPr/>
          <p:nvPr/>
        </p:nvSpPr>
        <p:spPr>
          <a:xfrm>
            <a:off x="818912" y="1784271"/>
            <a:ext cx="12992576" cy="5397103"/>
          </a:xfrm>
          <a:prstGeom prst="roundRect">
            <a:avLst>
              <a:gd name="adj" fmla="val 4227"/>
            </a:avLst>
          </a:prstGeom>
          <a:noFill/>
          <a:ln w="7620">
            <a:solidFill>
              <a:srgbClr val="FFFFFF">
                <a:alpha val="24000"/>
              </a:srgbClr>
            </a:solidFill>
            <a:prstDash val="solid"/>
          </a:ln>
        </p:spPr>
        <p:txBody>
          <a:bodyPr/>
          <a:lstStyle/>
          <a:p>
            <a:endParaRPr lang="es-ES"/>
          </a:p>
        </p:txBody>
      </p:sp>
      <p:sp>
        <p:nvSpPr>
          <p:cNvPr id="5" name="Shape 3"/>
          <p:cNvSpPr/>
          <p:nvPr/>
        </p:nvSpPr>
        <p:spPr>
          <a:xfrm>
            <a:off x="826532" y="1791891"/>
            <a:ext cx="12977336" cy="440888"/>
          </a:xfrm>
          <a:prstGeom prst="rect">
            <a:avLst/>
          </a:prstGeom>
          <a:solidFill>
            <a:srgbClr val="FFFFFF">
              <a:alpha val="4000"/>
            </a:srgbClr>
          </a:solidFill>
          <a:ln/>
        </p:spPr>
        <p:txBody>
          <a:bodyPr/>
          <a:lstStyle/>
          <a:p>
            <a:endParaRPr lang="es-ES"/>
          </a:p>
        </p:txBody>
      </p:sp>
      <p:sp>
        <p:nvSpPr>
          <p:cNvPr id="6" name="Text 4"/>
          <p:cNvSpPr/>
          <p:nvPr/>
        </p:nvSpPr>
        <p:spPr>
          <a:xfrm>
            <a:off x="979051" y="1890713"/>
            <a:ext cx="131421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Bloc</a:t>
            </a:r>
            <a:endParaRPr lang="en-US" sz="1150" dirty="0"/>
          </a:p>
        </p:txBody>
      </p:sp>
      <p:sp>
        <p:nvSpPr>
          <p:cNvPr id="7" name="Text 5"/>
          <p:cNvSpPr/>
          <p:nvPr/>
        </p:nvSpPr>
        <p:spPr>
          <a:xfrm>
            <a:off x="2604968" y="1890713"/>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RA1</a:t>
            </a:r>
            <a:endParaRPr lang="en-US" sz="1150" dirty="0"/>
          </a:p>
        </p:txBody>
      </p:sp>
      <p:sp>
        <p:nvSpPr>
          <p:cNvPr id="8" name="Text 6"/>
          <p:cNvSpPr/>
          <p:nvPr/>
        </p:nvSpPr>
        <p:spPr>
          <a:xfrm>
            <a:off x="4227076" y="1890713"/>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RA2</a:t>
            </a:r>
            <a:endParaRPr lang="en-US" sz="1150" dirty="0"/>
          </a:p>
        </p:txBody>
      </p:sp>
      <p:sp>
        <p:nvSpPr>
          <p:cNvPr id="9" name="Text 7"/>
          <p:cNvSpPr/>
          <p:nvPr/>
        </p:nvSpPr>
        <p:spPr>
          <a:xfrm>
            <a:off x="5849183" y="1890713"/>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RA3</a:t>
            </a:r>
            <a:endParaRPr lang="en-US" sz="1150" dirty="0"/>
          </a:p>
        </p:txBody>
      </p:sp>
      <p:sp>
        <p:nvSpPr>
          <p:cNvPr id="10" name="Text 8"/>
          <p:cNvSpPr/>
          <p:nvPr/>
        </p:nvSpPr>
        <p:spPr>
          <a:xfrm>
            <a:off x="7471291" y="1890713"/>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RA4</a:t>
            </a:r>
            <a:endParaRPr lang="en-US" sz="1150" dirty="0"/>
          </a:p>
        </p:txBody>
      </p:sp>
      <p:sp>
        <p:nvSpPr>
          <p:cNvPr id="11" name="Text 9"/>
          <p:cNvSpPr/>
          <p:nvPr/>
        </p:nvSpPr>
        <p:spPr>
          <a:xfrm>
            <a:off x="9093398" y="1890713"/>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RA5</a:t>
            </a:r>
            <a:endParaRPr lang="en-US" sz="1150" dirty="0"/>
          </a:p>
        </p:txBody>
      </p:sp>
      <p:sp>
        <p:nvSpPr>
          <p:cNvPr id="12" name="Text 10"/>
          <p:cNvSpPr/>
          <p:nvPr/>
        </p:nvSpPr>
        <p:spPr>
          <a:xfrm>
            <a:off x="10715506" y="1890713"/>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RA6</a:t>
            </a:r>
            <a:endParaRPr lang="en-US" sz="1150" dirty="0"/>
          </a:p>
        </p:txBody>
      </p:sp>
      <p:sp>
        <p:nvSpPr>
          <p:cNvPr id="13" name="Text 11"/>
          <p:cNvSpPr/>
          <p:nvPr/>
        </p:nvSpPr>
        <p:spPr>
          <a:xfrm>
            <a:off x="12337613" y="1890713"/>
            <a:ext cx="131421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 RA</a:t>
            </a:r>
            <a:endParaRPr lang="en-US" sz="1150" dirty="0"/>
          </a:p>
        </p:txBody>
      </p:sp>
      <p:sp>
        <p:nvSpPr>
          <p:cNvPr id="14" name="Shape 12"/>
          <p:cNvSpPr/>
          <p:nvPr/>
        </p:nvSpPr>
        <p:spPr>
          <a:xfrm>
            <a:off x="826532" y="2232779"/>
            <a:ext cx="12977336" cy="440888"/>
          </a:xfrm>
          <a:prstGeom prst="rect">
            <a:avLst/>
          </a:prstGeom>
          <a:solidFill>
            <a:srgbClr val="000000">
              <a:alpha val="4000"/>
            </a:srgbClr>
          </a:solidFill>
          <a:ln/>
        </p:spPr>
        <p:txBody>
          <a:bodyPr/>
          <a:lstStyle/>
          <a:p>
            <a:endParaRPr lang="es-ES"/>
          </a:p>
        </p:txBody>
      </p:sp>
      <p:sp>
        <p:nvSpPr>
          <p:cNvPr id="15" name="Text 13"/>
          <p:cNvSpPr/>
          <p:nvPr/>
        </p:nvSpPr>
        <p:spPr>
          <a:xfrm>
            <a:off x="979051" y="2331601"/>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 Anàlisi</a:t>
            </a:r>
            <a:endParaRPr lang="en-US" sz="1150" dirty="0"/>
          </a:p>
        </p:txBody>
      </p:sp>
      <p:sp>
        <p:nvSpPr>
          <p:cNvPr id="16" name="Text 14"/>
          <p:cNvSpPr/>
          <p:nvPr/>
        </p:nvSpPr>
        <p:spPr>
          <a:xfrm>
            <a:off x="2604968" y="233160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6,5%</a:t>
            </a:r>
            <a:endParaRPr lang="en-US" sz="1150" dirty="0"/>
          </a:p>
        </p:txBody>
      </p:sp>
      <p:sp>
        <p:nvSpPr>
          <p:cNvPr id="17" name="Text 15"/>
          <p:cNvSpPr/>
          <p:nvPr/>
        </p:nvSpPr>
        <p:spPr>
          <a:xfrm>
            <a:off x="4227076" y="233160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18" name="Text 16"/>
          <p:cNvSpPr/>
          <p:nvPr/>
        </p:nvSpPr>
        <p:spPr>
          <a:xfrm>
            <a:off x="5849183" y="233160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19" name="Text 17"/>
          <p:cNvSpPr/>
          <p:nvPr/>
        </p:nvSpPr>
        <p:spPr>
          <a:xfrm>
            <a:off x="7471291" y="233160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20" name="Text 18"/>
          <p:cNvSpPr/>
          <p:nvPr/>
        </p:nvSpPr>
        <p:spPr>
          <a:xfrm>
            <a:off x="9093398" y="233160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21" name="Text 19"/>
          <p:cNvSpPr/>
          <p:nvPr/>
        </p:nvSpPr>
        <p:spPr>
          <a:xfrm>
            <a:off x="10715506" y="233160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3,9%</a:t>
            </a:r>
            <a:endParaRPr lang="en-US" sz="1150" dirty="0"/>
          </a:p>
        </p:txBody>
      </p:sp>
      <p:sp>
        <p:nvSpPr>
          <p:cNvPr id="22" name="Text 20"/>
          <p:cNvSpPr/>
          <p:nvPr/>
        </p:nvSpPr>
        <p:spPr>
          <a:xfrm>
            <a:off x="12337613" y="2331601"/>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11,7%</a:t>
            </a:r>
            <a:endParaRPr lang="en-US" sz="1150" dirty="0"/>
          </a:p>
        </p:txBody>
      </p:sp>
      <p:sp>
        <p:nvSpPr>
          <p:cNvPr id="23" name="Shape 21"/>
          <p:cNvSpPr/>
          <p:nvPr/>
        </p:nvSpPr>
        <p:spPr>
          <a:xfrm>
            <a:off x="826532" y="2673668"/>
            <a:ext cx="12977336" cy="440888"/>
          </a:xfrm>
          <a:prstGeom prst="rect">
            <a:avLst/>
          </a:prstGeom>
          <a:solidFill>
            <a:srgbClr val="FFFFFF">
              <a:alpha val="4000"/>
            </a:srgbClr>
          </a:solidFill>
          <a:ln/>
        </p:spPr>
        <p:txBody>
          <a:bodyPr/>
          <a:lstStyle/>
          <a:p>
            <a:endParaRPr lang="es-ES"/>
          </a:p>
        </p:txBody>
      </p:sp>
      <p:sp>
        <p:nvSpPr>
          <p:cNvPr id="24" name="Text 22"/>
          <p:cNvSpPr/>
          <p:nvPr/>
        </p:nvSpPr>
        <p:spPr>
          <a:xfrm>
            <a:off x="979051" y="2772489"/>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2 Disseny</a:t>
            </a:r>
            <a:endParaRPr lang="en-US" sz="1150" dirty="0"/>
          </a:p>
        </p:txBody>
      </p:sp>
      <p:sp>
        <p:nvSpPr>
          <p:cNvPr id="25" name="Text 23"/>
          <p:cNvSpPr/>
          <p:nvPr/>
        </p:nvSpPr>
        <p:spPr>
          <a:xfrm>
            <a:off x="2604968" y="277248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26" name="Text 24"/>
          <p:cNvSpPr/>
          <p:nvPr/>
        </p:nvSpPr>
        <p:spPr>
          <a:xfrm>
            <a:off x="4227076" y="2772489"/>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27" name="Text 25"/>
          <p:cNvSpPr/>
          <p:nvPr/>
        </p:nvSpPr>
        <p:spPr>
          <a:xfrm>
            <a:off x="5849183" y="277248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28" name="Text 26"/>
          <p:cNvSpPr/>
          <p:nvPr/>
        </p:nvSpPr>
        <p:spPr>
          <a:xfrm>
            <a:off x="7471291" y="2772489"/>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29" name="Text 27"/>
          <p:cNvSpPr/>
          <p:nvPr/>
        </p:nvSpPr>
        <p:spPr>
          <a:xfrm>
            <a:off x="9093398" y="2772489"/>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30" name="Text 28"/>
          <p:cNvSpPr/>
          <p:nvPr/>
        </p:nvSpPr>
        <p:spPr>
          <a:xfrm>
            <a:off x="10715506" y="277248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9,1%</a:t>
            </a:r>
            <a:endParaRPr lang="en-US" sz="1150" dirty="0"/>
          </a:p>
        </p:txBody>
      </p:sp>
      <p:sp>
        <p:nvSpPr>
          <p:cNvPr id="31" name="Text 29"/>
          <p:cNvSpPr/>
          <p:nvPr/>
        </p:nvSpPr>
        <p:spPr>
          <a:xfrm>
            <a:off x="12337613" y="2772489"/>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23,4%</a:t>
            </a:r>
            <a:endParaRPr lang="en-US" sz="1150" dirty="0"/>
          </a:p>
        </p:txBody>
      </p:sp>
      <p:sp>
        <p:nvSpPr>
          <p:cNvPr id="32" name="Shape 30"/>
          <p:cNvSpPr/>
          <p:nvPr/>
        </p:nvSpPr>
        <p:spPr>
          <a:xfrm>
            <a:off x="826532" y="3114556"/>
            <a:ext cx="12977336" cy="684133"/>
          </a:xfrm>
          <a:prstGeom prst="rect">
            <a:avLst/>
          </a:prstGeom>
          <a:solidFill>
            <a:srgbClr val="000000">
              <a:alpha val="4000"/>
            </a:srgbClr>
          </a:solidFill>
          <a:ln/>
        </p:spPr>
        <p:txBody>
          <a:bodyPr/>
          <a:lstStyle/>
          <a:p>
            <a:endParaRPr lang="es-ES"/>
          </a:p>
        </p:txBody>
      </p:sp>
      <p:sp>
        <p:nvSpPr>
          <p:cNvPr id="33" name="Text 31"/>
          <p:cNvSpPr/>
          <p:nvPr/>
        </p:nvSpPr>
        <p:spPr>
          <a:xfrm>
            <a:off x="979051" y="3213378"/>
            <a:ext cx="1314212" cy="486489"/>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3 HTML - Estructura</a:t>
            </a:r>
            <a:endParaRPr lang="en-US" sz="1150" dirty="0"/>
          </a:p>
        </p:txBody>
      </p:sp>
      <p:sp>
        <p:nvSpPr>
          <p:cNvPr id="34" name="Text 32"/>
          <p:cNvSpPr/>
          <p:nvPr/>
        </p:nvSpPr>
        <p:spPr>
          <a:xfrm>
            <a:off x="2604968" y="3213378"/>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2,6%</a:t>
            </a:r>
            <a:endParaRPr lang="en-US" sz="1150" dirty="0"/>
          </a:p>
        </p:txBody>
      </p:sp>
      <p:sp>
        <p:nvSpPr>
          <p:cNvPr id="35" name="Text 33"/>
          <p:cNvSpPr/>
          <p:nvPr/>
        </p:nvSpPr>
        <p:spPr>
          <a:xfrm>
            <a:off x="4227076" y="3213378"/>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36" name="Text 34"/>
          <p:cNvSpPr/>
          <p:nvPr/>
        </p:nvSpPr>
        <p:spPr>
          <a:xfrm>
            <a:off x="5849183" y="3213378"/>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37" name="Text 35"/>
          <p:cNvSpPr/>
          <p:nvPr/>
        </p:nvSpPr>
        <p:spPr>
          <a:xfrm>
            <a:off x="7471291" y="3213378"/>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38" name="Text 36"/>
          <p:cNvSpPr/>
          <p:nvPr/>
        </p:nvSpPr>
        <p:spPr>
          <a:xfrm>
            <a:off x="9093398" y="3213378"/>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6,5%</a:t>
            </a:r>
            <a:endParaRPr lang="en-US" sz="1150" dirty="0"/>
          </a:p>
        </p:txBody>
      </p:sp>
      <p:sp>
        <p:nvSpPr>
          <p:cNvPr id="39" name="Text 37"/>
          <p:cNvSpPr/>
          <p:nvPr/>
        </p:nvSpPr>
        <p:spPr>
          <a:xfrm>
            <a:off x="10715506" y="3213378"/>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2,6%</a:t>
            </a:r>
            <a:endParaRPr lang="en-US" sz="1150" dirty="0"/>
          </a:p>
        </p:txBody>
      </p:sp>
      <p:sp>
        <p:nvSpPr>
          <p:cNvPr id="40" name="Text 38"/>
          <p:cNvSpPr/>
          <p:nvPr/>
        </p:nvSpPr>
        <p:spPr>
          <a:xfrm>
            <a:off x="12337613" y="3213378"/>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14,3%</a:t>
            </a:r>
            <a:endParaRPr lang="en-US" sz="1150" dirty="0"/>
          </a:p>
        </p:txBody>
      </p:sp>
      <p:sp>
        <p:nvSpPr>
          <p:cNvPr id="41" name="Shape 39"/>
          <p:cNvSpPr/>
          <p:nvPr/>
        </p:nvSpPr>
        <p:spPr>
          <a:xfrm>
            <a:off x="826532" y="3798689"/>
            <a:ext cx="12977336" cy="440888"/>
          </a:xfrm>
          <a:prstGeom prst="rect">
            <a:avLst/>
          </a:prstGeom>
          <a:solidFill>
            <a:srgbClr val="FFFFFF">
              <a:alpha val="4000"/>
            </a:srgbClr>
          </a:solidFill>
          <a:ln/>
        </p:spPr>
        <p:txBody>
          <a:bodyPr/>
          <a:lstStyle/>
          <a:p>
            <a:endParaRPr lang="es-ES"/>
          </a:p>
        </p:txBody>
      </p:sp>
      <p:sp>
        <p:nvSpPr>
          <p:cNvPr id="42" name="Text 40"/>
          <p:cNvSpPr/>
          <p:nvPr/>
        </p:nvSpPr>
        <p:spPr>
          <a:xfrm>
            <a:off x="979051" y="3897511"/>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4 CSS - Estils</a:t>
            </a:r>
            <a:endParaRPr lang="en-US" sz="1150" dirty="0"/>
          </a:p>
        </p:txBody>
      </p:sp>
      <p:sp>
        <p:nvSpPr>
          <p:cNvPr id="43" name="Text 41"/>
          <p:cNvSpPr/>
          <p:nvPr/>
        </p:nvSpPr>
        <p:spPr>
          <a:xfrm>
            <a:off x="2604968" y="389751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5,2%</a:t>
            </a:r>
            <a:endParaRPr lang="en-US" sz="1150" dirty="0"/>
          </a:p>
        </p:txBody>
      </p:sp>
      <p:sp>
        <p:nvSpPr>
          <p:cNvPr id="44" name="Text 42"/>
          <p:cNvSpPr/>
          <p:nvPr/>
        </p:nvSpPr>
        <p:spPr>
          <a:xfrm>
            <a:off x="4227076" y="389751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9,1%</a:t>
            </a:r>
            <a:endParaRPr lang="en-US" sz="1150" dirty="0"/>
          </a:p>
        </p:txBody>
      </p:sp>
      <p:sp>
        <p:nvSpPr>
          <p:cNvPr id="45" name="Text 43"/>
          <p:cNvSpPr/>
          <p:nvPr/>
        </p:nvSpPr>
        <p:spPr>
          <a:xfrm>
            <a:off x="5849183" y="389751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46" name="Text 44"/>
          <p:cNvSpPr/>
          <p:nvPr/>
        </p:nvSpPr>
        <p:spPr>
          <a:xfrm>
            <a:off x="7471291" y="389751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47" name="Text 45"/>
          <p:cNvSpPr/>
          <p:nvPr/>
        </p:nvSpPr>
        <p:spPr>
          <a:xfrm>
            <a:off x="9093398" y="389751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3,9%</a:t>
            </a:r>
            <a:endParaRPr lang="en-US" sz="1150" dirty="0"/>
          </a:p>
        </p:txBody>
      </p:sp>
      <p:sp>
        <p:nvSpPr>
          <p:cNvPr id="48" name="Text 46"/>
          <p:cNvSpPr/>
          <p:nvPr/>
        </p:nvSpPr>
        <p:spPr>
          <a:xfrm>
            <a:off x="10715506" y="389751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5,2%</a:t>
            </a:r>
            <a:endParaRPr lang="en-US" sz="1150" dirty="0"/>
          </a:p>
        </p:txBody>
      </p:sp>
      <p:sp>
        <p:nvSpPr>
          <p:cNvPr id="49" name="Text 47"/>
          <p:cNvSpPr/>
          <p:nvPr/>
        </p:nvSpPr>
        <p:spPr>
          <a:xfrm>
            <a:off x="12337613" y="3897511"/>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24,7%</a:t>
            </a:r>
            <a:endParaRPr lang="en-US" sz="1150" dirty="0"/>
          </a:p>
        </p:txBody>
      </p:sp>
      <p:sp>
        <p:nvSpPr>
          <p:cNvPr id="50" name="Shape 48"/>
          <p:cNvSpPr/>
          <p:nvPr/>
        </p:nvSpPr>
        <p:spPr>
          <a:xfrm>
            <a:off x="826532" y="4239578"/>
            <a:ext cx="12977336" cy="684133"/>
          </a:xfrm>
          <a:prstGeom prst="rect">
            <a:avLst/>
          </a:prstGeom>
          <a:solidFill>
            <a:srgbClr val="000000">
              <a:alpha val="4000"/>
            </a:srgbClr>
          </a:solidFill>
          <a:ln/>
        </p:spPr>
        <p:txBody>
          <a:bodyPr/>
          <a:lstStyle/>
          <a:p>
            <a:endParaRPr lang="es-ES"/>
          </a:p>
        </p:txBody>
      </p:sp>
      <p:sp>
        <p:nvSpPr>
          <p:cNvPr id="51" name="Text 49"/>
          <p:cNvSpPr/>
          <p:nvPr/>
        </p:nvSpPr>
        <p:spPr>
          <a:xfrm>
            <a:off x="979051" y="4338399"/>
            <a:ext cx="1314212" cy="486489"/>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5 Contingut multimèdia</a:t>
            </a:r>
            <a:endParaRPr lang="en-US" sz="1150" dirty="0"/>
          </a:p>
        </p:txBody>
      </p:sp>
      <p:sp>
        <p:nvSpPr>
          <p:cNvPr id="52" name="Text 50"/>
          <p:cNvSpPr/>
          <p:nvPr/>
        </p:nvSpPr>
        <p:spPr>
          <a:xfrm>
            <a:off x="2604968" y="4338399"/>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53" name="Text 51"/>
          <p:cNvSpPr/>
          <p:nvPr/>
        </p:nvSpPr>
        <p:spPr>
          <a:xfrm>
            <a:off x="4227076" y="4338399"/>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54" name="Text 52"/>
          <p:cNvSpPr/>
          <p:nvPr/>
        </p:nvSpPr>
        <p:spPr>
          <a:xfrm>
            <a:off x="5849183" y="433839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5,2%</a:t>
            </a:r>
            <a:endParaRPr lang="en-US" sz="1150" dirty="0"/>
          </a:p>
        </p:txBody>
      </p:sp>
      <p:sp>
        <p:nvSpPr>
          <p:cNvPr id="55" name="Text 53"/>
          <p:cNvSpPr/>
          <p:nvPr/>
        </p:nvSpPr>
        <p:spPr>
          <a:xfrm>
            <a:off x="7471291" y="433839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56" name="Text 54"/>
          <p:cNvSpPr/>
          <p:nvPr/>
        </p:nvSpPr>
        <p:spPr>
          <a:xfrm>
            <a:off x="9093398" y="433839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57" name="Text 55"/>
          <p:cNvSpPr/>
          <p:nvPr/>
        </p:nvSpPr>
        <p:spPr>
          <a:xfrm>
            <a:off x="10715506" y="4338399"/>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58" name="Text 56"/>
          <p:cNvSpPr/>
          <p:nvPr/>
        </p:nvSpPr>
        <p:spPr>
          <a:xfrm>
            <a:off x="12337613" y="4338399"/>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9,1%</a:t>
            </a:r>
            <a:endParaRPr lang="en-US" sz="1150" dirty="0"/>
          </a:p>
        </p:txBody>
      </p:sp>
      <p:sp>
        <p:nvSpPr>
          <p:cNvPr id="59" name="Shape 57"/>
          <p:cNvSpPr/>
          <p:nvPr/>
        </p:nvSpPr>
        <p:spPr>
          <a:xfrm>
            <a:off x="826532" y="4923711"/>
            <a:ext cx="12977336" cy="440888"/>
          </a:xfrm>
          <a:prstGeom prst="rect">
            <a:avLst/>
          </a:prstGeom>
          <a:solidFill>
            <a:srgbClr val="FFFFFF">
              <a:alpha val="4000"/>
            </a:srgbClr>
          </a:solidFill>
          <a:ln/>
        </p:spPr>
        <p:txBody>
          <a:bodyPr/>
          <a:lstStyle/>
          <a:p>
            <a:endParaRPr lang="es-ES"/>
          </a:p>
        </p:txBody>
      </p:sp>
      <p:sp>
        <p:nvSpPr>
          <p:cNvPr id="60" name="Text 58"/>
          <p:cNvSpPr/>
          <p:nvPr/>
        </p:nvSpPr>
        <p:spPr>
          <a:xfrm>
            <a:off x="979051" y="5022533"/>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6 Interactivitat</a:t>
            </a:r>
            <a:endParaRPr lang="en-US" sz="1150" dirty="0"/>
          </a:p>
        </p:txBody>
      </p:sp>
      <p:sp>
        <p:nvSpPr>
          <p:cNvPr id="61" name="Text 59"/>
          <p:cNvSpPr/>
          <p:nvPr/>
        </p:nvSpPr>
        <p:spPr>
          <a:xfrm>
            <a:off x="2604968" y="5022533"/>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62" name="Text 60"/>
          <p:cNvSpPr/>
          <p:nvPr/>
        </p:nvSpPr>
        <p:spPr>
          <a:xfrm>
            <a:off x="4227076" y="5022533"/>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63" name="Text 61"/>
          <p:cNvSpPr/>
          <p:nvPr/>
        </p:nvSpPr>
        <p:spPr>
          <a:xfrm>
            <a:off x="5849183" y="5022533"/>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64" name="Text 62"/>
          <p:cNvSpPr/>
          <p:nvPr/>
        </p:nvSpPr>
        <p:spPr>
          <a:xfrm>
            <a:off x="7471291" y="5022533"/>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3,9%</a:t>
            </a:r>
            <a:endParaRPr lang="en-US" sz="1150" dirty="0"/>
          </a:p>
        </p:txBody>
      </p:sp>
      <p:sp>
        <p:nvSpPr>
          <p:cNvPr id="65" name="Text 63"/>
          <p:cNvSpPr/>
          <p:nvPr/>
        </p:nvSpPr>
        <p:spPr>
          <a:xfrm>
            <a:off x="9093398" y="5022533"/>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2,6%</a:t>
            </a:r>
            <a:endParaRPr lang="en-US" sz="1150" dirty="0"/>
          </a:p>
        </p:txBody>
      </p:sp>
      <p:sp>
        <p:nvSpPr>
          <p:cNvPr id="66" name="Text 64"/>
          <p:cNvSpPr/>
          <p:nvPr/>
        </p:nvSpPr>
        <p:spPr>
          <a:xfrm>
            <a:off x="10715506" y="5022533"/>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3,9%</a:t>
            </a:r>
            <a:endParaRPr lang="en-US" sz="1150" dirty="0"/>
          </a:p>
        </p:txBody>
      </p:sp>
      <p:sp>
        <p:nvSpPr>
          <p:cNvPr id="67" name="Text 65"/>
          <p:cNvSpPr/>
          <p:nvPr/>
        </p:nvSpPr>
        <p:spPr>
          <a:xfrm>
            <a:off x="12337613" y="5022533"/>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11,7%</a:t>
            </a:r>
            <a:endParaRPr lang="en-US" sz="1150" dirty="0"/>
          </a:p>
        </p:txBody>
      </p:sp>
      <p:sp>
        <p:nvSpPr>
          <p:cNvPr id="68" name="Shape 66"/>
          <p:cNvSpPr/>
          <p:nvPr/>
        </p:nvSpPr>
        <p:spPr>
          <a:xfrm>
            <a:off x="826532" y="5364599"/>
            <a:ext cx="12977336" cy="684133"/>
          </a:xfrm>
          <a:prstGeom prst="rect">
            <a:avLst/>
          </a:prstGeom>
          <a:solidFill>
            <a:srgbClr val="000000">
              <a:alpha val="4000"/>
            </a:srgbClr>
          </a:solidFill>
          <a:ln/>
        </p:spPr>
        <p:txBody>
          <a:bodyPr/>
          <a:lstStyle/>
          <a:p>
            <a:endParaRPr lang="es-ES"/>
          </a:p>
        </p:txBody>
      </p:sp>
      <p:sp>
        <p:nvSpPr>
          <p:cNvPr id="69" name="Text 67"/>
          <p:cNvSpPr/>
          <p:nvPr/>
        </p:nvSpPr>
        <p:spPr>
          <a:xfrm>
            <a:off x="979051" y="5463421"/>
            <a:ext cx="1314212" cy="486489"/>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7 Propietat intel·lectual</a:t>
            </a:r>
            <a:endParaRPr lang="en-US" sz="1150" dirty="0"/>
          </a:p>
        </p:txBody>
      </p:sp>
      <p:sp>
        <p:nvSpPr>
          <p:cNvPr id="70" name="Text 68"/>
          <p:cNvSpPr/>
          <p:nvPr/>
        </p:nvSpPr>
        <p:spPr>
          <a:xfrm>
            <a:off x="2604968" y="546342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71" name="Text 69"/>
          <p:cNvSpPr/>
          <p:nvPr/>
        </p:nvSpPr>
        <p:spPr>
          <a:xfrm>
            <a:off x="4227076" y="546342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72" name="Text 70"/>
          <p:cNvSpPr/>
          <p:nvPr/>
        </p:nvSpPr>
        <p:spPr>
          <a:xfrm>
            <a:off x="5849183" y="5463421"/>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5,2%</a:t>
            </a:r>
            <a:endParaRPr lang="en-US" sz="1150" dirty="0"/>
          </a:p>
        </p:txBody>
      </p:sp>
      <p:sp>
        <p:nvSpPr>
          <p:cNvPr id="73" name="Text 71"/>
          <p:cNvSpPr/>
          <p:nvPr/>
        </p:nvSpPr>
        <p:spPr>
          <a:xfrm>
            <a:off x="7471291" y="546342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74" name="Text 72"/>
          <p:cNvSpPr/>
          <p:nvPr/>
        </p:nvSpPr>
        <p:spPr>
          <a:xfrm>
            <a:off x="9093398" y="546342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75" name="Text 73"/>
          <p:cNvSpPr/>
          <p:nvPr/>
        </p:nvSpPr>
        <p:spPr>
          <a:xfrm>
            <a:off x="10715506" y="5463421"/>
            <a:ext cx="131040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76" name="Text 74"/>
          <p:cNvSpPr/>
          <p:nvPr/>
        </p:nvSpPr>
        <p:spPr>
          <a:xfrm>
            <a:off x="12337613" y="5463421"/>
            <a:ext cx="131421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5,2%</a:t>
            </a:r>
            <a:endParaRPr lang="en-US" sz="1150" dirty="0"/>
          </a:p>
        </p:txBody>
      </p:sp>
      <p:sp>
        <p:nvSpPr>
          <p:cNvPr id="77" name="Shape 75"/>
          <p:cNvSpPr/>
          <p:nvPr/>
        </p:nvSpPr>
        <p:spPr>
          <a:xfrm>
            <a:off x="826532" y="6048732"/>
            <a:ext cx="12977336" cy="684133"/>
          </a:xfrm>
          <a:prstGeom prst="rect">
            <a:avLst/>
          </a:prstGeom>
          <a:solidFill>
            <a:srgbClr val="FFFFFF">
              <a:alpha val="4000"/>
            </a:srgbClr>
          </a:solidFill>
          <a:ln/>
        </p:spPr>
        <p:txBody>
          <a:bodyPr/>
          <a:lstStyle/>
          <a:p>
            <a:endParaRPr lang="es-ES"/>
          </a:p>
        </p:txBody>
      </p:sp>
      <p:sp>
        <p:nvSpPr>
          <p:cNvPr id="78" name="Text 76"/>
          <p:cNvSpPr/>
          <p:nvPr/>
        </p:nvSpPr>
        <p:spPr>
          <a:xfrm>
            <a:off x="979051" y="6147554"/>
            <a:ext cx="1314212" cy="486489"/>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8 Preparació i presentacions</a:t>
            </a:r>
            <a:endParaRPr lang="en-US" sz="1150" dirty="0"/>
          </a:p>
        </p:txBody>
      </p:sp>
      <p:sp>
        <p:nvSpPr>
          <p:cNvPr id="79" name="Text 77"/>
          <p:cNvSpPr/>
          <p:nvPr/>
        </p:nvSpPr>
        <p:spPr>
          <a:xfrm>
            <a:off x="2604968" y="6147554"/>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X</a:t>
            </a:r>
            <a:endParaRPr lang="en-US" sz="1150" dirty="0"/>
          </a:p>
        </p:txBody>
      </p:sp>
      <p:sp>
        <p:nvSpPr>
          <p:cNvPr id="80" name="Text 78"/>
          <p:cNvSpPr/>
          <p:nvPr/>
        </p:nvSpPr>
        <p:spPr>
          <a:xfrm>
            <a:off x="4227076" y="6147554"/>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X</a:t>
            </a:r>
            <a:endParaRPr lang="en-US" sz="1150" dirty="0"/>
          </a:p>
        </p:txBody>
      </p:sp>
      <p:sp>
        <p:nvSpPr>
          <p:cNvPr id="81" name="Text 79"/>
          <p:cNvSpPr/>
          <p:nvPr/>
        </p:nvSpPr>
        <p:spPr>
          <a:xfrm>
            <a:off x="5849183" y="6147554"/>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X</a:t>
            </a:r>
            <a:endParaRPr lang="en-US" sz="1150" dirty="0"/>
          </a:p>
        </p:txBody>
      </p:sp>
      <p:sp>
        <p:nvSpPr>
          <p:cNvPr id="82" name="Text 80"/>
          <p:cNvSpPr/>
          <p:nvPr/>
        </p:nvSpPr>
        <p:spPr>
          <a:xfrm>
            <a:off x="7471291" y="6147554"/>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X</a:t>
            </a:r>
            <a:endParaRPr lang="en-US" sz="1150" dirty="0"/>
          </a:p>
        </p:txBody>
      </p:sp>
      <p:sp>
        <p:nvSpPr>
          <p:cNvPr id="83" name="Text 81"/>
          <p:cNvSpPr/>
          <p:nvPr/>
        </p:nvSpPr>
        <p:spPr>
          <a:xfrm>
            <a:off x="9093398" y="6147554"/>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X</a:t>
            </a:r>
            <a:endParaRPr lang="en-US" sz="1150" dirty="0"/>
          </a:p>
        </p:txBody>
      </p:sp>
      <p:sp>
        <p:nvSpPr>
          <p:cNvPr id="84" name="Text 82"/>
          <p:cNvSpPr/>
          <p:nvPr/>
        </p:nvSpPr>
        <p:spPr>
          <a:xfrm>
            <a:off x="10715506" y="6147554"/>
            <a:ext cx="1310402"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X</a:t>
            </a:r>
            <a:endParaRPr lang="en-US" sz="1150" dirty="0"/>
          </a:p>
        </p:txBody>
      </p:sp>
      <p:sp>
        <p:nvSpPr>
          <p:cNvPr id="85" name="Text 83"/>
          <p:cNvSpPr/>
          <p:nvPr/>
        </p:nvSpPr>
        <p:spPr>
          <a:xfrm>
            <a:off x="12337613" y="6147554"/>
            <a:ext cx="1314212" cy="243245"/>
          </a:xfrm>
          <a:prstGeom prst="rect">
            <a:avLst/>
          </a:prstGeom>
          <a:noFill/>
          <a:ln/>
        </p:spPr>
        <p:txBody>
          <a:bodyPr wrap="none" lIns="0" tIns="0" rIns="0" bIns="0" rtlCol="0" anchor="t"/>
          <a:lstStyle/>
          <a:p>
            <a:pPr marL="0" indent="0" algn="l">
              <a:lnSpc>
                <a:spcPts val="1900"/>
              </a:lnSpc>
              <a:buNone/>
            </a:pPr>
            <a:endParaRPr lang="en-US" sz="1150" dirty="0"/>
          </a:p>
        </p:txBody>
      </p:sp>
      <p:sp>
        <p:nvSpPr>
          <p:cNvPr id="86" name="Shape 84"/>
          <p:cNvSpPr/>
          <p:nvPr/>
        </p:nvSpPr>
        <p:spPr>
          <a:xfrm>
            <a:off x="826532" y="6732865"/>
            <a:ext cx="12977336" cy="440888"/>
          </a:xfrm>
          <a:prstGeom prst="rect">
            <a:avLst/>
          </a:prstGeom>
          <a:solidFill>
            <a:srgbClr val="000000">
              <a:alpha val="4000"/>
            </a:srgbClr>
          </a:solidFill>
          <a:ln/>
        </p:spPr>
        <p:txBody>
          <a:bodyPr/>
          <a:lstStyle/>
          <a:p>
            <a:endParaRPr lang="es-ES"/>
          </a:p>
        </p:txBody>
      </p:sp>
      <p:sp>
        <p:nvSpPr>
          <p:cNvPr id="87" name="Text 85"/>
          <p:cNvSpPr/>
          <p:nvPr/>
        </p:nvSpPr>
        <p:spPr>
          <a:xfrm>
            <a:off x="979051" y="6831687"/>
            <a:ext cx="131421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%RA</a:t>
            </a:r>
            <a:endParaRPr lang="en-US" sz="1150" dirty="0"/>
          </a:p>
        </p:txBody>
      </p:sp>
      <p:sp>
        <p:nvSpPr>
          <p:cNvPr id="88" name="Text 86"/>
          <p:cNvSpPr/>
          <p:nvPr/>
        </p:nvSpPr>
        <p:spPr>
          <a:xfrm>
            <a:off x="2604968" y="6831687"/>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28,6%</a:t>
            </a:r>
            <a:endParaRPr lang="en-US" sz="1150" dirty="0"/>
          </a:p>
        </p:txBody>
      </p:sp>
      <p:sp>
        <p:nvSpPr>
          <p:cNvPr id="89" name="Text 87"/>
          <p:cNvSpPr/>
          <p:nvPr/>
        </p:nvSpPr>
        <p:spPr>
          <a:xfrm>
            <a:off x="4227076" y="6831687"/>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10,4%</a:t>
            </a:r>
            <a:endParaRPr lang="en-US" sz="1150" dirty="0"/>
          </a:p>
        </p:txBody>
      </p:sp>
      <p:sp>
        <p:nvSpPr>
          <p:cNvPr id="90" name="Text 88"/>
          <p:cNvSpPr/>
          <p:nvPr/>
        </p:nvSpPr>
        <p:spPr>
          <a:xfrm>
            <a:off x="5849183" y="6831687"/>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13%</a:t>
            </a:r>
            <a:endParaRPr lang="en-US" sz="1150" dirty="0"/>
          </a:p>
        </p:txBody>
      </p:sp>
      <p:sp>
        <p:nvSpPr>
          <p:cNvPr id="91" name="Text 89"/>
          <p:cNvSpPr/>
          <p:nvPr/>
        </p:nvSpPr>
        <p:spPr>
          <a:xfrm>
            <a:off x="7471291" y="6831687"/>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6,5%</a:t>
            </a:r>
            <a:endParaRPr lang="en-US" sz="1150" dirty="0"/>
          </a:p>
        </p:txBody>
      </p:sp>
      <p:sp>
        <p:nvSpPr>
          <p:cNvPr id="92" name="Text 90"/>
          <p:cNvSpPr/>
          <p:nvPr/>
        </p:nvSpPr>
        <p:spPr>
          <a:xfrm>
            <a:off x="9093398" y="6831687"/>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15,6%</a:t>
            </a:r>
            <a:endParaRPr lang="en-US" sz="1150" dirty="0"/>
          </a:p>
        </p:txBody>
      </p:sp>
      <p:sp>
        <p:nvSpPr>
          <p:cNvPr id="93" name="Text 91"/>
          <p:cNvSpPr/>
          <p:nvPr/>
        </p:nvSpPr>
        <p:spPr>
          <a:xfrm>
            <a:off x="10715506" y="6831687"/>
            <a:ext cx="131040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26%</a:t>
            </a:r>
            <a:endParaRPr lang="en-US" sz="1150" dirty="0"/>
          </a:p>
        </p:txBody>
      </p:sp>
      <p:sp>
        <p:nvSpPr>
          <p:cNvPr id="94" name="Text 92"/>
          <p:cNvSpPr/>
          <p:nvPr/>
        </p:nvSpPr>
        <p:spPr>
          <a:xfrm>
            <a:off x="12337613" y="6831687"/>
            <a:ext cx="1314212" cy="243245"/>
          </a:xfrm>
          <a:prstGeom prst="rect">
            <a:avLst/>
          </a:prstGeom>
          <a:noFill/>
          <a:ln/>
        </p:spPr>
        <p:txBody>
          <a:bodyPr wrap="none" lIns="0" tIns="0" rIns="0" bIns="0" rtlCol="0" anchor="t"/>
          <a:lstStyle/>
          <a:p>
            <a:pPr marL="0" indent="0" algn="l">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100%</a:t>
            </a:r>
            <a:endParaRPr lang="en-US" sz="1150" dirty="0"/>
          </a:p>
        </p:txBody>
      </p:sp>
      <p:sp>
        <p:nvSpPr>
          <p:cNvPr id="95" name="Text 93"/>
          <p:cNvSpPr/>
          <p:nvPr/>
        </p:nvSpPr>
        <p:spPr>
          <a:xfrm>
            <a:off x="818912" y="7352467"/>
            <a:ext cx="12992576" cy="243245"/>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La fase de disseny i CSS representa prop del 50% de la qualificació final, reflectint la importància de l'aspecte visual en el desenvolupament d'interfícies web.</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23305" y="568285"/>
            <a:ext cx="3584377" cy="373023"/>
          </a:xfrm>
          <a:prstGeom prst="rect">
            <a:avLst/>
          </a:prstGeom>
          <a:noFill/>
          <a:ln/>
        </p:spPr>
        <p:txBody>
          <a:bodyPr wrap="none" lIns="0" tIns="0" rIns="0" bIns="0" rtlCol="0" anchor="t"/>
          <a:lstStyle/>
          <a:p>
            <a:pPr marL="0" indent="0" algn="l">
              <a:lnSpc>
                <a:spcPts val="2900"/>
              </a:lnSpc>
              <a:buNone/>
            </a:pPr>
            <a:r>
              <a:rPr lang="en-US" sz="2350" b="1" dirty="0">
                <a:solidFill>
                  <a:srgbClr val="FFE14D"/>
                </a:solidFill>
                <a:latin typeface="Comfortaa Bold" pitchFamily="34" charset="0"/>
                <a:ea typeface="Comfortaa Bold" pitchFamily="34" charset="-122"/>
                <a:cs typeface="Comfortaa Bold" pitchFamily="34" charset="-120"/>
              </a:rPr>
              <a:t>Criteris de qualificació</a:t>
            </a:r>
            <a:endParaRPr lang="en-US" sz="2350" dirty="0"/>
          </a:p>
        </p:txBody>
      </p:sp>
      <p:sp>
        <p:nvSpPr>
          <p:cNvPr id="3" name="Text 1"/>
          <p:cNvSpPr/>
          <p:nvPr/>
        </p:nvSpPr>
        <p:spPr>
          <a:xfrm>
            <a:off x="723305" y="1209913"/>
            <a:ext cx="131837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La següent taula mostra la distribució detallada de percentatges per activitats i resultats d'aprenentatge.</a:t>
            </a:r>
            <a:endParaRPr lang="en-US" sz="1050" dirty="0"/>
          </a:p>
        </p:txBody>
      </p:sp>
      <p:sp>
        <p:nvSpPr>
          <p:cNvPr id="4" name="Shape 2"/>
          <p:cNvSpPr/>
          <p:nvPr/>
        </p:nvSpPr>
        <p:spPr>
          <a:xfrm>
            <a:off x="723305" y="1575792"/>
            <a:ext cx="13183791" cy="5720715"/>
          </a:xfrm>
          <a:prstGeom prst="roundRect">
            <a:avLst>
              <a:gd name="adj" fmla="val 3522"/>
            </a:avLst>
          </a:prstGeom>
          <a:noFill/>
          <a:ln w="7620">
            <a:solidFill>
              <a:srgbClr val="FFFFFF">
                <a:alpha val="24000"/>
              </a:srgbClr>
            </a:solidFill>
            <a:prstDash val="solid"/>
          </a:ln>
        </p:spPr>
        <p:txBody>
          <a:bodyPr/>
          <a:lstStyle/>
          <a:p>
            <a:endParaRPr lang="es-ES"/>
          </a:p>
        </p:txBody>
      </p:sp>
      <p:sp>
        <p:nvSpPr>
          <p:cNvPr id="5" name="Shape 3"/>
          <p:cNvSpPr/>
          <p:nvPr/>
        </p:nvSpPr>
        <p:spPr>
          <a:xfrm>
            <a:off x="730925" y="1583412"/>
            <a:ext cx="13168551" cy="391001"/>
          </a:xfrm>
          <a:prstGeom prst="rect">
            <a:avLst/>
          </a:prstGeom>
          <a:solidFill>
            <a:srgbClr val="FFFFFF">
              <a:alpha val="4000"/>
            </a:srgbClr>
          </a:solidFill>
          <a:ln/>
        </p:spPr>
        <p:txBody>
          <a:bodyPr/>
          <a:lstStyle/>
          <a:p>
            <a:endParaRPr lang="es-ES"/>
          </a:p>
        </p:txBody>
      </p:sp>
      <p:sp>
        <p:nvSpPr>
          <p:cNvPr id="6" name="Text 4"/>
          <p:cNvSpPr/>
          <p:nvPr/>
        </p:nvSpPr>
        <p:spPr>
          <a:xfrm>
            <a:off x="865465" y="1671518"/>
            <a:ext cx="38600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 name="Text 5"/>
          <p:cNvSpPr/>
          <p:nvPr/>
        </p:nvSpPr>
        <p:spPr>
          <a:xfrm>
            <a:off x="1527691" y="167151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 name="Text 6"/>
          <p:cNvSpPr/>
          <p:nvPr/>
        </p:nvSpPr>
        <p:spPr>
          <a:xfrm>
            <a:off x="2186107" y="1671518"/>
            <a:ext cx="5649516"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Avaluació 1</a:t>
            </a:r>
            <a:endParaRPr lang="en-US" sz="1050" dirty="0"/>
          </a:p>
        </p:txBody>
      </p:sp>
      <p:sp>
        <p:nvSpPr>
          <p:cNvPr id="9" name="Text 7"/>
          <p:cNvSpPr/>
          <p:nvPr/>
        </p:nvSpPr>
        <p:spPr>
          <a:xfrm>
            <a:off x="8111847" y="1671518"/>
            <a:ext cx="4991100"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Avaluació 2</a:t>
            </a:r>
            <a:endParaRPr lang="en-US" sz="1050" dirty="0"/>
          </a:p>
        </p:txBody>
      </p:sp>
      <p:sp>
        <p:nvSpPr>
          <p:cNvPr id="10" name="Text 8"/>
          <p:cNvSpPr/>
          <p:nvPr/>
        </p:nvSpPr>
        <p:spPr>
          <a:xfrm>
            <a:off x="13379172" y="1671518"/>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Total</a:t>
            </a:r>
            <a:endParaRPr lang="en-US" sz="1050" dirty="0"/>
          </a:p>
        </p:txBody>
      </p:sp>
      <p:sp>
        <p:nvSpPr>
          <p:cNvPr id="11" name="Shape 9"/>
          <p:cNvSpPr/>
          <p:nvPr/>
        </p:nvSpPr>
        <p:spPr>
          <a:xfrm>
            <a:off x="730925" y="1974413"/>
            <a:ext cx="13168551" cy="605790"/>
          </a:xfrm>
          <a:prstGeom prst="rect">
            <a:avLst/>
          </a:prstGeom>
          <a:solidFill>
            <a:srgbClr val="000000">
              <a:alpha val="4000"/>
            </a:srgbClr>
          </a:solidFill>
          <a:ln/>
        </p:spPr>
        <p:txBody>
          <a:bodyPr/>
          <a:lstStyle/>
          <a:p>
            <a:endParaRPr lang="es-ES"/>
          </a:p>
        </p:txBody>
      </p:sp>
      <p:sp>
        <p:nvSpPr>
          <p:cNvPr id="12" name="Text 10"/>
          <p:cNvSpPr/>
          <p:nvPr/>
        </p:nvSpPr>
        <p:spPr>
          <a:xfrm>
            <a:off x="865465" y="2062520"/>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a:t>
            </a:r>
            <a:endParaRPr lang="en-US" sz="1050" dirty="0"/>
          </a:p>
        </p:txBody>
      </p:sp>
      <p:sp>
        <p:nvSpPr>
          <p:cNvPr id="13" name="Text 11"/>
          <p:cNvSpPr/>
          <p:nvPr/>
        </p:nvSpPr>
        <p:spPr>
          <a:xfrm>
            <a:off x="1527691"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a:t>
            </a:r>
            <a:endParaRPr lang="en-US" sz="1050" dirty="0"/>
          </a:p>
        </p:txBody>
      </p:sp>
      <p:sp>
        <p:nvSpPr>
          <p:cNvPr id="14" name="Text 12"/>
          <p:cNvSpPr/>
          <p:nvPr/>
        </p:nvSpPr>
        <p:spPr>
          <a:xfrm>
            <a:off x="2186107"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2</a:t>
            </a:r>
            <a:endParaRPr lang="en-US" sz="1050" dirty="0"/>
          </a:p>
        </p:txBody>
      </p:sp>
      <p:sp>
        <p:nvSpPr>
          <p:cNvPr id="15" name="Text 13"/>
          <p:cNvSpPr/>
          <p:nvPr/>
        </p:nvSpPr>
        <p:spPr>
          <a:xfrm>
            <a:off x="2844522"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3</a:t>
            </a:r>
            <a:endParaRPr lang="en-US" sz="1050" dirty="0"/>
          </a:p>
        </p:txBody>
      </p:sp>
      <p:sp>
        <p:nvSpPr>
          <p:cNvPr id="16" name="Text 14"/>
          <p:cNvSpPr/>
          <p:nvPr/>
        </p:nvSpPr>
        <p:spPr>
          <a:xfrm>
            <a:off x="3502938"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4</a:t>
            </a:r>
            <a:endParaRPr lang="en-US" sz="1050" dirty="0"/>
          </a:p>
        </p:txBody>
      </p:sp>
      <p:sp>
        <p:nvSpPr>
          <p:cNvPr id="17" name="Text 15"/>
          <p:cNvSpPr/>
          <p:nvPr/>
        </p:nvSpPr>
        <p:spPr>
          <a:xfrm>
            <a:off x="4161353"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5</a:t>
            </a:r>
            <a:endParaRPr lang="en-US" sz="1050" dirty="0"/>
          </a:p>
        </p:txBody>
      </p:sp>
      <p:sp>
        <p:nvSpPr>
          <p:cNvPr id="18" name="Text 16"/>
          <p:cNvSpPr/>
          <p:nvPr/>
        </p:nvSpPr>
        <p:spPr>
          <a:xfrm>
            <a:off x="4819769"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6</a:t>
            </a:r>
            <a:endParaRPr lang="en-US" sz="1050" dirty="0"/>
          </a:p>
        </p:txBody>
      </p:sp>
      <p:sp>
        <p:nvSpPr>
          <p:cNvPr id="19" name="Text 17"/>
          <p:cNvSpPr/>
          <p:nvPr/>
        </p:nvSpPr>
        <p:spPr>
          <a:xfrm>
            <a:off x="5478185"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7</a:t>
            </a:r>
            <a:endParaRPr lang="en-US" sz="1050" dirty="0"/>
          </a:p>
        </p:txBody>
      </p:sp>
      <p:sp>
        <p:nvSpPr>
          <p:cNvPr id="20" name="Text 18"/>
          <p:cNvSpPr/>
          <p:nvPr/>
        </p:nvSpPr>
        <p:spPr>
          <a:xfrm>
            <a:off x="6136600"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8</a:t>
            </a:r>
            <a:endParaRPr lang="en-US" sz="1050" dirty="0"/>
          </a:p>
        </p:txBody>
      </p:sp>
      <p:sp>
        <p:nvSpPr>
          <p:cNvPr id="21" name="Text 19"/>
          <p:cNvSpPr/>
          <p:nvPr/>
        </p:nvSpPr>
        <p:spPr>
          <a:xfrm>
            <a:off x="6795016"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9</a:t>
            </a:r>
            <a:endParaRPr lang="en-US" sz="1050" dirty="0"/>
          </a:p>
        </p:txBody>
      </p:sp>
      <p:sp>
        <p:nvSpPr>
          <p:cNvPr id="22" name="Text 20"/>
          <p:cNvSpPr/>
          <p:nvPr/>
        </p:nvSpPr>
        <p:spPr>
          <a:xfrm>
            <a:off x="7453432" y="2062520"/>
            <a:ext cx="382191" cy="429578"/>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10</a:t>
            </a:r>
            <a:endParaRPr lang="en-US" sz="1050" dirty="0"/>
          </a:p>
        </p:txBody>
      </p:sp>
      <p:sp>
        <p:nvSpPr>
          <p:cNvPr id="23" name="Text 21"/>
          <p:cNvSpPr/>
          <p:nvPr/>
        </p:nvSpPr>
        <p:spPr>
          <a:xfrm>
            <a:off x="8111847"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11</a:t>
            </a:r>
            <a:endParaRPr lang="en-US" sz="1050" dirty="0"/>
          </a:p>
        </p:txBody>
      </p:sp>
      <p:sp>
        <p:nvSpPr>
          <p:cNvPr id="24" name="Text 22"/>
          <p:cNvSpPr/>
          <p:nvPr/>
        </p:nvSpPr>
        <p:spPr>
          <a:xfrm>
            <a:off x="8770263"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12</a:t>
            </a:r>
            <a:endParaRPr lang="en-US" sz="1050" dirty="0"/>
          </a:p>
        </p:txBody>
      </p:sp>
      <p:sp>
        <p:nvSpPr>
          <p:cNvPr id="25" name="Text 23"/>
          <p:cNvSpPr/>
          <p:nvPr/>
        </p:nvSpPr>
        <p:spPr>
          <a:xfrm>
            <a:off x="9428678"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13</a:t>
            </a:r>
            <a:endParaRPr lang="en-US" sz="1050" dirty="0"/>
          </a:p>
        </p:txBody>
      </p:sp>
      <p:sp>
        <p:nvSpPr>
          <p:cNvPr id="26" name="Text 24"/>
          <p:cNvSpPr/>
          <p:nvPr/>
        </p:nvSpPr>
        <p:spPr>
          <a:xfrm>
            <a:off x="10087094"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14</a:t>
            </a:r>
            <a:endParaRPr lang="en-US" sz="1050" dirty="0"/>
          </a:p>
        </p:txBody>
      </p:sp>
      <p:sp>
        <p:nvSpPr>
          <p:cNvPr id="27" name="Text 25"/>
          <p:cNvSpPr/>
          <p:nvPr/>
        </p:nvSpPr>
        <p:spPr>
          <a:xfrm>
            <a:off x="10745510"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15</a:t>
            </a:r>
            <a:endParaRPr lang="en-US" sz="1050" dirty="0"/>
          </a:p>
        </p:txBody>
      </p:sp>
      <p:sp>
        <p:nvSpPr>
          <p:cNvPr id="28" name="Text 26"/>
          <p:cNvSpPr/>
          <p:nvPr/>
        </p:nvSpPr>
        <p:spPr>
          <a:xfrm>
            <a:off x="11403925" y="2062520"/>
            <a:ext cx="382191" cy="429578"/>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16</a:t>
            </a:r>
            <a:endParaRPr lang="en-US" sz="1050" dirty="0"/>
          </a:p>
        </p:txBody>
      </p:sp>
      <p:sp>
        <p:nvSpPr>
          <p:cNvPr id="29" name="Text 27"/>
          <p:cNvSpPr/>
          <p:nvPr/>
        </p:nvSpPr>
        <p:spPr>
          <a:xfrm>
            <a:off x="12062341" y="206252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17</a:t>
            </a:r>
            <a:endParaRPr lang="en-US" sz="1050" dirty="0"/>
          </a:p>
        </p:txBody>
      </p:sp>
      <p:sp>
        <p:nvSpPr>
          <p:cNvPr id="30" name="Text 28"/>
          <p:cNvSpPr/>
          <p:nvPr/>
        </p:nvSpPr>
        <p:spPr>
          <a:xfrm>
            <a:off x="12720757" y="2062520"/>
            <a:ext cx="382191" cy="429578"/>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Act 18</a:t>
            </a:r>
            <a:endParaRPr lang="en-US" sz="1050" dirty="0"/>
          </a:p>
        </p:txBody>
      </p:sp>
      <p:sp>
        <p:nvSpPr>
          <p:cNvPr id="31" name="Text 29"/>
          <p:cNvSpPr/>
          <p:nvPr/>
        </p:nvSpPr>
        <p:spPr>
          <a:xfrm>
            <a:off x="13379172" y="2062520"/>
            <a:ext cx="38600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32" name="Shape 30"/>
          <p:cNvSpPr/>
          <p:nvPr/>
        </p:nvSpPr>
        <p:spPr>
          <a:xfrm>
            <a:off x="730925" y="2580203"/>
            <a:ext cx="13168551" cy="820579"/>
          </a:xfrm>
          <a:prstGeom prst="rect">
            <a:avLst/>
          </a:prstGeom>
          <a:solidFill>
            <a:srgbClr val="FFFFFF">
              <a:alpha val="4000"/>
            </a:srgbClr>
          </a:solidFill>
          <a:ln/>
        </p:spPr>
        <p:txBody>
          <a:bodyPr/>
          <a:lstStyle/>
          <a:p>
            <a:endParaRPr lang="es-ES"/>
          </a:p>
        </p:txBody>
      </p:sp>
      <p:sp>
        <p:nvSpPr>
          <p:cNvPr id="33" name="Text 31"/>
          <p:cNvSpPr/>
          <p:nvPr/>
        </p:nvSpPr>
        <p:spPr>
          <a:xfrm>
            <a:off x="865465" y="2668310"/>
            <a:ext cx="386001" cy="644366"/>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RA1 (22,8%)</a:t>
            </a:r>
            <a:endParaRPr lang="en-US" sz="1050" dirty="0"/>
          </a:p>
        </p:txBody>
      </p:sp>
      <p:sp>
        <p:nvSpPr>
          <p:cNvPr id="34" name="Text 32"/>
          <p:cNvSpPr/>
          <p:nvPr/>
        </p:nvSpPr>
        <p:spPr>
          <a:xfrm>
            <a:off x="1527691"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35" name="Text 33"/>
          <p:cNvSpPr/>
          <p:nvPr/>
        </p:nvSpPr>
        <p:spPr>
          <a:xfrm>
            <a:off x="2186107"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13,6%</a:t>
            </a:r>
            <a:endParaRPr lang="en-US" sz="1050" dirty="0"/>
          </a:p>
        </p:txBody>
      </p:sp>
      <p:sp>
        <p:nvSpPr>
          <p:cNvPr id="36" name="Text 34"/>
          <p:cNvSpPr/>
          <p:nvPr/>
        </p:nvSpPr>
        <p:spPr>
          <a:xfrm>
            <a:off x="2844522"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9,1%</a:t>
            </a:r>
            <a:endParaRPr lang="en-US" sz="1050" dirty="0"/>
          </a:p>
        </p:txBody>
      </p:sp>
      <p:sp>
        <p:nvSpPr>
          <p:cNvPr id="37" name="Text 35"/>
          <p:cNvSpPr/>
          <p:nvPr/>
        </p:nvSpPr>
        <p:spPr>
          <a:xfrm>
            <a:off x="3502938"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13,6%</a:t>
            </a:r>
            <a:endParaRPr lang="en-US" sz="1050" dirty="0"/>
          </a:p>
        </p:txBody>
      </p:sp>
      <p:sp>
        <p:nvSpPr>
          <p:cNvPr id="38" name="Text 36"/>
          <p:cNvSpPr/>
          <p:nvPr/>
        </p:nvSpPr>
        <p:spPr>
          <a:xfrm>
            <a:off x="4161353"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13,6%</a:t>
            </a:r>
            <a:endParaRPr lang="en-US" sz="1050" dirty="0"/>
          </a:p>
        </p:txBody>
      </p:sp>
      <p:sp>
        <p:nvSpPr>
          <p:cNvPr id="39" name="Text 37"/>
          <p:cNvSpPr/>
          <p:nvPr/>
        </p:nvSpPr>
        <p:spPr>
          <a:xfrm>
            <a:off x="4819769"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40" name="Text 38"/>
          <p:cNvSpPr/>
          <p:nvPr/>
        </p:nvSpPr>
        <p:spPr>
          <a:xfrm>
            <a:off x="5478185"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13,6%</a:t>
            </a:r>
            <a:endParaRPr lang="en-US" sz="1050" dirty="0"/>
          </a:p>
        </p:txBody>
      </p:sp>
      <p:sp>
        <p:nvSpPr>
          <p:cNvPr id="41" name="Text 39"/>
          <p:cNvSpPr/>
          <p:nvPr/>
        </p:nvSpPr>
        <p:spPr>
          <a:xfrm>
            <a:off x="6136600"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42" name="Text 40"/>
          <p:cNvSpPr/>
          <p:nvPr/>
        </p:nvSpPr>
        <p:spPr>
          <a:xfrm>
            <a:off x="6795016"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4,5%</a:t>
            </a:r>
            <a:endParaRPr lang="en-US" sz="1050" dirty="0"/>
          </a:p>
        </p:txBody>
      </p:sp>
      <p:sp>
        <p:nvSpPr>
          <p:cNvPr id="43" name="Text 41"/>
          <p:cNvSpPr/>
          <p:nvPr/>
        </p:nvSpPr>
        <p:spPr>
          <a:xfrm>
            <a:off x="7453432"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9,1%</a:t>
            </a:r>
            <a:endParaRPr lang="en-US" sz="1050" dirty="0"/>
          </a:p>
        </p:txBody>
      </p:sp>
      <p:sp>
        <p:nvSpPr>
          <p:cNvPr id="44" name="Text 42"/>
          <p:cNvSpPr/>
          <p:nvPr/>
        </p:nvSpPr>
        <p:spPr>
          <a:xfrm>
            <a:off x="8111847"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45" name="Text 43"/>
          <p:cNvSpPr/>
          <p:nvPr/>
        </p:nvSpPr>
        <p:spPr>
          <a:xfrm>
            <a:off x="8770263"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18,2%</a:t>
            </a:r>
            <a:endParaRPr lang="en-US" sz="1050" dirty="0"/>
          </a:p>
        </p:txBody>
      </p:sp>
      <p:sp>
        <p:nvSpPr>
          <p:cNvPr id="46" name="Text 44"/>
          <p:cNvSpPr/>
          <p:nvPr/>
        </p:nvSpPr>
        <p:spPr>
          <a:xfrm>
            <a:off x="9428678"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47" name="Text 45"/>
          <p:cNvSpPr/>
          <p:nvPr/>
        </p:nvSpPr>
        <p:spPr>
          <a:xfrm>
            <a:off x="10087094"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48" name="Text 46"/>
          <p:cNvSpPr/>
          <p:nvPr/>
        </p:nvSpPr>
        <p:spPr>
          <a:xfrm>
            <a:off x="10745510"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4,5%</a:t>
            </a:r>
            <a:endParaRPr lang="en-US" sz="1050" dirty="0"/>
          </a:p>
        </p:txBody>
      </p:sp>
      <p:sp>
        <p:nvSpPr>
          <p:cNvPr id="49" name="Text 47"/>
          <p:cNvSpPr/>
          <p:nvPr/>
        </p:nvSpPr>
        <p:spPr>
          <a:xfrm>
            <a:off x="11403925"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50" name="Text 48"/>
          <p:cNvSpPr/>
          <p:nvPr/>
        </p:nvSpPr>
        <p:spPr>
          <a:xfrm>
            <a:off x="12062341" y="2668310"/>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51" name="Text 49"/>
          <p:cNvSpPr/>
          <p:nvPr/>
        </p:nvSpPr>
        <p:spPr>
          <a:xfrm>
            <a:off x="12720757" y="2668310"/>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X</a:t>
            </a:r>
            <a:endParaRPr lang="en-US" sz="1050" dirty="0"/>
          </a:p>
        </p:txBody>
      </p:sp>
      <p:sp>
        <p:nvSpPr>
          <p:cNvPr id="52" name="Text 50"/>
          <p:cNvSpPr/>
          <p:nvPr/>
        </p:nvSpPr>
        <p:spPr>
          <a:xfrm>
            <a:off x="13379172" y="2668310"/>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100%</a:t>
            </a:r>
            <a:endParaRPr lang="en-US" sz="1050" dirty="0"/>
          </a:p>
        </p:txBody>
      </p:sp>
      <p:sp>
        <p:nvSpPr>
          <p:cNvPr id="53" name="Shape 51"/>
          <p:cNvSpPr/>
          <p:nvPr/>
        </p:nvSpPr>
        <p:spPr>
          <a:xfrm>
            <a:off x="730925" y="3400782"/>
            <a:ext cx="13168551" cy="820579"/>
          </a:xfrm>
          <a:prstGeom prst="rect">
            <a:avLst/>
          </a:prstGeom>
          <a:solidFill>
            <a:srgbClr val="000000">
              <a:alpha val="4000"/>
            </a:srgbClr>
          </a:solidFill>
          <a:ln/>
        </p:spPr>
        <p:txBody>
          <a:bodyPr/>
          <a:lstStyle/>
          <a:p>
            <a:endParaRPr lang="es-ES"/>
          </a:p>
        </p:txBody>
      </p:sp>
      <p:sp>
        <p:nvSpPr>
          <p:cNvPr id="54" name="Text 52"/>
          <p:cNvSpPr/>
          <p:nvPr/>
        </p:nvSpPr>
        <p:spPr>
          <a:xfrm>
            <a:off x="865465" y="3488888"/>
            <a:ext cx="386001" cy="644366"/>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RA2 (10,2%)</a:t>
            </a:r>
            <a:endParaRPr lang="en-US" sz="1050" dirty="0"/>
          </a:p>
        </p:txBody>
      </p:sp>
      <p:sp>
        <p:nvSpPr>
          <p:cNvPr id="55" name="Text 53"/>
          <p:cNvSpPr/>
          <p:nvPr/>
        </p:nvSpPr>
        <p:spPr>
          <a:xfrm>
            <a:off x="1527691"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56" name="Text 54"/>
          <p:cNvSpPr/>
          <p:nvPr/>
        </p:nvSpPr>
        <p:spPr>
          <a:xfrm>
            <a:off x="2186107"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57" name="Text 55"/>
          <p:cNvSpPr/>
          <p:nvPr/>
        </p:nvSpPr>
        <p:spPr>
          <a:xfrm>
            <a:off x="2844522"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58" name="Text 56"/>
          <p:cNvSpPr/>
          <p:nvPr/>
        </p:nvSpPr>
        <p:spPr>
          <a:xfrm>
            <a:off x="3502938"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59" name="Text 57"/>
          <p:cNvSpPr/>
          <p:nvPr/>
        </p:nvSpPr>
        <p:spPr>
          <a:xfrm>
            <a:off x="4161353"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0" name="Text 58"/>
          <p:cNvSpPr/>
          <p:nvPr/>
        </p:nvSpPr>
        <p:spPr>
          <a:xfrm>
            <a:off x="4819769"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1" name="Text 59"/>
          <p:cNvSpPr/>
          <p:nvPr/>
        </p:nvSpPr>
        <p:spPr>
          <a:xfrm>
            <a:off x="5478185"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2" name="Text 60"/>
          <p:cNvSpPr/>
          <p:nvPr/>
        </p:nvSpPr>
        <p:spPr>
          <a:xfrm>
            <a:off x="6136600"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3" name="Text 61"/>
          <p:cNvSpPr/>
          <p:nvPr/>
        </p:nvSpPr>
        <p:spPr>
          <a:xfrm>
            <a:off x="6795016"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4" name="Text 62"/>
          <p:cNvSpPr/>
          <p:nvPr/>
        </p:nvSpPr>
        <p:spPr>
          <a:xfrm>
            <a:off x="7453432" y="3488888"/>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12,5%</a:t>
            </a:r>
            <a:endParaRPr lang="en-US" sz="1050" dirty="0"/>
          </a:p>
        </p:txBody>
      </p:sp>
      <p:sp>
        <p:nvSpPr>
          <p:cNvPr id="65" name="Text 63"/>
          <p:cNvSpPr/>
          <p:nvPr/>
        </p:nvSpPr>
        <p:spPr>
          <a:xfrm>
            <a:off x="8111847"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6" name="Text 64"/>
          <p:cNvSpPr/>
          <p:nvPr/>
        </p:nvSpPr>
        <p:spPr>
          <a:xfrm>
            <a:off x="8770263" y="3488888"/>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87,5%</a:t>
            </a:r>
            <a:endParaRPr lang="en-US" sz="1050" dirty="0"/>
          </a:p>
        </p:txBody>
      </p:sp>
      <p:sp>
        <p:nvSpPr>
          <p:cNvPr id="67" name="Text 65"/>
          <p:cNvSpPr/>
          <p:nvPr/>
        </p:nvSpPr>
        <p:spPr>
          <a:xfrm>
            <a:off x="9428678"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8" name="Text 66"/>
          <p:cNvSpPr/>
          <p:nvPr/>
        </p:nvSpPr>
        <p:spPr>
          <a:xfrm>
            <a:off x="10087094"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69" name="Text 67"/>
          <p:cNvSpPr/>
          <p:nvPr/>
        </p:nvSpPr>
        <p:spPr>
          <a:xfrm>
            <a:off x="10745510"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0" name="Text 68"/>
          <p:cNvSpPr/>
          <p:nvPr/>
        </p:nvSpPr>
        <p:spPr>
          <a:xfrm>
            <a:off x="11403925"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1" name="Text 69"/>
          <p:cNvSpPr/>
          <p:nvPr/>
        </p:nvSpPr>
        <p:spPr>
          <a:xfrm>
            <a:off x="12062341" y="3488888"/>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2" name="Text 70"/>
          <p:cNvSpPr/>
          <p:nvPr/>
        </p:nvSpPr>
        <p:spPr>
          <a:xfrm>
            <a:off x="12720757" y="3488888"/>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X</a:t>
            </a:r>
            <a:endParaRPr lang="en-US" sz="1050" dirty="0"/>
          </a:p>
        </p:txBody>
      </p:sp>
      <p:sp>
        <p:nvSpPr>
          <p:cNvPr id="73" name="Text 71"/>
          <p:cNvSpPr/>
          <p:nvPr/>
        </p:nvSpPr>
        <p:spPr>
          <a:xfrm>
            <a:off x="13379172" y="3488888"/>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100%</a:t>
            </a:r>
            <a:endParaRPr lang="en-US" sz="1050" dirty="0"/>
          </a:p>
        </p:txBody>
      </p:sp>
      <p:sp>
        <p:nvSpPr>
          <p:cNvPr id="74" name="Shape 72"/>
          <p:cNvSpPr/>
          <p:nvPr/>
        </p:nvSpPr>
        <p:spPr>
          <a:xfrm>
            <a:off x="730925" y="4221361"/>
            <a:ext cx="13168551" cy="820579"/>
          </a:xfrm>
          <a:prstGeom prst="rect">
            <a:avLst/>
          </a:prstGeom>
          <a:solidFill>
            <a:srgbClr val="FFFFFF">
              <a:alpha val="4000"/>
            </a:srgbClr>
          </a:solidFill>
          <a:ln/>
        </p:spPr>
        <p:txBody>
          <a:bodyPr/>
          <a:lstStyle/>
          <a:p>
            <a:endParaRPr lang="es-ES"/>
          </a:p>
        </p:txBody>
      </p:sp>
      <p:sp>
        <p:nvSpPr>
          <p:cNvPr id="75" name="Text 73"/>
          <p:cNvSpPr/>
          <p:nvPr/>
        </p:nvSpPr>
        <p:spPr>
          <a:xfrm>
            <a:off x="865465" y="4309467"/>
            <a:ext cx="386001" cy="644366"/>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RA3 (21,6%)</a:t>
            </a:r>
            <a:endParaRPr lang="en-US" sz="1050" dirty="0"/>
          </a:p>
        </p:txBody>
      </p:sp>
      <p:sp>
        <p:nvSpPr>
          <p:cNvPr id="76" name="Text 74"/>
          <p:cNvSpPr/>
          <p:nvPr/>
        </p:nvSpPr>
        <p:spPr>
          <a:xfrm>
            <a:off x="1527691"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7" name="Text 75"/>
          <p:cNvSpPr/>
          <p:nvPr/>
        </p:nvSpPr>
        <p:spPr>
          <a:xfrm>
            <a:off x="2186107"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8" name="Text 76"/>
          <p:cNvSpPr/>
          <p:nvPr/>
        </p:nvSpPr>
        <p:spPr>
          <a:xfrm>
            <a:off x="2844522"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79" name="Text 77"/>
          <p:cNvSpPr/>
          <p:nvPr/>
        </p:nvSpPr>
        <p:spPr>
          <a:xfrm>
            <a:off x="3502938"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0" name="Text 78"/>
          <p:cNvSpPr/>
          <p:nvPr/>
        </p:nvSpPr>
        <p:spPr>
          <a:xfrm>
            <a:off x="4161353" y="4309467"/>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a:t>
            </a:r>
            <a:endParaRPr lang="en-US" sz="1050" dirty="0"/>
          </a:p>
        </p:txBody>
      </p:sp>
      <p:sp>
        <p:nvSpPr>
          <p:cNvPr id="81" name="Text 79"/>
          <p:cNvSpPr/>
          <p:nvPr/>
        </p:nvSpPr>
        <p:spPr>
          <a:xfrm>
            <a:off x="4819769"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2" name="Text 80"/>
          <p:cNvSpPr/>
          <p:nvPr/>
        </p:nvSpPr>
        <p:spPr>
          <a:xfrm>
            <a:off x="5478185"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3" name="Text 81"/>
          <p:cNvSpPr/>
          <p:nvPr/>
        </p:nvSpPr>
        <p:spPr>
          <a:xfrm>
            <a:off x="6136600"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4" name="Text 82"/>
          <p:cNvSpPr/>
          <p:nvPr/>
        </p:nvSpPr>
        <p:spPr>
          <a:xfrm>
            <a:off x="6795016"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5" name="Text 83"/>
          <p:cNvSpPr/>
          <p:nvPr/>
        </p:nvSpPr>
        <p:spPr>
          <a:xfrm>
            <a:off x="7453432"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6" name="Text 84"/>
          <p:cNvSpPr/>
          <p:nvPr/>
        </p:nvSpPr>
        <p:spPr>
          <a:xfrm>
            <a:off x="8111847"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87" name="Text 85"/>
          <p:cNvSpPr/>
          <p:nvPr/>
        </p:nvSpPr>
        <p:spPr>
          <a:xfrm>
            <a:off x="8770263" y="4309467"/>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a:t>
            </a:r>
            <a:endParaRPr lang="en-US" sz="1050" dirty="0"/>
          </a:p>
        </p:txBody>
      </p:sp>
      <p:sp>
        <p:nvSpPr>
          <p:cNvPr id="88" name="Text 86"/>
          <p:cNvSpPr/>
          <p:nvPr/>
        </p:nvSpPr>
        <p:spPr>
          <a:xfrm>
            <a:off x="9428678" y="4309467"/>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40%</a:t>
            </a:r>
            <a:endParaRPr lang="en-US" sz="1050" dirty="0"/>
          </a:p>
        </p:txBody>
      </p:sp>
      <p:sp>
        <p:nvSpPr>
          <p:cNvPr id="89" name="Text 87"/>
          <p:cNvSpPr/>
          <p:nvPr/>
        </p:nvSpPr>
        <p:spPr>
          <a:xfrm>
            <a:off x="10087094"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90" name="Text 88"/>
          <p:cNvSpPr/>
          <p:nvPr/>
        </p:nvSpPr>
        <p:spPr>
          <a:xfrm>
            <a:off x="10745510" y="4309467"/>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91" name="Text 89"/>
          <p:cNvSpPr/>
          <p:nvPr/>
        </p:nvSpPr>
        <p:spPr>
          <a:xfrm>
            <a:off x="11403925" y="4309467"/>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a:t>
            </a:r>
            <a:endParaRPr lang="en-US" sz="1050" dirty="0"/>
          </a:p>
        </p:txBody>
      </p:sp>
      <p:sp>
        <p:nvSpPr>
          <p:cNvPr id="92" name="Text 90"/>
          <p:cNvSpPr/>
          <p:nvPr/>
        </p:nvSpPr>
        <p:spPr>
          <a:xfrm>
            <a:off x="12062341" y="4309467"/>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30%</a:t>
            </a:r>
            <a:endParaRPr lang="en-US" sz="1050" dirty="0"/>
          </a:p>
        </p:txBody>
      </p:sp>
      <p:sp>
        <p:nvSpPr>
          <p:cNvPr id="93" name="Text 91"/>
          <p:cNvSpPr/>
          <p:nvPr/>
        </p:nvSpPr>
        <p:spPr>
          <a:xfrm>
            <a:off x="12720757" y="4309467"/>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X</a:t>
            </a:r>
            <a:endParaRPr lang="en-US" sz="1050" dirty="0"/>
          </a:p>
        </p:txBody>
      </p:sp>
      <p:sp>
        <p:nvSpPr>
          <p:cNvPr id="94" name="Text 92"/>
          <p:cNvSpPr/>
          <p:nvPr/>
        </p:nvSpPr>
        <p:spPr>
          <a:xfrm>
            <a:off x="13379172" y="4309467"/>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100%</a:t>
            </a:r>
            <a:endParaRPr lang="en-US" sz="1050" dirty="0"/>
          </a:p>
        </p:txBody>
      </p:sp>
      <p:sp>
        <p:nvSpPr>
          <p:cNvPr id="95" name="Shape 93"/>
          <p:cNvSpPr/>
          <p:nvPr/>
        </p:nvSpPr>
        <p:spPr>
          <a:xfrm>
            <a:off x="730925" y="5041940"/>
            <a:ext cx="13168551" cy="605790"/>
          </a:xfrm>
          <a:prstGeom prst="rect">
            <a:avLst/>
          </a:prstGeom>
          <a:solidFill>
            <a:srgbClr val="000000">
              <a:alpha val="4000"/>
            </a:srgbClr>
          </a:solidFill>
          <a:ln/>
        </p:spPr>
        <p:txBody>
          <a:bodyPr/>
          <a:lstStyle/>
          <a:p>
            <a:endParaRPr lang="es-ES"/>
          </a:p>
        </p:txBody>
      </p:sp>
      <p:sp>
        <p:nvSpPr>
          <p:cNvPr id="96" name="Text 94"/>
          <p:cNvSpPr/>
          <p:nvPr/>
        </p:nvSpPr>
        <p:spPr>
          <a:xfrm>
            <a:off x="865465" y="5130046"/>
            <a:ext cx="386001" cy="429578"/>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RA4 (7,7%)</a:t>
            </a:r>
            <a:endParaRPr lang="en-US" sz="1050" dirty="0"/>
          </a:p>
        </p:txBody>
      </p:sp>
      <p:sp>
        <p:nvSpPr>
          <p:cNvPr id="97" name="Text 95"/>
          <p:cNvSpPr/>
          <p:nvPr/>
        </p:nvSpPr>
        <p:spPr>
          <a:xfrm>
            <a:off x="1527691"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98" name="Text 96"/>
          <p:cNvSpPr/>
          <p:nvPr/>
        </p:nvSpPr>
        <p:spPr>
          <a:xfrm>
            <a:off x="2186107"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99" name="Text 97"/>
          <p:cNvSpPr/>
          <p:nvPr/>
        </p:nvSpPr>
        <p:spPr>
          <a:xfrm>
            <a:off x="2844522"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0" name="Text 98"/>
          <p:cNvSpPr/>
          <p:nvPr/>
        </p:nvSpPr>
        <p:spPr>
          <a:xfrm>
            <a:off x="3502938"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1" name="Text 99"/>
          <p:cNvSpPr/>
          <p:nvPr/>
        </p:nvSpPr>
        <p:spPr>
          <a:xfrm>
            <a:off x="4161353"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2" name="Text 100"/>
          <p:cNvSpPr/>
          <p:nvPr/>
        </p:nvSpPr>
        <p:spPr>
          <a:xfrm>
            <a:off x="4819769"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3" name="Text 101"/>
          <p:cNvSpPr/>
          <p:nvPr/>
        </p:nvSpPr>
        <p:spPr>
          <a:xfrm>
            <a:off x="5478185"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4" name="Text 102"/>
          <p:cNvSpPr/>
          <p:nvPr/>
        </p:nvSpPr>
        <p:spPr>
          <a:xfrm>
            <a:off x="6136600"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5" name="Text 103"/>
          <p:cNvSpPr/>
          <p:nvPr/>
        </p:nvSpPr>
        <p:spPr>
          <a:xfrm>
            <a:off x="6795016"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6" name="Text 104"/>
          <p:cNvSpPr/>
          <p:nvPr/>
        </p:nvSpPr>
        <p:spPr>
          <a:xfrm>
            <a:off x="7453432" y="513004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20%</a:t>
            </a:r>
            <a:endParaRPr lang="en-US" sz="1050" dirty="0"/>
          </a:p>
        </p:txBody>
      </p:sp>
      <p:sp>
        <p:nvSpPr>
          <p:cNvPr id="107" name="Text 105"/>
          <p:cNvSpPr/>
          <p:nvPr/>
        </p:nvSpPr>
        <p:spPr>
          <a:xfrm>
            <a:off x="8111847"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8" name="Text 106"/>
          <p:cNvSpPr/>
          <p:nvPr/>
        </p:nvSpPr>
        <p:spPr>
          <a:xfrm>
            <a:off x="8770263"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09" name="Text 107"/>
          <p:cNvSpPr/>
          <p:nvPr/>
        </p:nvSpPr>
        <p:spPr>
          <a:xfrm>
            <a:off x="9428678"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10" name="Text 108"/>
          <p:cNvSpPr/>
          <p:nvPr/>
        </p:nvSpPr>
        <p:spPr>
          <a:xfrm>
            <a:off x="10087094" y="513004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20%</a:t>
            </a:r>
            <a:endParaRPr lang="en-US" sz="1050" dirty="0"/>
          </a:p>
        </p:txBody>
      </p:sp>
      <p:sp>
        <p:nvSpPr>
          <p:cNvPr id="111" name="Text 109"/>
          <p:cNvSpPr/>
          <p:nvPr/>
        </p:nvSpPr>
        <p:spPr>
          <a:xfrm>
            <a:off x="10745510" y="513004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60%</a:t>
            </a:r>
            <a:endParaRPr lang="en-US" sz="1050" dirty="0"/>
          </a:p>
        </p:txBody>
      </p:sp>
      <p:sp>
        <p:nvSpPr>
          <p:cNvPr id="112" name="Text 110"/>
          <p:cNvSpPr/>
          <p:nvPr/>
        </p:nvSpPr>
        <p:spPr>
          <a:xfrm>
            <a:off x="11403925"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13" name="Text 111"/>
          <p:cNvSpPr/>
          <p:nvPr/>
        </p:nvSpPr>
        <p:spPr>
          <a:xfrm>
            <a:off x="12062341" y="513004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14" name="Text 112"/>
          <p:cNvSpPr/>
          <p:nvPr/>
        </p:nvSpPr>
        <p:spPr>
          <a:xfrm>
            <a:off x="12720757" y="513004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X</a:t>
            </a:r>
            <a:endParaRPr lang="en-US" sz="1050" dirty="0"/>
          </a:p>
        </p:txBody>
      </p:sp>
      <p:sp>
        <p:nvSpPr>
          <p:cNvPr id="115" name="Text 113"/>
          <p:cNvSpPr/>
          <p:nvPr/>
        </p:nvSpPr>
        <p:spPr>
          <a:xfrm>
            <a:off x="13379172" y="5130046"/>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100%</a:t>
            </a:r>
            <a:endParaRPr lang="en-US" sz="1050" dirty="0"/>
          </a:p>
        </p:txBody>
      </p:sp>
      <p:sp>
        <p:nvSpPr>
          <p:cNvPr id="116" name="Shape 114"/>
          <p:cNvSpPr/>
          <p:nvPr/>
        </p:nvSpPr>
        <p:spPr>
          <a:xfrm>
            <a:off x="730925" y="5647730"/>
            <a:ext cx="13168551" cy="820579"/>
          </a:xfrm>
          <a:prstGeom prst="rect">
            <a:avLst/>
          </a:prstGeom>
          <a:solidFill>
            <a:srgbClr val="FFFFFF">
              <a:alpha val="4000"/>
            </a:srgbClr>
          </a:solidFill>
          <a:ln/>
        </p:spPr>
        <p:txBody>
          <a:bodyPr/>
          <a:lstStyle/>
          <a:p>
            <a:endParaRPr lang="es-ES"/>
          </a:p>
        </p:txBody>
      </p:sp>
      <p:sp>
        <p:nvSpPr>
          <p:cNvPr id="117" name="Text 115"/>
          <p:cNvSpPr/>
          <p:nvPr/>
        </p:nvSpPr>
        <p:spPr>
          <a:xfrm>
            <a:off x="865465" y="5735836"/>
            <a:ext cx="386001" cy="644366"/>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RA5 (15,2%)</a:t>
            </a:r>
            <a:endParaRPr lang="en-US" sz="1050" dirty="0"/>
          </a:p>
        </p:txBody>
      </p:sp>
      <p:sp>
        <p:nvSpPr>
          <p:cNvPr id="118" name="Text 116"/>
          <p:cNvSpPr/>
          <p:nvPr/>
        </p:nvSpPr>
        <p:spPr>
          <a:xfrm>
            <a:off x="1527691"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19" name="Text 117"/>
          <p:cNvSpPr/>
          <p:nvPr/>
        </p:nvSpPr>
        <p:spPr>
          <a:xfrm>
            <a:off x="2186107"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0" name="Text 118"/>
          <p:cNvSpPr/>
          <p:nvPr/>
        </p:nvSpPr>
        <p:spPr>
          <a:xfrm>
            <a:off x="2844522" y="573583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8,3%</a:t>
            </a:r>
            <a:endParaRPr lang="en-US" sz="1050" dirty="0"/>
          </a:p>
        </p:txBody>
      </p:sp>
      <p:sp>
        <p:nvSpPr>
          <p:cNvPr id="121" name="Text 119"/>
          <p:cNvSpPr/>
          <p:nvPr/>
        </p:nvSpPr>
        <p:spPr>
          <a:xfrm>
            <a:off x="3502938"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2" name="Text 120"/>
          <p:cNvSpPr/>
          <p:nvPr/>
        </p:nvSpPr>
        <p:spPr>
          <a:xfrm>
            <a:off x="4161353"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3" name="Text 121"/>
          <p:cNvSpPr/>
          <p:nvPr/>
        </p:nvSpPr>
        <p:spPr>
          <a:xfrm>
            <a:off x="4819769"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4" name="Text 122"/>
          <p:cNvSpPr/>
          <p:nvPr/>
        </p:nvSpPr>
        <p:spPr>
          <a:xfrm>
            <a:off x="5478185"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5" name="Text 123"/>
          <p:cNvSpPr/>
          <p:nvPr/>
        </p:nvSpPr>
        <p:spPr>
          <a:xfrm>
            <a:off x="6136600"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6" name="Text 124"/>
          <p:cNvSpPr/>
          <p:nvPr/>
        </p:nvSpPr>
        <p:spPr>
          <a:xfrm>
            <a:off x="6795016"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7" name="Text 125"/>
          <p:cNvSpPr/>
          <p:nvPr/>
        </p:nvSpPr>
        <p:spPr>
          <a:xfrm>
            <a:off x="7453432"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28" name="Text 126"/>
          <p:cNvSpPr/>
          <p:nvPr/>
        </p:nvSpPr>
        <p:spPr>
          <a:xfrm>
            <a:off x="8111847" y="573583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41,7%</a:t>
            </a:r>
            <a:endParaRPr lang="en-US" sz="1050" dirty="0"/>
          </a:p>
        </p:txBody>
      </p:sp>
      <p:sp>
        <p:nvSpPr>
          <p:cNvPr id="129" name="Text 127"/>
          <p:cNvSpPr/>
          <p:nvPr/>
        </p:nvSpPr>
        <p:spPr>
          <a:xfrm>
            <a:off x="8770263" y="573583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25%</a:t>
            </a:r>
            <a:endParaRPr lang="en-US" sz="1050" dirty="0"/>
          </a:p>
        </p:txBody>
      </p:sp>
      <p:sp>
        <p:nvSpPr>
          <p:cNvPr id="130" name="Text 128"/>
          <p:cNvSpPr/>
          <p:nvPr/>
        </p:nvSpPr>
        <p:spPr>
          <a:xfrm>
            <a:off x="9428678" y="573583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8,3%</a:t>
            </a:r>
            <a:endParaRPr lang="en-US" sz="1050" dirty="0"/>
          </a:p>
        </p:txBody>
      </p:sp>
      <p:sp>
        <p:nvSpPr>
          <p:cNvPr id="131" name="Text 129"/>
          <p:cNvSpPr/>
          <p:nvPr/>
        </p:nvSpPr>
        <p:spPr>
          <a:xfrm>
            <a:off x="10087094"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32" name="Text 130"/>
          <p:cNvSpPr/>
          <p:nvPr/>
        </p:nvSpPr>
        <p:spPr>
          <a:xfrm>
            <a:off x="10745510" y="573583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16,7%</a:t>
            </a:r>
            <a:endParaRPr lang="en-US" sz="1050" dirty="0"/>
          </a:p>
        </p:txBody>
      </p:sp>
      <p:sp>
        <p:nvSpPr>
          <p:cNvPr id="133" name="Text 131"/>
          <p:cNvSpPr/>
          <p:nvPr/>
        </p:nvSpPr>
        <p:spPr>
          <a:xfrm>
            <a:off x="11403925"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34" name="Text 132"/>
          <p:cNvSpPr/>
          <p:nvPr/>
        </p:nvSpPr>
        <p:spPr>
          <a:xfrm>
            <a:off x="12062341" y="5735836"/>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35" name="Text 133"/>
          <p:cNvSpPr/>
          <p:nvPr/>
        </p:nvSpPr>
        <p:spPr>
          <a:xfrm>
            <a:off x="12720757" y="5735836"/>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X</a:t>
            </a:r>
            <a:endParaRPr lang="en-US" sz="1050" dirty="0"/>
          </a:p>
        </p:txBody>
      </p:sp>
      <p:sp>
        <p:nvSpPr>
          <p:cNvPr id="136" name="Text 134"/>
          <p:cNvSpPr/>
          <p:nvPr/>
        </p:nvSpPr>
        <p:spPr>
          <a:xfrm>
            <a:off x="13379172" y="5735836"/>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100%</a:t>
            </a:r>
            <a:endParaRPr lang="en-US" sz="1050" dirty="0"/>
          </a:p>
        </p:txBody>
      </p:sp>
      <p:sp>
        <p:nvSpPr>
          <p:cNvPr id="137" name="Shape 135"/>
          <p:cNvSpPr/>
          <p:nvPr/>
        </p:nvSpPr>
        <p:spPr>
          <a:xfrm>
            <a:off x="730925" y="6468308"/>
            <a:ext cx="13168551" cy="820579"/>
          </a:xfrm>
          <a:prstGeom prst="rect">
            <a:avLst/>
          </a:prstGeom>
          <a:solidFill>
            <a:srgbClr val="000000">
              <a:alpha val="4000"/>
            </a:srgbClr>
          </a:solidFill>
          <a:ln/>
        </p:spPr>
        <p:txBody>
          <a:bodyPr/>
          <a:lstStyle/>
          <a:p>
            <a:endParaRPr lang="es-ES"/>
          </a:p>
        </p:txBody>
      </p:sp>
      <p:sp>
        <p:nvSpPr>
          <p:cNvPr id="138" name="Text 136"/>
          <p:cNvSpPr/>
          <p:nvPr/>
        </p:nvSpPr>
        <p:spPr>
          <a:xfrm>
            <a:off x="865465" y="6556415"/>
            <a:ext cx="386001" cy="644366"/>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RA6 (22,8%)</a:t>
            </a:r>
            <a:endParaRPr lang="en-US" sz="1050" dirty="0"/>
          </a:p>
        </p:txBody>
      </p:sp>
      <p:sp>
        <p:nvSpPr>
          <p:cNvPr id="139" name="Text 137"/>
          <p:cNvSpPr/>
          <p:nvPr/>
        </p:nvSpPr>
        <p:spPr>
          <a:xfrm>
            <a:off x="1527691"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5%</a:t>
            </a:r>
            <a:endParaRPr lang="en-US" sz="1050" dirty="0"/>
          </a:p>
        </p:txBody>
      </p:sp>
      <p:sp>
        <p:nvSpPr>
          <p:cNvPr id="140" name="Text 138"/>
          <p:cNvSpPr/>
          <p:nvPr/>
        </p:nvSpPr>
        <p:spPr>
          <a:xfrm>
            <a:off x="2186107"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5%</a:t>
            </a:r>
            <a:endParaRPr lang="en-US" sz="1050" dirty="0"/>
          </a:p>
        </p:txBody>
      </p:sp>
      <p:sp>
        <p:nvSpPr>
          <p:cNvPr id="141" name="Text 139"/>
          <p:cNvSpPr/>
          <p:nvPr/>
        </p:nvSpPr>
        <p:spPr>
          <a:xfrm>
            <a:off x="2844522"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5%</a:t>
            </a:r>
            <a:endParaRPr lang="en-US" sz="1050" dirty="0"/>
          </a:p>
        </p:txBody>
      </p:sp>
      <p:sp>
        <p:nvSpPr>
          <p:cNvPr id="142" name="Text 140"/>
          <p:cNvSpPr/>
          <p:nvPr/>
        </p:nvSpPr>
        <p:spPr>
          <a:xfrm>
            <a:off x="3502938"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43" name="Text 141"/>
          <p:cNvSpPr/>
          <p:nvPr/>
        </p:nvSpPr>
        <p:spPr>
          <a:xfrm>
            <a:off x="4161353"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44" name="Text 142"/>
          <p:cNvSpPr/>
          <p:nvPr/>
        </p:nvSpPr>
        <p:spPr>
          <a:xfrm>
            <a:off x="4819769"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20%</a:t>
            </a:r>
            <a:endParaRPr lang="en-US" sz="1050" dirty="0"/>
          </a:p>
        </p:txBody>
      </p:sp>
      <p:sp>
        <p:nvSpPr>
          <p:cNvPr id="145" name="Text 143"/>
          <p:cNvSpPr/>
          <p:nvPr/>
        </p:nvSpPr>
        <p:spPr>
          <a:xfrm>
            <a:off x="5478185"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46" name="Text 144"/>
          <p:cNvSpPr/>
          <p:nvPr/>
        </p:nvSpPr>
        <p:spPr>
          <a:xfrm>
            <a:off x="6136600"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a:t>
            </a:r>
            <a:endParaRPr lang="en-US" sz="1050" dirty="0"/>
          </a:p>
        </p:txBody>
      </p:sp>
      <p:sp>
        <p:nvSpPr>
          <p:cNvPr id="147" name="Text 145"/>
          <p:cNvSpPr/>
          <p:nvPr/>
        </p:nvSpPr>
        <p:spPr>
          <a:xfrm>
            <a:off x="6795016"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5%</a:t>
            </a:r>
            <a:endParaRPr lang="en-US" sz="1050" dirty="0"/>
          </a:p>
        </p:txBody>
      </p:sp>
      <p:sp>
        <p:nvSpPr>
          <p:cNvPr id="148" name="Text 146"/>
          <p:cNvSpPr/>
          <p:nvPr/>
        </p:nvSpPr>
        <p:spPr>
          <a:xfrm>
            <a:off x="7453432"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a:t>
            </a:r>
            <a:endParaRPr lang="en-US" sz="1050" dirty="0"/>
          </a:p>
        </p:txBody>
      </p:sp>
      <p:sp>
        <p:nvSpPr>
          <p:cNvPr id="149" name="Text 147"/>
          <p:cNvSpPr/>
          <p:nvPr/>
        </p:nvSpPr>
        <p:spPr>
          <a:xfrm>
            <a:off x="8111847"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50" name="Text 148"/>
          <p:cNvSpPr/>
          <p:nvPr/>
        </p:nvSpPr>
        <p:spPr>
          <a:xfrm>
            <a:off x="8770263"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20%</a:t>
            </a:r>
            <a:endParaRPr lang="en-US" sz="1050" dirty="0"/>
          </a:p>
        </p:txBody>
      </p:sp>
      <p:sp>
        <p:nvSpPr>
          <p:cNvPr id="151" name="Text 149"/>
          <p:cNvSpPr/>
          <p:nvPr/>
        </p:nvSpPr>
        <p:spPr>
          <a:xfrm>
            <a:off x="9428678"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52" name="Text 150"/>
          <p:cNvSpPr/>
          <p:nvPr/>
        </p:nvSpPr>
        <p:spPr>
          <a:xfrm>
            <a:off x="10087094"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5%</a:t>
            </a:r>
            <a:endParaRPr lang="en-US" sz="1050" dirty="0"/>
          </a:p>
        </p:txBody>
      </p:sp>
      <p:sp>
        <p:nvSpPr>
          <p:cNvPr id="153" name="Text 151"/>
          <p:cNvSpPr/>
          <p:nvPr/>
        </p:nvSpPr>
        <p:spPr>
          <a:xfrm>
            <a:off x="10745510"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15%</a:t>
            </a:r>
            <a:endParaRPr lang="en-US" sz="1050" dirty="0"/>
          </a:p>
        </p:txBody>
      </p:sp>
      <p:sp>
        <p:nvSpPr>
          <p:cNvPr id="154" name="Text 152"/>
          <p:cNvSpPr/>
          <p:nvPr/>
        </p:nvSpPr>
        <p:spPr>
          <a:xfrm>
            <a:off x="11403925"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55" name="Text 153"/>
          <p:cNvSpPr/>
          <p:nvPr/>
        </p:nvSpPr>
        <p:spPr>
          <a:xfrm>
            <a:off x="12062341" y="6556415"/>
            <a:ext cx="382191" cy="214789"/>
          </a:xfrm>
          <a:prstGeom prst="rect">
            <a:avLst/>
          </a:prstGeom>
          <a:noFill/>
          <a:ln/>
        </p:spPr>
        <p:txBody>
          <a:bodyPr wrap="none" lIns="0" tIns="0" rIns="0" bIns="0" rtlCol="0" anchor="t"/>
          <a:lstStyle/>
          <a:p>
            <a:pPr marL="0" indent="0" algn="l">
              <a:lnSpc>
                <a:spcPts val="1650"/>
              </a:lnSpc>
              <a:buNone/>
            </a:pPr>
            <a:endParaRPr lang="en-US" sz="1050" dirty="0"/>
          </a:p>
        </p:txBody>
      </p:sp>
      <p:sp>
        <p:nvSpPr>
          <p:cNvPr id="156" name="Text 154"/>
          <p:cNvSpPr/>
          <p:nvPr/>
        </p:nvSpPr>
        <p:spPr>
          <a:xfrm>
            <a:off x="12720757" y="6556415"/>
            <a:ext cx="3821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X</a:t>
            </a:r>
            <a:endParaRPr lang="en-US" sz="1050" dirty="0"/>
          </a:p>
        </p:txBody>
      </p:sp>
      <p:sp>
        <p:nvSpPr>
          <p:cNvPr id="157" name="Text 155"/>
          <p:cNvSpPr/>
          <p:nvPr/>
        </p:nvSpPr>
        <p:spPr>
          <a:xfrm>
            <a:off x="13379172" y="6556415"/>
            <a:ext cx="38600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100%</a:t>
            </a:r>
            <a:endParaRPr lang="en-US" sz="1050" dirty="0"/>
          </a:p>
        </p:txBody>
      </p:sp>
      <p:sp>
        <p:nvSpPr>
          <p:cNvPr id="158" name="Text 156"/>
          <p:cNvSpPr/>
          <p:nvPr/>
        </p:nvSpPr>
        <p:spPr>
          <a:xfrm>
            <a:off x="723305" y="7447598"/>
            <a:ext cx="13183791" cy="214789"/>
          </a:xfrm>
          <a:prstGeom prst="rect">
            <a:avLst/>
          </a:prstGeom>
          <a:noFill/>
          <a:ln/>
        </p:spPr>
        <p:txBody>
          <a:bodyPr wrap="non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Cada activitat contribueix específicament als diferents resultats d'aprenentatge, amb major concentració en l'Avaluació 2 per a competències avançades.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881063" y="2383512"/>
            <a:ext cx="3927515" cy="454462"/>
          </a:xfrm>
          <a:prstGeom prst="rect">
            <a:avLst/>
          </a:prstGeom>
          <a:noFill/>
          <a:ln/>
        </p:spPr>
        <p:txBody>
          <a:bodyPr wrap="none" lIns="0" tIns="0" rIns="0" bIns="0" rtlCol="0" anchor="t"/>
          <a:lstStyle/>
          <a:p>
            <a:pPr marL="0" indent="0" algn="l">
              <a:lnSpc>
                <a:spcPts val="3550"/>
              </a:lnSpc>
              <a:buNone/>
            </a:pPr>
            <a:r>
              <a:rPr lang="en-US" sz="2850" b="1" dirty="0">
                <a:solidFill>
                  <a:srgbClr val="FFE14D"/>
                </a:solidFill>
                <a:latin typeface="Comfortaa Bold" pitchFamily="34" charset="0"/>
                <a:ea typeface="Comfortaa Bold" pitchFamily="34" charset="-122"/>
                <a:cs typeface="Comfortaa Bold" pitchFamily="34" charset="-120"/>
              </a:rPr>
              <a:t>Recursos Necessaris</a:t>
            </a:r>
            <a:endParaRPr lang="en-US" sz="2850" dirty="0"/>
          </a:p>
        </p:txBody>
      </p:sp>
      <p:sp>
        <p:nvSpPr>
          <p:cNvPr id="3" name="Text 1"/>
          <p:cNvSpPr/>
          <p:nvPr/>
        </p:nvSpPr>
        <p:spPr>
          <a:xfrm>
            <a:off x="881063" y="3246953"/>
            <a:ext cx="1818203" cy="227171"/>
          </a:xfrm>
          <a:prstGeom prst="rect">
            <a:avLst/>
          </a:prstGeom>
          <a:noFill/>
          <a:ln/>
        </p:spPr>
        <p:txBody>
          <a:bodyPr wrap="none" lIns="0" tIns="0" rIns="0" bIns="0" rtlCol="0" anchor="t"/>
          <a:lstStyle/>
          <a:p>
            <a:pPr marL="0" indent="0" algn="l">
              <a:lnSpc>
                <a:spcPts val="1750"/>
              </a:lnSpc>
              <a:buNone/>
            </a:pPr>
            <a:r>
              <a:rPr lang="en-US" sz="1400" b="1" dirty="0">
                <a:solidFill>
                  <a:srgbClr val="FFE14D"/>
                </a:solidFill>
                <a:latin typeface="Comfortaa Bold" pitchFamily="34" charset="0"/>
                <a:ea typeface="Comfortaa Bold" pitchFamily="34" charset="-122"/>
                <a:cs typeface="Comfortaa Bold" pitchFamily="34" charset="-120"/>
              </a:rPr>
              <a:t>Tecnologies</a:t>
            </a:r>
            <a:endParaRPr lang="en-US" sz="1400" dirty="0"/>
          </a:p>
        </p:txBody>
      </p:sp>
      <p:sp>
        <p:nvSpPr>
          <p:cNvPr id="4" name="Text 2"/>
          <p:cNvSpPr/>
          <p:nvPr/>
        </p:nvSpPr>
        <p:spPr>
          <a:xfrm>
            <a:off x="881063" y="3637717"/>
            <a:ext cx="4022884" cy="785098"/>
          </a:xfrm>
          <a:prstGeom prst="rect">
            <a:avLst/>
          </a:prstGeom>
          <a:noFill/>
          <a:ln/>
        </p:spPr>
        <p:txBody>
          <a:bodyPr wrap="square" lIns="0" tIns="0" rIns="0" bIns="0" rtlCol="0" anchor="t"/>
          <a:lstStyle/>
          <a:p>
            <a:pPr marL="0" indent="0" algn="l">
              <a:lnSpc>
                <a:spcPts val="2050"/>
              </a:lnSpc>
              <a:buNone/>
            </a:pPr>
            <a:r>
              <a:rPr lang="en-US" sz="1250" dirty="0">
                <a:solidFill>
                  <a:srgbClr val="D7D4CC"/>
                </a:solidFill>
                <a:latin typeface="Raleway Medium" pitchFamily="34" charset="0"/>
                <a:ea typeface="Raleway Medium" pitchFamily="34" charset="-122"/>
                <a:cs typeface="Raleway Medium" pitchFamily="34" charset="-120"/>
              </a:rPr>
              <a:t>El projecte requereix coneixements en diverses tecnologies per desenvolupar una interfície completa.</a:t>
            </a:r>
            <a:endParaRPr lang="en-US" sz="1250" dirty="0"/>
          </a:p>
        </p:txBody>
      </p:sp>
      <p:sp>
        <p:nvSpPr>
          <p:cNvPr id="5" name="Text 3"/>
          <p:cNvSpPr/>
          <p:nvPr/>
        </p:nvSpPr>
        <p:spPr>
          <a:xfrm>
            <a:off x="881063" y="4570095"/>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Frontend: HTML, CSS, JavaScript, Angular, RxJS</a:t>
            </a:r>
            <a:endParaRPr lang="en-US" sz="1250" dirty="0"/>
          </a:p>
        </p:txBody>
      </p:sp>
      <p:sp>
        <p:nvSpPr>
          <p:cNvPr id="6" name="Text 4"/>
          <p:cNvSpPr/>
          <p:nvPr/>
        </p:nvSpPr>
        <p:spPr>
          <a:xfrm>
            <a:off x="881063" y="4889063"/>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Backend: PHP, Laravel</a:t>
            </a:r>
            <a:endParaRPr lang="en-US" sz="1250" dirty="0"/>
          </a:p>
        </p:txBody>
      </p:sp>
      <p:sp>
        <p:nvSpPr>
          <p:cNvPr id="7" name="Text 5"/>
          <p:cNvSpPr/>
          <p:nvPr/>
        </p:nvSpPr>
        <p:spPr>
          <a:xfrm>
            <a:off x="881063" y="5208032"/>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Base de Dades: MySQL</a:t>
            </a:r>
            <a:endParaRPr lang="en-US" sz="1250" dirty="0"/>
          </a:p>
        </p:txBody>
      </p:sp>
      <p:sp>
        <p:nvSpPr>
          <p:cNvPr id="8" name="Text 6"/>
          <p:cNvSpPr/>
          <p:nvPr/>
        </p:nvSpPr>
        <p:spPr>
          <a:xfrm>
            <a:off x="881063" y="5527000"/>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Altres: Docker, Git, GitHub, JSON, YAML</a:t>
            </a:r>
            <a:endParaRPr lang="en-US" sz="1250" dirty="0"/>
          </a:p>
        </p:txBody>
      </p:sp>
      <p:sp>
        <p:nvSpPr>
          <p:cNvPr id="9" name="Text 7"/>
          <p:cNvSpPr/>
          <p:nvPr/>
        </p:nvSpPr>
        <p:spPr>
          <a:xfrm>
            <a:off x="5310664" y="3246953"/>
            <a:ext cx="2287548" cy="227171"/>
          </a:xfrm>
          <a:prstGeom prst="rect">
            <a:avLst/>
          </a:prstGeom>
          <a:noFill/>
          <a:ln/>
        </p:spPr>
        <p:txBody>
          <a:bodyPr wrap="none" lIns="0" tIns="0" rIns="0" bIns="0" rtlCol="0" anchor="t"/>
          <a:lstStyle/>
          <a:p>
            <a:pPr marL="0" indent="0" algn="l">
              <a:lnSpc>
                <a:spcPts val="1750"/>
              </a:lnSpc>
              <a:buNone/>
            </a:pPr>
            <a:r>
              <a:rPr lang="en-US" sz="1400" b="1" dirty="0">
                <a:solidFill>
                  <a:srgbClr val="FFE14D"/>
                </a:solidFill>
                <a:latin typeface="Comfortaa Bold" pitchFamily="34" charset="0"/>
                <a:ea typeface="Comfortaa Bold" pitchFamily="34" charset="-122"/>
                <a:cs typeface="Comfortaa Bold" pitchFamily="34" charset="-120"/>
              </a:rPr>
              <a:t>Ferramentes de Disseny</a:t>
            </a:r>
            <a:endParaRPr lang="en-US" sz="1400" dirty="0"/>
          </a:p>
        </p:txBody>
      </p:sp>
      <p:sp>
        <p:nvSpPr>
          <p:cNvPr id="10" name="Text 8"/>
          <p:cNvSpPr/>
          <p:nvPr/>
        </p:nvSpPr>
        <p:spPr>
          <a:xfrm>
            <a:off x="5310664" y="3637717"/>
            <a:ext cx="4022884" cy="523399"/>
          </a:xfrm>
          <a:prstGeom prst="rect">
            <a:avLst/>
          </a:prstGeom>
          <a:noFill/>
          <a:ln/>
        </p:spPr>
        <p:txBody>
          <a:bodyPr wrap="square" lIns="0" tIns="0" rIns="0" bIns="0" rtlCol="0" anchor="t"/>
          <a:lstStyle/>
          <a:p>
            <a:pPr marL="0" indent="0" algn="l">
              <a:lnSpc>
                <a:spcPts val="2050"/>
              </a:lnSpc>
              <a:buNone/>
            </a:pPr>
            <a:r>
              <a:rPr lang="en-US" sz="1250" dirty="0">
                <a:solidFill>
                  <a:srgbClr val="D7D4CC"/>
                </a:solidFill>
                <a:latin typeface="Raleway Medium" pitchFamily="34" charset="0"/>
                <a:ea typeface="Raleway Medium" pitchFamily="34" charset="-122"/>
                <a:cs typeface="Raleway Medium" pitchFamily="34" charset="-120"/>
              </a:rPr>
              <a:t>Utilitzarem eines professionals per crear i optimitzar interfícies d'usuari efectives.</a:t>
            </a:r>
            <a:endParaRPr lang="en-US" sz="1250" dirty="0"/>
          </a:p>
        </p:txBody>
      </p:sp>
      <p:sp>
        <p:nvSpPr>
          <p:cNvPr id="11" name="Text 9"/>
          <p:cNvSpPr/>
          <p:nvPr/>
        </p:nvSpPr>
        <p:spPr>
          <a:xfrm>
            <a:off x="5310664" y="4308396"/>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Figma per a prototipat i disseny</a:t>
            </a:r>
            <a:endParaRPr lang="en-US" sz="1250" dirty="0"/>
          </a:p>
        </p:txBody>
      </p:sp>
      <p:sp>
        <p:nvSpPr>
          <p:cNvPr id="12" name="Text 10"/>
          <p:cNvSpPr/>
          <p:nvPr/>
        </p:nvSpPr>
        <p:spPr>
          <a:xfrm>
            <a:off x="5310664" y="4627364"/>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Gimp per edició d'imatges</a:t>
            </a:r>
            <a:endParaRPr lang="en-US" sz="1250" dirty="0"/>
          </a:p>
        </p:txBody>
      </p:sp>
      <p:sp>
        <p:nvSpPr>
          <p:cNvPr id="13" name="Text 11"/>
          <p:cNvSpPr/>
          <p:nvPr/>
        </p:nvSpPr>
        <p:spPr>
          <a:xfrm>
            <a:off x="5310664" y="4946333"/>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WAVE plugin per avaluar l'accessibilitat</a:t>
            </a:r>
            <a:endParaRPr lang="en-US" sz="1250" dirty="0"/>
          </a:p>
        </p:txBody>
      </p:sp>
      <p:sp>
        <p:nvSpPr>
          <p:cNvPr id="14" name="Text 12"/>
          <p:cNvSpPr/>
          <p:nvPr/>
        </p:nvSpPr>
        <p:spPr>
          <a:xfrm>
            <a:off x="9740265" y="3246953"/>
            <a:ext cx="2720102" cy="227171"/>
          </a:xfrm>
          <a:prstGeom prst="rect">
            <a:avLst/>
          </a:prstGeom>
          <a:noFill/>
          <a:ln/>
        </p:spPr>
        <p:txBody>
          <a:bodyPr wrap="none" lIns="0" tIns="0" rIns="0" bIns="0" rtlCol="0" anchor="t"/>
          <a:lstStyle/>
          <a:p>
            <a:pPr marL="0" indent="0" algn="l">
              <a:lnSpc>
                <a:spcPts val="1750"/>
              </a:lnSpc>
              <a:buNone/>
            </a:pPr>
            <a:r>
              <a:rPr lang="en-US" sz="1400" b="1" dirty="0">
                <a:solidFill>
                  <a:srgbClr val="FFE14D"/>
                </a:solidFill>
                <a:latin typeface="Comfortaa Bold" pitchFamily="34" charset="0"/>
                <a:ea typeface="Comfortaa Bold" pitchFamily="34" charset="-122"/>
                <a:cs typeface="Comfortaa Bold" pitchFamily="34" charset="-120"/>
              </a:rPr>
              <a:t>Entorn de Desenvolupament</a:t>
            </a:r>
            <a:endParaRPr lang="en-US" sz="1400" dirty="0"/>
          </a:p>
        </p:txBody>
      </p:sp>
      <p:sp>
        <p:nvSpPr>
          <p:cNvPr id="15" name="Text 13"/>
          <p:cNvSpPr/>
          <p:nvPr/>
        </p:nvSpPr>
        <p:spPr>
          <a:xfrm>
            <a:off x="9740265" y="3637717"/>
            <a:ext cx="4022884" cy="523399"/>
          </a:xfrm>
          <a:prstGeom prst="rect">
            <a:avLst/>
          </a:prstGeom>
          <a:noFill/>
          <a:ln/>
        </p:spPr>
        <p:txBody>
          <a:bodyPr wrap="square" lIns="0" tIns="0" rIns="0" bIns="0" rtlCol="0" anchor="t"/>
          <a:lstStyle/>
          <a:p>
            <a:pPr marL="0" indent="0" algn="l">
              <a:lnSpc>
                <a:spcPts val="2050"/>
              </a:lnSpc>
              <a:buNone/>
            </a:pPr>
            <a:r>
              <a:rPr lang="en-US" sz="1250" dirty="0">
                <a:solidFill>
                  <a:srgbClr val="D7D4CC"/>
                </a:solidFill>
                <a:latin typeface="Raleway Medium" pitchFamily="34" charset="0"/>
                <a:ea typeface="Raleway Medium" pitchFamily="34" charset="-122"/>
                <a:cs typeface="Raleway Medium" pitchFamily="34" charset="-120"/>
              </a:rPr>
              <a:t>Les eines de codificació i testeig seran essencials durant el desenvolupament.</a:t>
            </a:r>
            <a:endParaRPr lang="en-US" sz="1250" dirty="0"/>
          </a:p>
        </p:txBody>
      </p:sp>
      <p:sp>
        <p:nvSpPr>
          <p:cNvPr id="16" name="Text 14"/>
          <p:cNvSpPr/>
          <p:nvPr/>
        </p:nvSpPr>
        <p:spPr>
          <a:xfrm>
            <a:off x="9740265" y="4308396"/>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Visual Studio Code com a IDE principal</a:t>
            </a:r>
            <a:endParaRPr lang="en-US" sz="1250" dirty="0"/>
          </a:p>
        </p:txBody>
      </p:sp>
      <p:sp>
        <p:nvSpPr>
          <p:cNvPr id="17" name="Text 15"/>
          <p:cNvSpPr/>
          <p:nvPr/>
        </p:nvSpPr>
        <p:spPr>
          <a:xfrm>
            <a:off x="9740265" y="4627364"/>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Navegador web per testeig</a:t>
            </a:r>
            <a:endParaRPr lang="en-US" sz="1250" dirty="0"/>
          </a:p>
        </p:txBody>
      </p:sp>
      <p:sp>
        <p:nvSpPr>
          <p:cNvPr id="18" name="Text 16"/>
          <p:cNvSpPr/>
          <p:nvPr/>
        </p:nvSpPr>
        <p:spPr>
          <a:xfrm>
            <a:off x="9740265" y="4946333"/>
            <a:ext cx="4022884"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D7D4CC"/>
                </a:solidFill>
                <a:latin typeface="Raleway Medium" pitchFamily="34" charset="0"/>
                <a:ea typeface="Raleway Medium" pitchFamily="34" charset="-122"/>
                <a:cs typeface="Raleway Medium" pitchFamily="34" charset="-120"/>
              </a:rPr>
              <a:t>Eines de desenvolupador del navegador</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867608"/>
            <a:ext cx="5314950" cy="664369"/>
          </a:xfrm>
          <a:prstGeom prst="rect">
            <a:avLst/>
          </a:prstGeom>
          <a:noFill/>
          <a:ln/>
        </p:spPr>
        <p:txBody>
          <a:bodyPr wrap="none" lIns="0" tIns="0" rIns="0" bIns="0" rtlCol="0" anchor="t"/>
          <a:lstStyle/>
          <a:p>
            <a:pPr marL="0" indent="0" algn="l">
              <a:lnSpc>
                <a:spcPts val="5200"/>
              </a:lnSpc>
              <a:buNone/>
            </a:pPr>
            <a:r>
              <a:rPr lang="en-US" sz="4150" b="1" dirty="0">
                <a:solidFill>
                  <a:srgbClr val="FFE14D"/>
                </a:solidFill>
                <a:latin typeface="Comfortaa Bold" pitchFamily="34" charset="0"/>
                <a:ea typeface="Comfortaa Bold" pitchFamily="34" charset="-122"/>
                <a:cs typeface="Comfortaa Bold" pitchFamily="34" charset="-120"/>
              </a:rPr>
              <a:t>Conclusions</a:t>
            </a:r>
            <a:endParaRPr lang="en-US" sz="4150" dirty="0"/>
          </a:p>
        </p:txBody>
      </p:sp>
      <p:pic>
        <p:nvPicPr>
          <p:cNvPr id="3" name="Image 0" descr="preencoded.png"/>
          <p:cNvPicPr>
            <a:picLocks noChangeAspect="1"/>
          </p:cNvPicPr>
          <p:nvPr/>
        </p:nvPicPr>
        <p:blipFill>
          <a:blip r:embed="rId3"/>
          <a:stretch>
            <a:fillRect/>
          </a:stretch>
        </p:blipFill>
        <p:spPr>
          <a:xfrm>
            <a:off x="881063" y="2010251"/>
            <a:ext cx="6434138" cy="956667"/>
          </a:xfrm>
          <a:prstGeom prst="rect">
            <a:avLst/>
          </a:prstGeom>
        </p:spPr>
      </p:pic>
      <p:sp>
        <p:nvSpPr>
          <p:cNvPr id="4" name="Text 1"/>
          <p:cNvSpPr/>
          <p:nvPr/>
        </p:nvSpPr>
        <p:spPr>
          <a:xfrm>
            <a:off x="1120140" y="3205996"/>
            <a:ext cx="2657475"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Projecte Real</a:t>
            </a:r>
            <a:endParaRPr lang="en-US" sz="2050" dirty="0"/>
          </a:p>
        </p:txBody>
      </p:sp>
      <p:sp>
        <p:nvSpPr>
          <p:cNvPr id="5" name="Text 2"/>
          <p:cNvSpPr/>
          <p:nvPr/>
        </p:nvSpPr>
        <p:spPr>
          <a:xfrm>
            <a:off x="1120140" y="3681651"/>
            <a:ext cx="5955982" cy="765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Desenvolupament d'una interfície completa per al poliesportiu, aplicant tots els coneixements adquirits.</a:t>
            </a:r>
            <a:endParaRPr lang="en-US" sz="1850" dirty="0"/>
          </a:p>
        </p:txBody>
      </p:sp>
      <p:pic>
        <p:nvPicPr>
          <p:cNvPr id="6" name="Image 1" descr="preencoded.png"/>
          <p:cNvPicPr>
            <a:picLocks noChangeAspect="1"/>
          </p:cNvPicPr>
          <p:nvPr/>
        </p:nvPicPr>
        <p:blipFill>
          <a:blip r:embed="rId4"/>
          <a:stretch>
            <a:fillRect/>
          </a:stretch>
        </p:blipFill>
        <p:spPr>
          <a:xfrm>
            <a:off x="7315200" y="2010251"/>
            <a:ext cx="6434138" cy="956667"/>
          </a:xfrm>
          <a:prstGeom prst="rect">
            <a:avLst/>
          </a:prstGeom>
        </p:spPr>
      </p:pic>
      <p:sp>
        <p:nvSpPr>
          <p:cNvPr id="7" name="Text 3"/>
          <p:cNvSpPr/>
          <p:nvPr/>
        </p:nvSpPr>
        <p:spPr>
          <a:xfrm>
            <a:off x="7554278" y="3205996"/>
            <a:ext cx="3284577"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Competències Integrals</a:t>
            </a:r>
            <a:endParaRPr lang="en-US" sz="2050" dirty="0"/>
          </a:p>
        </p:txBody>
      </p:sp>
      <p:sp>
        <p:nvSpPr>
          <p:cNvPr id="8" name="Text 4"/>
          <p:cNvSpPr/>
          <p:nvPr/>
        </p:nvSpPr>
        <p:spPr>
          <a:xfrm>
            <a:off x="7554278" y="3681651"/>
            <a:ext cx="5955982" cy="765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Combinació d'habilitats tècniques i creatives en un entorn de treball professional.</a:t>
            </a:r>
            <a:endParaRPr lang="en-US" sz="1850" dirty="0"/>
          </a:p>
        </p:txBody>
      </p:sp>
      <p:pic>
        <p:nvPicPr>
          <p:cNvPr id="9" name="Image 2" descr="preencoded.png"/>
          <p:cNvPicPr>
            <a:picLocks noChangeAspect="1"/>
          </p:cNvPicPr>
          <p:nvPr/>
        </p:nvPicPr>
        <p:blipFill>
          <a:blip r:embed="rId5"/>
          <a:stretch>
            <a:fillRect/>
          </a:stretch>
        </p:blipFill>
        <p:spPr>
          <a:xfrm>
            <a:off x="881063" y="4686062"/>
            <a:ext cx="6434138" cy="956667"/>
          </a:xfrm>
          <a:prstGeom prst="rect">
            <a:avLst/>
          </a:prstGeom>
        </p:spPr>
      </p:pic>
      <p:sp>
        <p:nvSpPr>
          <p:cNvPr id="10" name="Text 5"/>
          <p:cNvSpPr/>
          <p:nvPr/>
        </p:nvSpPr>
        <p:spPr>
          <a:xfrm>
            <a:off x="1120140" y="5881807"/>
            <a:ext cx="2717483"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Avaluació Contínua</a:t>
            </a:r>
            <a:endParaRPr lang="en-US" sz="2050" dirty="0"/>
          </a:p>
        </p:txBody>
      </p:sp>
      <p:sp>
        <p:nvSpPr>
          <p:cNvPr id="11" name="Text 6"/>
          <p:cNvSpPr/>
          <p:nvPr/>
        </p:nvSpPr>
        <p:spPr>
          <a:xfrm>
            <a:off x="1120140" y="6357461"/>
            <a:ext cx="5955982" cy="765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Seguiment progressiu mitjançant activitats que construeixen el projecte complet.</a:t>
            </a:r>
            <a:endParaRPr lang="en-US" sz="1850" dirty="0"/>
          </a:p>
        </p:txBody>
      </p:sp>
      <p:pic>
        <p:nvPicPr>
          <p:cNvPr id="12" name="Image 3" descr="preencoded.png"/>
          <p:cNvPicPr>
            <a:picLocks noChangeAspect="1"/>
          </p:cNvPicPr>
          <p:nvPr/>
        </p:nvPicPr>
        <p:blipFill>
          <a:blip r:embed="rId6"/>
          <a:stretch>
            <a:fillRect/>
          </a:stretch>
        </p:blipFill>
        <p:spPr>
          <a:xfrm>
            <a:off x="7315200" y="4686062"/>
            <a:ext cx="6434138" cy="956667"/>
          </a:xfrm>
          <a:prstGeom prst="rect">
            <a:avLst/>
          </a:prstGeom>
        </p:spPr>
      </p:pic>
      <p:sp>
        <p:nvSpPr>
          <p:cNvPr id="13" name="Text 7"/>
          <p:cNvSpPr/>
          <p:nvPr/>
        </p:nvSpPr>
        <p:spPr>
          <a:xfrm>
            <a:off x="7554278" y="5881807"/>
            <a:ext cx="2703076" cy="332184"/>
          </a:xfrm>
          <a:prstGeom prst="rect">
            <a:avLst/>
          </a:prstGeom>
          <a:noFill/>
          <a:ln/>
        </p:spPr>
        <p:txBody>
          <a:bodyPr wrap="none" lIns="0" tIns="0" rIns="0" bIns="0" rtlCol="0" anchor="t"/>
          <a:lstStyle/>
          <a:p>
            <a:pPr marL="0" indent="0" algn="l">
              <a:lnSpc>
                <a:spcPts val="2600"/>
              </a:lnSpc>
              <a:buNone/>
            </a:pPr>
            <a:r>
              <a:rPr lang="en-US" sz="2050" b="1" dirty="0">
                <a:solidFill>
                  <a:srgbClr val="D7D4CC"/>
                </a:solidFill>
                <a:latin typeface="Comfortaa Bold" pitchFamily="34" charset="0"/>
                <a:ea typeface="Comfortaa Bold" pitchFamily="34" charset="-122"/>
                <a:cs typeface="Comfortaa Bold" pitchFamily="34" charset="-120"/>
              </a:rPr>
              <a:t>Preparació Laboral</a:t>
            </a:r>
            <a:endParaRPr lang="en-US" sz="2050" dirty="0"/>
          </a:p>
        </p:txBody>
      </p:sp>
      <p:sp>
        <p:nvSpPr>
          <p:cNvPr id="14" name="Text 8"/>
          <p:cNvSpPr/>
          <p:nvPr/>
        </p:nvSpPr>
        <p:spPr>
          <a:xfrm>
            <a:off x="7554278" y="6357461"/>
            <a:ext cx="5955982" cy="765334"/>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Els alumnes finalitzaran amb un projecte per al portafoli i preparats pel món professional.</a:t>
            </a:r>
            <a:endParaRPr lang="en-US" sz="1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75A22D7-2221-F6D2-CA54-DF4307E542BE}"/>
              </a:ext>
            </a:extLst>
          </p:cNvPr>
          <p:cNvSpPr txBox="1"/>
          <p:nvPr/>
        </p:nvSpPr>
        <p:spPr>
          <a:xfrm>
            <a:off x="2978103" y="3328026"/>
            <a:ext cx="86830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ca-ES-valencia" sz="9600" dirty="0">
                <a:ea typeface="Calibri"/>
                <a:cs typeface="Calibri"/>
              </a:rPr>
              <a:t>Moltes gràcies!!!</a:t>
            </a:r>
          </a:p>
        </p:txBody>
      </p:sp>
    </p:spTree>
    <p:extLst>
      <p:ext uri="{BB962C8B-B14F-4D97-AF65-F5344CB8AC3E}">
        <p14:creationId xmlns:p14="http://schemas.microsoft.com/office/powerpoint/2010/main" val="1580748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4277</Words>
  <Application>Microsoft Office PowerPoint</Application>
  <PresentationFormat>Custom</PresentationFormat>
  <Paragraphs>582</Paragraphs>
  <Slides>30</Slides>
  <Notes>29</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Francisco Fuster Just</cp:lastModifiedBy>
  <cp:revision>33</cp:revision>
  <dcterms:created xsi:type="dcterms:W3CDTF">2025-06-10T20:12:26Z</dcterms:created>
  <dcterms:modified xsi:type="dcterms:W3CDTF">2025-06-12T07:21:21Z</dcterms:modified>
</cp:coreProperties>
</file>